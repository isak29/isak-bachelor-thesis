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Grafbaserad (%)</c:v>
                </c:pt>
              </c:strCache>
            </c:strRef>
          </c:tx>
          <c:spPr>
            <a:solidFill>
              <a:srgbClr val="00B4D8"/>
            </a:solidFill>
          </c:spPr>
          <c:cat>
            <c:strRef>
              <c:f>Sheet1!$A$2:$A$4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API-baserad (%)</c:v>
                </c:pt>
              </c:strCache>
            </c:strRef>
          </c:tx>
          <c:spPr>
            <a:solidFill>
              <a:srgbClr val="FF5C5C"/>
            </a:solidFill>
          </c:spPr>
          <c:cat>
            <c:strRef>
              <c:f>Sheet1!$A$2:$A$4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40</c:v>
                </c:pt>
                <c:pt idx="2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Grafbaserad (ms)</c:v>
                </c:pt>
              </c:strCache>
            </c:strRef>
          </c:tx>
          <c:spPr>
            <a:solidFill>
              <a:srgbClr val="00B4D8"/>
            </a:solidFill>
          </c:spPr>
          <c:cat>
            <c:strRef>
              <c:f>Sheet1!$A$2:$A$4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1967</c:v>
                </c:pt>
                <c:pt idx="1">
                  <c:v>5234</c:v>
                </c:pt>
                <c:pt idx="2">
                  <c:v>2965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API-baserad (ms)</c:v>
                </c:pt>
              </c:strCache>
            </c:strRef>
          </c:tx>
          <c:spPr>
            <a:solidFill>
              <a:srgbClr val="FF5C5C"/>
            </a:solidFill>
          </c:spPr>
          <c:cat>
            <c:strRef>
              <c:f>Sheet1!$A$2:$A$4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1521</c:v>
                </c:pt>
                <c:pt idx="1">
                  <c:v>5251</c:v>
                </c:pt>
                <c:pt idx="2">
                  <c:v>18388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Grafbaserad</c:v>
                </c:pt>
              </c:strCache>
            </c:strRef>
          </c:tx>
          <c:spPr>
            <a:solidFill>
              <a:srgbClr val="00B4D8"/>
            </a:solidFill>
          </c:spPr>
          <c:cat>
            <c:strRef>
              <c:f>Sheet1!$A$2:$A$4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</c:v>
                </c:pt>
                <c:pt idx="1">
                  <c:v>4.0</c:v>
                </c:pt>
                <c:pt idx="2">
                  <c:v>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API-baserad</c:v>
                </c:pt>
              </c:strCache>
            </c:strRef>
          </c:tx>
          <c:spPr>
            <a:solidFill>
              <a:srgbClr val="FF5C5C"/>
            </a:solidFill>
          </c:spPr>
          <c:cat>
            <c:strRef>
              <c:f>Sheet1!$A$2:$A$4</c:f>
              <c:strCache>
                <c:ptCount val="3"/>
                <c:pt idx="0">
                  <c:v>Simpla</c:v>
                </c:pt>
                <c:pt idx="1">
                  <c:v>Medelsvåra</c:v>
                </c:pt>
                <c:pt idx="2">
                  <c:v>Komplexa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1.6</c:v>
                </c:pt>
                <c:pt idx="1">
                  <c:v>4.4</c:v>
                </c:pt>
                <c:pt idx="2">
                  <c:v>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Effektivisering av informationssökning med LLM:er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0E0EF"/>
                </a:solidFill>
              </a:rPr>
              <a:t>En jämförelse av grafbaserad kunskapsgraf mot API-baserad informationshämtning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4434840"/>
            <a:ext cx="523951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0"/>
                </a:solidFill>
              </a:rPr>
              <a:t>Isak Lampell  ·  Knightec Group AB  ·  Mittuniversitetet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Bakgrund &amp; Problem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524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Datasilos i organisationer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Data är utspridd i separata system
• Svårt att få en samlad bild av verksamheten
• Manuell sökning är tidskrävande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Kostnaden är hög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En kunskapsarbetare spenderar i genomsnitt 2,5h/dag
  att söka information  (IDC-studie)
• Det motsvarar ~30% av en arbetsdag
• Globalt förlorar företag miljarder på grund av detta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AI:s potential blockeras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AI är beroende av sammanhängande, kontextuell data
• Datasilos gör att många AI-initiativ stannar vid prototyper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097280"/>
            <a:ext cx="5120640" cy="2194560"/>
          </a:xfrm>
          <a:prstGeom prst="rect">
            <a:avLst/>
          </a:prstGeom>
          <a:solidFill>
            <a:srgbClr val="1627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18872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B4D8"/>
                </a:solidFill>
              </a:rPr>
              <a:t>2,5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14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E0EF"/>
                </a:solidFill>
              </a:rPr>
              <a:t>per dag söker anställda information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520440"/>
            <a:ext cx="5120640" cy="2423160"/>
          </a:xfrm>
          <a:prstGeom prst="rect">
            <a:avLst/>
          </a:prstGeom>
          <a:solidFill>
            <a:srgbClr val="1627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611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Möjlig lösning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114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Kunskapsgrafer representerar data som
noder och relationer – ett sammanhängande
nätverk av organisationens information.
LLM:er kan navigera grafen för att
snabbt hitta och kombinera relevant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Syfte &amp; Verifierbara mål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524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0515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Undersöka hur organisatorisk information kan representeras för att effektivisera informationssökning med hjälp av LLM:er – genom att jämföra en grafbaserad struktur mot en API-baserad lösning.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3749039" cy="4297680"/>
          </a:xfrm>
          <a:prstGeom prst="rect">
            <a:avLst/>
          </a:prstGeom>
          <a:solidFill>
            <a:srgbClr val="1627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3200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Effektivitet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0"/>
                </a:solidFill>
              </a:rPr>
              <a:t>Hur lång tid tar det för en LLM
att hitta och hämta information
i grafbaserat system vs API?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749039" cy="4297680"/>
          </a:xfrm>
          <a:prstGeom prst="rect">
            <a:avLst/>
          </a:prstGeom>
          <a:solidFill>
            <a:srgbClr val="1627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96596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0B4D8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246120"/>
            <a:ext cx="3200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383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Korrekthet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977639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0"/>
                </a:solidFill>
              </a:rPr>
              <a:t>Hur ofta genereras relevanta
och korrekta svar?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749039" cy="4297680"/>
          </a:xfrm>
          <a:prstGeom prst="rect">
            <a:avLst/>
          </a:prstGeom>
          <a:solidFill>
            <a:srgbClr val="1627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6596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0B4D8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3246120"/>
            <a:ext cx="3200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383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Resursanvändning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77639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0"/>
                </a:solidFill>
              </a:rPr>
              <a:t>Hur många verktygsanrop
behövs för att hitta
informationen?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B4C0"/>
                </a:solidFill>
              </a:rPr>
              <a:t>Genomförs i samarbete med Knightec Group 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Systemarkitektur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524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4320" y="2743200"/>
            <a:ext cx="1828800" cy="1005840"/>
          </a:xfrm>
          <a:prstGeom prst="rect">
            <a:avLst/>
          </a:prstGeom>
          <a:solidFill>
            <a:srgbClr val="1627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816352"/>
            <a:ext cx="17373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Användare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743200"/>
            <a:ext cx="2194560" cy="1005840"/>
          </a:xfrm>
          <a:prstGeom prst="rect">
            <a:avLst/>
          </a:prstGeom>
          <a:solidFill>
            <a:srgbClr val="1627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2816352"/>
            <a:ext cx="21031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Cherry Studio
(UI + Agent)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554480"/>
            <a:ext cx="2194560" cy="1005840"/>
          </a:xfrm>
          <a:prstGeom prst="rect">
            <a:avLst/>
          </a:prstGeom>
          <a:solidFill>
            <a:srgbClr val="0C2840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627632"/>
            <a:ext cx="21031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LLM
(GPT-4o-mini)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3931920"/>
            <a:ext cx="2194560" cy="1005840"/>
          </a:xfrm>
          <a:prstGeom prst="rect">
            <a:avLst/>
          </a:prstGeom>
          <a:solidFill>
            <a:srgbClr val="002A3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4005072"/>
            <a:ext cx="21031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MCP Server
(TypeScript)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554480"/>
            <a:ext cx="3474720" cy="1005840"/>
          </a:xfrm>
          <a:prstGeom prst="rect">
            <a:avLst/>
          </a:prstGeom>
          <a:solidFill>
            <a:srgbClr val="062218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627632"/>
            <a:ext cx="3383279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Lösning 1
Grafdatabas (Neo4j)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3931920"/>
            <a:ext cx="3474720" cy="1005840"/>
          </a:xfrm>
          <a:prstGeom prst="rect">
            <a:avLst/>
          </a:prstGeom>
          <a:solidFill>
            <a:srgbClr val="220808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4005072"/>
            <a:ext cx="3383279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Lösning 2
GitHub + Slack + Confluence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06324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B4C0"/>
                </a:solidFill>
              </a:rPr>
              <a:t>→ fråga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0"/>
                </a:solidFill>
              </a:rPr>
              <a:t>sysp. + verktyg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0"/>
                </a:solidFill>
              </a:rPr>
              <a:t>← svar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0"/>
                </a:solidFill>
              </a:rPr>
              <a:t>HTTP POST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0"/>
                </a:solidFill>
              </a:rPr>
              <a:t>←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1920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D4AA"/>
                </a:solidFill>
              </a:rPr>
              <a:t>Cypher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160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5C5C"/>
                </a:solidFill>
              </a:rPr>
              <a:t>REST 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74920"/>
            <a:ext cx="11612880" cy="1508760"/>
          </a:xfrm>
          <a:prstGeom prst="rect">
            <a:avLst/>
          </a:prstGeom>
          <a:solidFill>
            <a:srgbClr val="16273A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Flöde per fråga: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321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1.  Användaren ställer fråga i Cherry Studio
2.  Cherry skickar systemprompten + verktygslista + chatthistorik till LLM:en
3.  LLM:en beslutar om verktygsanrop → Cherry skickar HTTP POST till MCP-servern
4.  MCP returnerar JSON → LLM kan kedja flera anrop (agent-loop) → svar till användaren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Lösning 1: Grafbaserad (Knowledge Graph)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524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Datamodell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Data från GitHub, Slack och Confluence lagras
som noder och relationer i Neo4j.
Noder: Person · Team · Project · Repository
          Issue · Commit · SlackChannel · Post
          ConfluenceSpace · Document
Relationer:  MEMBER_OF · AUTHORED · HAS_POST
                  COMMITTED_IN · HAS_ISSUE 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Verktyg (2 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910328"/>
            <a:ext cx="5303520" cy="502920"/>
          </a:xfrm>
          <a:prstGeom prst="rect">
            <a:avLst/>
          </a:prstGeom>
          <a:solidFill>
            <a:srgbClr val="1627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965192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get_schema  — hämtar hela grafens schema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86400"/>
            <a:ext cx="5303520" cy="502920"/>
          </a:xfrm>
          <a:prstGeom prst="rect">
            <a:avLst/>
          </a:prstGeom>
          <a:solidFill>
            <a:srgbClr val="1627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41264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execute_query  — kör Cypher-fråga mot Neo4j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051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Exempelflöde: vem commitade i payment-service?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920240"/>
            <a:ext cx="1737360" cy="685800"/>
          </a:xfrm>
          <a:prstGeom prst="rect">
            <a:avLst/>
          </a:prstGeom>
          <a:solidFill>
            <a:srgbClr val="1627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3" y="1975104"/>
            <a:ext cx="162763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</a:rPr>
              <a:t>:Person
Isak Lampell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463040"/>
            <a:ext cx="2011680" cy="685800"/>
          </a:xfrm>
          <a:prstGeom prst="rect">
            <a:avLst/>
          </a:prstGeom>
          <a:solidFill>
            <a:srgbClr val="16273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3104" y="1517904"/>
            <a:ext cx="19019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AA"/>
                </a:solidFill>
              </a:rPr>
              <a:t>:Repository
payment-service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3017520"/>
            <a:ext cx="2011680" cy="685800"/>
          </a:xfrm>
          <a:prstGeom prst="rect">
            <a:avLst/>
          </a:prstGeom>
          <a:solidFill>
            <a:srgbClr val="16273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3104" y="3072384"/>
            <a:ext cx="19019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AA00"/>
                </a:solidFill>
              </a:rPr>
              <a:t>:Document
AWS-info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474720"/>
            <a:ext cx="1737360" cy="685800"/>
          </a:xfrm>
          <a:prstGeom prst="rect">
            <a:avLst/>
          </a:prstGeom>
          <a:solidFill>
            <a:srgbClr val="16273A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3" y="3529584"/>
            <a:ext cx="162763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</a:rPr>
              <a:t>:Commit
abc123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0"/>
                </a:solidFill>
              </a:rPr>
              <a:t>COMMITTED_IN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0"/>
                </a:solidFill>
              </a:rPr>
              <a:t>← AUTHORED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57200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B4C0"/>
                </a:solidFill>
              </a:rPr>
              <a:t>LLM:en hämtar all denna data
med en enda Cypher-fråga
(efter schema-anrop).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532120"/>
            <a:ext cx="5669280" cy="594360"/>
          </a:xfrm>
          <a:prstGeom prst="rect">
            <a:avLst/>
          </a:prstGeom>
          <a:solidFill>
            <a:srgbClr val="16273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5577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AA"/>
                </a:solidFill>
              </a:rPr>
              <a:t>Fördel: ett traverseringsanrop ersätter
många separata API-anrop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Lösning 2: API-baserad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524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Ingen central lagring — data hämtas dynamiskt via varje systems egna API:er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794760" cy="5669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3794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GitHub  (8 verktyg)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40280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295144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get_repositories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15768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770632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get_issues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191256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246120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get_commits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666744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721607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get_active_users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42232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197096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get_repo_info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17720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672584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get_org_members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093208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5148072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get_commit_detail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568696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623559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search_issues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9" y="1600200"/>
            <a:ext cx="3794760" cy="566928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79" y="1645920"/>
            <a:ext cx="3794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Slack  (5 verktyg)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2240280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79" y="2295144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get_channels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79" y="2715768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2770632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get_messages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79" y="3191256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3246120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get_users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79" y="3666744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79" y="3721607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search_messages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79" y="4142232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79" y="4197096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get_channel_history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19" y="1600200"/>
            <a:ext cx="379476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19" y="1645920"/>
            <a:ext cx="3794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Confluence  (7 verktyg)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19" y="2240280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19" y="2295144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get_spaces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19" y="2715768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9" y="2770632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get_pages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19" y="3191256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19" y="3246120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get_page_content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19" y="3666744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19" y="3721607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search_content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19" y="4142232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19" y="4197096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get_authors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19" y="4617720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19" y="4672584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get_page_by_id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5319" y="5093208"/>
            <a:ext cx="3794760" cy="420624"/>
          </a:xfrm>
          <a:prstGeom prst="rect">
            <a:avLst/>
          </a:prstGeom>
          <a:solidFill>
            <a:srgbClr val="16273A"/>
          </a:solidFill>
          <a:ln w="12700">
            <a:solidFill>
              <a:srgbClr val="28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19" y="5148072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0"/>
                </a:solidFill>
              </a:rPr>
              <a:t>  get_recent_pages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17520" y="6217920"/>
            <a:ext cx="6153912" cy="457200"/>
          </a:xfrm>
          <a:prstGeom prst="rect">
            <a:avLst/>
          </a:prstGeom>
          <a:solidFill>
            <a:srgbClr val="1627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0" y="6236208"/>
            <a:ext cx="6153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Totalt: 20 verktyg  vs  2 verktyg i den grafbaserade lösningen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Evalueringsupplägg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524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15 testfrågor · Varje fråga körs i ny session · Mäter: korrekthet, svarstid, verktygsanrop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3794760" cy="4800600"/>
          </a:xfrm>
          <a:prstGeom prst="rect">
            <a:avLst/>
          </a:prstGeom>
          <a:solidFill>
            <a:srgbClr val="1627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3794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Simpla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37744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4C0"/>
                </a:solidFill>
              </a:rPr>
              <a:t>Q1–Q5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80360"/>
            <a:ext cx="30632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017520"/>
            <a:ext cx="3611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Hämtar data från en enda
källa. Inget resonemang
eller kopplingar krävs.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4343400"/>
            <a:ext cx="3611880" cy="45720"/>
          </a:xfrm>
          <a:prstGeom prst="rect">
            <a:avLst/>
          </a:prstGeom>
          <a:solidFill>
            <a:srgbClr val="30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B4C0"/>
                </a:solidFill>
              </a:rPr>
              <a:t>Exempel: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B4C0"/>
                </a:solidFill>
              </a:rPr>
              <a:t>"Get all GitHub repos"
"Show latest Slack message"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627632"/>
            <a:ext cx="3794760" cy="4800600"/>
          </a:xfrm>
          <a:prstGeom prst="rect">
            <a:avLst/>
          </a:prstGeom>
          <a:solidFill>
            <a:srgbClr val="16273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691640"/>
            <a:ext cx="3794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A00"/>
                </a:solidFill>
              </a:rPr>
              <a:t>Medelsvåra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237744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4C0"/>
                </a:solidFill>
              </a:rPr>
              <a:t>Q6–Q10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880360"/>
            <a:ext cx="3063240" cy="4572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3017520"/>
            <a:ext cx="3611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Flera anrop inom samma
källa, eller ytterligare
resonemang krävs.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19" y="4343400"/>
            <a:ext cx="3611880" cy="45720"/>
          </a:xfrm>
          <a:prstGeom prst="rect">
            <a:avLst/>
          </a:prstGeom>
          <a:solidFill>
            <a:srgbClr val="30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434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B4C0"/>
                </a:solidFill>
              </a:rPr>
              <a:t>Exempel: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00600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B4C0"/>
                </a:solidFill>
              </a:rPr>
              <a:t>"What GitHub issues are open
in payment-service?"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19" y="1627632"/>
            <a:ext cx="3794760" cy="4800600"/>
          </a:xfrm>
          <a:prstGeom prst="rect">
            <a:avLst/>
          </a:prstGeom>
          <a:solidFill>
            <a:srgbClr val="16273A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691640"/>
            <a:ext cx="3794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5C5C"/>
                </a:solidFill>
              </a:rPr>
              <a:t>Komplexa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237744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4C0"/>
                </a:solidFill>
              </a:rPr>
              <a:t>Q11–Q15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2880360"/>
            <a:ext cx="3063240" cy="457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3017520"/>
            <a:ext cx="3611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Tydliga kopplingar mellan
olika datakällor krävs.
Komplexa resonemang.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59" y="4343400"/>
            <a:ext cx="3611880" cy="45720"/>
          </a:xfrm>
          <a:prstGeom prst="rect">
            <a:avLst/>
          </a:prstGeom>
          <a:solidFill>
            <a:srgbClr val="30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434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B4C0"/>
                </a:solidFill>
              </a:rPr>
              <a:t>Exempel: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800600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B4C0"/>
                </a:solidFill>
              </a:rPr>
              <a:t>"Name of latest Confluence doc
from person who did last commit
in payment-service?"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Resultat: Korrekthet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524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143000"/>
          <a:ext cx="667512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1143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Viktigaste observationer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691640"/>
            <a:ext cx="137160" cy="320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691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Simpla frågor: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6916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Båda 100% korrekta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2514600"/>
            <a:ext cx="137160" cy="32004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514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A00"/>
                </a:solidFill>
              </a:rPr>
              <a:t>Medelsvåra: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51460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Graf 80%  —  API 40%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3337560"/>
            <a:ext cx="137160" cy="3200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3337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</a:rPr>
              <a:t>Komplexa: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337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Graf 80%  —  API 20%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4160520"/>
            <a:ext cx="137160" cy="320040"/>
          </a:xfrm>
          <a:prstGeom prst="rect">
            <a:avLst/>
          </a:prstGeom>
          <a:solidFill>
            <a:srgbClr val="A0B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4160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B4C0"/>
                </a:solidFill>
              </a:rPr>
              <a:t>API:s problem: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16052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Kan inte länka identiteter
mellan olika system
(ex. isak29 i GitHub =
Isak Lampell i Slack?)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4983480"/>
            <a:ext cx="13716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4983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Graf behåller: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98348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Konstant 80% korrekthet
över alla komplexitetsnivåer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Resultat: Svarstid &amp; Verktygsanrop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524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188720"/>
          <a:ext cx="5943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1005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B4C0"/>
                </a:solidFill>
              </a:rPr>
              <a:t>Genomsnittlig svarstid (ms)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4663440"/>
          <a:ext cx="5943600" cy="187451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480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B4C0"/>
                </a:solidFill>
              </a:rPr>
              <a:t>Genomsnittliga verktygsanrop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Nyckelsiffror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737360"/>
            <a:ext cx="5212080" cy="1234440"/>
          </a:xfrm>
          <a:prstGeom prst="rect">
            <a:avLst/>
          </a:prstGeom>
          <a:solidFill>
            <a:srgbClr val="16273A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B4C0"/>
                </a:solidFill>
              </a:rPr>
              <a:t>Komplexa — svarstid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240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Graf: 2 965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240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C5C"/>
                </a:solidFill>
              </a:rPr>
              <a:t>API: 18 388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108960"/>
            <a:ext cx="5212080" cy="1234440"/>
          </a:xfrm>
          <a:prstGeom prst="rect">
            <a:avLst/>
          </a:prstGeom>
          <a:solidFill>
            <a:srgbClr val="16273A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315467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B4C0"/>
                </a:solidFill>
              </a:rPr>
              <a:t>Komplexa — anrop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611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Graf: snitt 2,4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611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C5C"/>
                </a:solidFill>
              </a:rPr>
              <a:t>API: snitt 6,0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4480560"/>
            <a:ext cx="5212080" cy="1234440"/>
          </a:xfrm>
          <a:prstGeom prst="rect">
            <a:avLst/>
          </a:prstGeom>
          <a:solidFill>
            <a:srgbClr val="16273A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4526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B4C0"/>
                </a:solidFill>
              </a:rPr>
              <a:t>Q12 (extremfall)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983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Graf: 2 993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983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C5C"/>
                </a:solidFill>
              </a:rPr>
              <a:t>API: 72 314 ms(!)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5989320"/>
            <a:ext cx="5212080" cy="640080"/>
          </a:xfrm>
          <a:prstGeom prst="rect">
            <a:avLst/>
          </a:prstGeom>
          <a:solidFill>
            <a:srgbClr val="1627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6035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E0EF"/>
                </a:solidFill>
              </a:rPr>
              <a:t>Graf är effektivast vid komplexa frågor.
API är snabbare och enklare vid enkla.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Diskussion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524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Grafbaserade lösningen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28016" cy="31089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+ Tydliga kopplingar möjliggör traversering
   mellan datakällor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128016" cy="31089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+ Lågt och stabilt antal verktygsanrop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16935"/>
            <a:ext cx="128016" cy="31089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71215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+ Flexibel sökning via genererade Cypher-frågor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75304"/>
            <a:ext cx="128016" cy="310896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− Schema-overhead vid varje fråga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33672"/>
            <a:ext cx="128016" cy="310896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879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− Kräver manuell uppbyggnad och underhåll av grafen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051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5C5C"/>
                </a:solidFill>
              </a:rPr>
              <a:t>API-baserade lösningen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00200"/>
            <a:ext cx="128016" cy="31089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554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+ Snabb och resurssnål vid enkla frågor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258568"/>
            <a:ext cx="128016" cy="31089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21284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+ Alltid aktuell data – ingen lagring krävs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916935"/>
            <a:ext cx="128016" cy="310896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871215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− Kan inte länka identiteter mellan system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75304"/>
            <a:ext cx="128016" cy="310896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52958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− Fler verktygsanrop vid komplexa frågor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33672"/>
            <a:ext cx="128016" cy="310896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1879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− Korrekthet sjunker kraftigt vid komplexa frågor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983480"/>
            <a:ext cx="11430000" cy="1600200"/>
          </a:xfrm>
          <a:prstGeom prst="rect">
            <a:avLst/>
          </a:prstGeom>
          <a:solidFill>
            <a:srgbClr val="16273A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Metodreflektioner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0"/>
                </a:solidFill>
              </a:rPr>
              <a:t>• Frågorna designades av mig — risk att de gynnar grafbaserade lösningen
• Varje fråga kördes en gång — slumpen kan påverka enskilda resultat
• Korrekthetsbedömning gjordes subjektivt — i gränsfall är LLM:ens resonemang viktigare än svaret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Slutsats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524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234440"/>
            <a:ext cx="128016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Grafbaserad struktur ger LLM:en bättre förutsättningar att navigera och kombinera
information från flera datakällor.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128016" cy="365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Komplexa frågor: Graf 80% korrekt på ~3 000 ms  —  API 20% korrekt på ~18 000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71800"/>
            <a:ext cx="128016" cy="36576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API-lösningen presterar väl vid enkla frågor men tappar kraftigt vid kopplingar
mellan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40480"/>
            <a:ext cx="128016" cy="3657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749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Resultaten stödjer tidigare forskning: kunskapsgrafer ger LLM:er bättre
strukturerad kontext och förbättrar svarskvaliteten.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92040"/>
            <a:ext cx="11430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Framtida arbete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0"/>
                </a:solidFill>
              </a:rPr>
              <a:t>• Automatisera processen för att bygga och uppdatera grafen (API → Graf pipeline)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161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0"/>
                </a:solidFill>
              </a:rPr>
              <a:t>• Kombinera de två lösningarna: välj approach dynamiskt utifrån frågans komplexitet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021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0"/>
                </a:solidFill>
              </a:rPr>
              <a:t>• Testa lösningen med verklig organisatorisk data i produktion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5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B4D8"/>
                </a:solidFill>
              </a:rPr>
              <a:t>Tack!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3246120"/>
            <a:ext cx="523951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Frågor?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45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4C0"/>
                </a:solidFill>
              </a:rPr>
              <a:t>Isak Lampell  ·  lampell.i@gmail.com
Knightec Group AB  ·  Mittuniversitetet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