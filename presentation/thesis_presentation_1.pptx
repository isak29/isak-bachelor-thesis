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 (%)</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100</c:v>
                </c:pt>
                <c:pt idx="1">
                  <c:v>80</c:v>
                </c:pt>
                <c:pt idx="2">
                  <c:v>80</c:v>
                </c:pt>
              </c:numCache>
            </c:numRef>
          </c:val>
        </c:ser>
        <c:ser>
          <c:idx val="1"/>
          <c:order val="1"/>
          <c:tx>
            <c:strRef>
              <c:f>Sheet1!$C$1</c:f>
              <c:strCache>
                <c:ptCount val="1"/>
                <c:pt idx="0">
                  <c:v>API-baserad (%)</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100</c:v>
                </c:pt>
                <c:pt idx="1">
                  <c:v>40</c:v>
                </c:pt>
                <c:pt idx="2">
                  <c:v>20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min val="0.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2.2</c:v>
                </c:pt>
                <c:pt idx="1">
                  <c:v>4.0</c:v>
                </c:pt>
                <c:pt idx="2">
                  <c:v>2.4</c:v>
                </c:pt>
              </c:numCache>
            </c:numRef>
          </c:val>
        </c:ser>
        <c:ser>
          <c:idx val="1"/>
          <c:order val="1"/>
          <c:tx>
            <c:strRef>
              <c:f>Sheet1!$C$1</c:f>
              <c:strCache>
                <c:ptCount val="1"/>
                <c:pt idx="0">
                  <c:v>API-baserad</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1.6</c:v>
                </c:pt>
                <c:pt idx="1">
                  <c:v>4.4</c:v>
                </c:pt>
                <c:pt idx="2">
                  <c:v>6.0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8.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Grafbaserad</c:v>
                </c:pt>
              </c:strCache>
            </c:strRef>
          </c:tx>
          <c:spPr>
            <a:solidFill>
              <a:srgbClr val="F26522"/>
            </a:solidFill>
          </c:spPr>
          <c:cat>
            <c:strRef>
              <c:f>Sheet1!$A$2:$A$4</c:f>
              <c:strCache>
                <c:ptCount val="3"/>
                <c:pt idx="0">
                  <c:v>Simpla</c:v>
                </c:pt>
                <c:pt idx="1">
                  <c:v>Medelsvåra</c:v>
                </c:pt>
                <c:pt idx="2">
                  <c:v>Komplexa</c:v>
                </c:pt>
              </c:strCache>
            </c:strRef>
          </c:cat>
          <c:val>
            <c:numRef>
              <c:f>Sheet1!$B$2:$B$4</c:f>
              <c:numCache>
                <c:formatCode>General</c:formatCode>
                <c:ptCount val="3"/>
                <c:pt idx="0">
                  <c:v>1967</c:v>
                </c:pt>
                <c:pt idx="1">
                  <c:v>5234</c:v>
                </c:pt>
                <c:pt idx="2">
                  <c:v>2965</c:v>
                </c:pt>
              </c:numCache>
            </c:numRef>
          </c:val>
        </c:ser>
        <c:ser>
          <c:idx val="1"/>
          <c:order val="1"/>
          <c:tx>
            <c:strRef>
              <c:f>Sheet1!$C$1</c:f>
              <c:strCache>
                <c:ptCount val="1"/>
                <c:pt idx="0">
                  <c:v>API-baserad</c:v>
                </c:pt>
              </c:strCache>
            </c:strRef>
          </c:tx>
          <c:spPr>
            <a:solidFill>
              <a:srgbClr val="2E86C1"/>
            </a:solidFill>
          </c:spPr>
          <c:cat>
            <c:strRef>
              <c:f>Sheet1!$A$2:$A$4</c:f>
              <c:strCache>
                <c:ptCount val="3"/>
                <c:pt idx="0">
                  <c:v>Simpla</c:v>
                </c:pt>
                <c:pt idx="1">
                  <c:v>Medelsvåra</c:v>
                </c:pt>
                <c:pt idx="2">
                  <c:v>Komplexa</c:v>
                </c:pt>
              </c:strCache>
            </c:strRef>
          </c:cat>
          <c:val>
            <c:numRef>
              <c:f>Sheet1!$C$2:$C$4</c:f>
              <c:numCache>
                <c:formatCode>General</c:formatCode>
                <c:ptCount val="3"/>
                <c:pt idx="0">
                  <c:v>1521</c:v>
                </c:pt>
                <c:pt idx="1">
                  <c:v>5251</c:v>
                </c:pt>
                <c:pt idx="2">
                  <c:v>18388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20000.0"/>
        </c:scaling>
        <c:delete val="0"/>
        <c:axPos val="l"/>
        <c:majorGridlines/>
        <c:majorTickMark val="out"/>
        <c:minorTickMark val="none"/>
        <c:tickLblPos val="nextTo"/>
        <c:crossAx val="-2068027336"/>
        <c:crosses val="autoZero"/>
      </c:valAx>
    </c:plotArea>
    <c:legend>
      <c:legendPos val="tr"/>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560320"/>
            <a:ext cx="12188952" cy="54864"/>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725912" cy="1554480"/>
          </a:xfrm>
          <a:prstGeom prst="rect">
            <a:avLst/>
          </a:prstGeom>
          <a:noFill/>
        </p:spPr>
        <p:txBody>
          <a:bodyPr wrap="square">
            <a:spAutoFit/>
          </a:bodyPr>
          <a:lstStyle/>
          <a:p>
            <a:pPr algn="ctr"/>
            <a:r>
              <a:rPr sz="3400" b="1" i="0">
                <a:solidFill>
                  <a:srgbClr val="1A1A1A"/>
                </a:solidFill>
              </a:rPr>
              <a:t>Grafbaserad datarepresentation för LLM-driven informationssökning i organisationer</a:t>
            </a:r>
          </a:p>
        </p:txBody>
      </p:sp>
      <p:sp>
        <p:nvSpPr>
          <p:cNvPr id="6" name="TextBox 5"/>
          <p:cNvSpPr txBox="1"/>
          <p:nvPr/>
        </p:nvSpPr>
        <p:spPr>
          <a:xfrm>
            <a:off x="914400" y="2788920"/>
            <a:ext cx="10360152" cy="640080"/>
          </a:xfrm>
          <a:prstGeom prst="rect">
            <a:avLst/>
          </a:prstGeom>
          <a:noFill/>
        </p:spPr>
        <p:txBody>
          <a:bodyPr wrap="square">
            <a:spAutoFit/>
          </a:bodyPr>
          <a:lstStyle/>
          <a:p>
            <a:pPr algn="ctr"/>
            <a:r>
              <a:rPr sz="1600" b="0" i="1">
                <a:solidFill>
                  <a:srgbClr val="F26522"/>
                </a:solidFill>
              </a:rPr>
              <a:t>En jämförelse mellan grafbaserad och API-baserad dataåtkomst avseende effektivitet, korrekthet och resursanvändning</a:t>
            </a:r>
          </a:p>
        </p:txBody>
      </p:sp>
      <p:sp>
        <p:nvSpPr>
          <p:cNvPr id="7" name="TextBox 6"/>
          <p:cNvSpPr txBox="1"/>
          <p:nvPr/>
        </p:nvSpPr>
        <p:spPr>
          <a:xfrm>
            <a:off x="914400" y="3749039"/>
            <a:ext cx="10360152" cy="457200"/>
          </a:xfrm>
          <a:prstGeom prst="rect">
            <a:avLst/>
          </a:prstGeom>
          <a:noFill/>
        </p:spPr>
        <p:txBody>
          <a:bodyPr wrap="square">
            <a:spAutoFit/>
          </a:bodyPr>
          <a:lstStyle/>
          <a:p>
            <a:pPr algn="ctr"/>
            <a:r>
              <a:rPr sz="1300" b="0" i="0">
                <a:solidFill>
                  <a:srgbClr val="555555"/>
                </a:solidFill>
              </a:rPr>
              <a:t>Isak Lampell  ·  Knightec Group AB  ·  Mittuniversitetet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Problemet</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51560"/>
            <a:ext cx="7772400" cy="822960"/>
          </a:xfrm>
          <a:prstGeom prst="rect">
            <a:avLst/>
          </a:prstGeom>
          <a:noFill/>
        </p:spPr>
        <p:txBody>
          <a:bodyPr wrap="square">
            <a:spAutoFit/>
          </a:bodyPr>
          <a:lstStyle/>
          <a:p>
            <a:pPr algn="l"/>
            <a:r>
              <a:rPr sz="1500" b="0" i="0">
                <a:solidFill>
                  <a:srgbClr val="1A1A1A"/>
                </a:solidFill>
              </a:rPr>
              <a:t>Föreställ dig att du sitter på ett företag med hundratals kollegor,
många projekt och tusentals dokumentationssidor med information om riktlinjer och rutiner.</a:t>
            </a:r>
          </a:p>
        </p:txBody>
      </p:sp>
      <p:sp>
        <p:nvSpPr>
          <p:cNvPr id="7" name="TextBox 6"/>
          <p:cNvSpPr txBox="1"/>
          <p:nvPr/>
        </p:nvSpPr>
        <p:spPr>
          <a:xfrm>
            <a:off x="457200" y="2011680"/>
            <a:ext cx="7772400" cy="594360"/>
          </a:xfrm>
          <a:prstGeom prst="rect">
            <a:avLst/>
          </a:prstGeom>
          <a:noFill/>
        </p:spPr>
        <p:txBody>
          <a:bodyPr wrap="square">
            <a:spAutoFit/>
          </a:bodyPr>
          <a:lstStyle/>
          <a:p>
            <a:pPr algn="l"/>
            <a:r>
              <a:rPr sz="1500" b="0" i="0">
                <a:solidFill>
                  <a:srgbClr val="1A1A1A"/>
                </a:solidFill>
              </a:rPr>
              <a:t>Allt är spritt över många olika interna system och du behöver snabbt hitta svaret på en specifik fråga.</a:t>
            </a:r>
          </a:p>
        </p:txBody>
      </p:sp>
      <p:sp>
        <p:nvSpPr>
          <p:cNvPr id="8" name="TextBox 7"/>
          <p:cNvSpPr txBox="1"/>
          <p:nvPr/>
        </p:nvSpPr>
        <p:spPr>
          <a:xfrm>
            <a:off x="457200" y="2788920"/>
            <a:ext cx="7772400" cy="1005840"/>
          </a:xfrm>
          <a:prstGeom prst="rect">
            <a:avLst/>
          </a:prstGeom>
          <a:noFill/>
        </p:spPr>
        <p:txBody>
          <a:bodyPr wrap="square">
            <a:spAutoFit/>
          </a:bodyPr>
          <a:lstStyle/>
          <a:p>
            <a:pPr algn="l"/>
            <a:r>
              <a:rPr sz="1500" b="0" i="0">
                <a:solidFill>
                  <a:srgbClr val="555555"/>
                </a:solidFill>
              </a:rPr>
              <a:t>Det du gör är att du börjar söka, frågar kollegor och söker lite ytterligare
tills du hittar svaret. Det kan ta väldigt lång tid som egentligen borde
läggas på det riktiga arbetet.</a:t>
            </a:r>
          </a:p>
        </p:txBody>
      </p:sp>
      <p:sp>
        <p:nvSpPr>
          <p:cNvPr id="9" name="Rectangle 8"/>
          <p:cNvSpPr/>
          <p:nvPr/>
        </p:nvSpPr>
        <p:spPr>
          <a:xfrm>
            <a:off x="457200" y="4069080"/>
            <a:ext cx="7772400" cy="118872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206240"/>
            <a:ext cx="7498079" cy="914400"/>
          </a:xfrm>
          <a:prstGeom prst="rect">
            <a:avLst/>
          </a:prstGeom>
          <a:noFill/>
        </p:spPr>
        <p:txBody>
          <a:bodyPr wrap="square">
            <a:spAutoFit/>
          </a:bodyPr>
          <a:lstStyle/>
          <a:p>
            <a:pPr algn="l"/>
            <a:r>
              <a:rPr sz="1500" b="1" i="0">
                <a:solidFill>
                  <a:srgbClr val="1A1A1A"/>
                </a:solidFill>
              </a:rPr>
              <a:t>Det här är vardagen hos många organisationer idag —
och det är precis det problemet mitt arbete syftar till att lösa.</a:t>
            </a:r>
          </a:p>
        </p:txBody>
      </p:sp>
      <p:sp>
        <p:nvSpPr>
          <p:cNvPr id="11" name="Rectangle 10"/>
          <p:cNvSpPr/>
          <p:nvPr/>
        </p:nvSpPr>
        <p:spPr>
          <a:xfrm>
            <a:off x="8412480" y="1051560"/>
            <a:ext cx="3474720" cy="512064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3383279"/>
            <a:ext cx="3474720" cy="457200"/>
          </a:xfrm>
          <a:prstGeom prst="rect">
            <a:avLst/>
          </a:prstGeom>
          <a:noFill/>
        </p:spPr>
        <p:txBody>
          <a:bodyPr wrap="square">
            <a:spAutoFit/>
          </a:bodyPr>
          <a:lstStyle/>
          <a:p>
            <a:pPr algn="ctr"/>
            <a:r>
              <a:rPr sz="1300" b="0" i="1">
                <a:solidFill>
                  <a:srgbClr val="555555"/>
                </a:solidFill>
              </a:rPr>
              <a:t>[ BILD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Bakgrund – Knightec</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502920"/>
          </a:xfrm>
          <a:prstGeom prst="rect">
            <a:avLst/>
          </a:prstGeom>
          <a:noFill/>
        </p:spPr>
        <p:txBody>
          <a:bodyPr wrap="square">
            <a:spAutoFit/>
          </a:bodyPr>
          <a:lstStyle/>
          <a:p>
            <a:pPr algn="l"/>
            <a:r>
              <a:rPr sz="1400" b="0" i="0">
                <a:solidFill>
                  <a:srgbClr val="1A1A1A"/>
                </a:solidFill>
              </a:rPr>
              <a:t>Exjobbet är gjort i samarbete med Knightec — ett tech-konsultbolag med verksamhet på flera orter i Sverige.</a:t>
            </a:r>
          </a:p>
        </p:txBody>
      </p:sp>
      <p:sp>
        <p:nvSpPr>
          <p:cNvPr id="7" name="TextBox 6"/>
          <p:cNvSpPr txBox="1"/>
          <p:nvPr/>
        </p:nvSpPr>
        <p:spPr>
          <a:xfrm>
            <a:off x="457200" y="1645920"/>
            <a:ext cx="7315200" cy="411480"/>
          </a:xfrm>
          <a:prstGeom prst="rect">
            <a:avLst/>
          </a:prstGeom>
          <a:noFill/>
        </p:spPr>
        <p:txBody>
          <a:bodyPr wrap="square">
            <a:spAutoFit/>
          </a:bodyPr>
          <a:lstStyle/>
          <a:p>
            <a:pPr algn="l"/>
            <a:r>
              <a:rPr sz="1400" b="1" i="0">
                <a:solidFill>
                  <a:srgbClr val="F26522"/>
                </a:solidFill>
              </a:rPr>
              <a:t>Informationen är spridd över tre system:</a:t>
            </a:r>
          </a:p>
        </p:txBody>
      </p:sp>
      <p:sp>
        <p:nvSpPr>
          <p:cNvPr id="8" name="Rectangle 7"/>
          <p:cNvSpPr/>
          <p:nvPr/>
        </p:nvSpPr>
        <p:spPr>
          <a:xfrm>
            <a:off x="457200" y="2194560"/>
            <a:ext cx="3566160" cy="356616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286000"/>
            <a:ext cx="3566160" cy="594360"/>
          </a:xfrm>
          <a:prstGeom prst="rect">
            <a:avLst/>
          </a:prstGeom>
          <a:noFill/>
        </p:spPr>
        <p:txBody>
          <a:bodyPr wrap="square">
            <a:spAutoFit/>
          </a:bodyPr>
          <a:lstStyle/>
          <a:p>
            <a:pPr algn="ctr"/>
            <a:r>
              <a:rPr sz="2200" b="1" i="0">
                <a:solidFill>
                  <a:srgbClr val="2E86C1"/>
                </a:solidFill>
              </a:rPr>
              <a:t>GitHub</a:t>
            </a:r>
          </a:p>
        </p:txBody>
      </p:sp>
      <p:sp>
        <p:nvSpPr>
          <p:cNvPr id="10" name="Rectangle 9"/>
          <p:cNvSpPr/>
          <p:nvPr/>
        </p:nvSpPr>
        <p:spPr>
          <a:xfrm>
            <a:off x="731520" y="2971800"/>
            <a:ext cx="3017520" cy="36576"/>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108960"/>
            <a:ext cx="3291840" cy="2377440"/>
          </a:xfrm>
          <a:prstGeom prst="rect">
            <a:avLst/>
          </a:prstGeom>
          <a:noFill/>
        </p:spPr>
        <p:txBody>
          <a:bodyPr wrap="square">
            <a:spAutoFit/>
          </a:bodyPr>
          <a:lstStyle/>
          <a:p>
            <a:pPr algn="ctr"/>
            <a:r>
              <a:rPr sz="1300" b="0" i="0">
                <a:solidFill>
                  <a:srgbClr val="555555"/>
                </a:solidFill>
              </a:rPr>
              <a:t>Projekt &amp; programkod
Repositories, commits,
issues, aktiva användare</a:t>
            </a:r>
          </a:p>
        </p:txBody>
      </p:sp>
      <p:sp>
        <p:nvSpPr>
          <p:cNvPr id="12" name="Rectangle 11"/>
          <p:cNvSpPr/>
          <p:nvPr/>
        </p:nvSpPr>
        <p:spPr>
          <a:xfrm>
            <a:off x="4297680" y="2194560"/>
            <a:ext cx="3566160" cy="356616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2286000"/>
            <a:ext cx="3566160" cy="594360"/>
          </a:xfrm>
          <a:prstGeom prst="rect">
            <a:avLst/>
          </a:prstGeom>
          <a:noFill/>
        </p:spPr>
        <p:txBody>
          <a:bodyPr wrap="square">
            <a:spAutoFit/>
          </a:bodyPr>
          <a:lstStyle/>
          <a:p>
            <a:pPr algn="ctr"/>
            <a:r>
              <a:rPr sz="2200" b="1" i="0">
                <a:solidFill>
                  <a:srgbClr val="27AE60"/>
                </a:solidFill>
              </a:rPr>
              <a:t>Slack</a:t>
            </a:r>
          </a:p>
        </p:txBody>
      </p:sp>
      <p:sp>
        <p:nvSpPr>
          <p:cNvPr id="14" name="Rectangle 13"/>
          <p:cNvSpPr/>
          <p:nvPr/>
        </p:nvSpPr>
        <p:spPr>
          <a:xfrm>
            <a:off x="4572000" y="2971800"/>
            <a:ext cx="3017520" cy="36576"/>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108960"/>
            <a:ext cx="3291840" cy="2377440"/>
          </a:xfrm>
          <a:prstGeom prst="rect">
            <a:avLst/>
          </a:prstGeom>
          <a:noFill/>
        </p:spPr>
        <p:txBody>
          <a:bodyPr wrap="square">
            <a:spAutoFit/>
          </a:bodyPr>
          <a:lstStyle/>
          <a:p>
            <a:pPr algn="ctr"/>
            <a:r>
              <a:rPr sz="1300" b="0" i="0">
                <a:solidFill>
                  <a:srgbClr val="555555"/>
                </a:solidFill>
              </a:rPr>
              <a:t>Kommunikation
Kanaler, meddelanden,
användare</a:t>
            </a:r>
          </a:p>
        </p:txBody>
      </p:sp>
      <p:sp>
        <p:nvSpPr>
          <p:cNvPr id="16" name="Rectangle 15"/>
          <p:cNvSpPr/>
          <p:nvPr/>
        </p:nvSpPr>
        <p:spPr>
          <a:xfrm>
            <a:off x="8138160" y="2194560"/>
            <a:ext cx="3566160" cy="35661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286000"/>
            <a:ext cx="3566160" cy="594360"/>
          </a:xfrm>
          <a:prstGeom prst="rect">
            <a:avLst/>
          </a:prstGeom>
          <a:noFill/>
        </p:spPr>
        <p:txBody>
          <a:bodyPr wrap="square">
            <a:spAutoFit/>
          </a:bodyPr>
          <a:lstStyle/>
          <a:p>
            <a:pPr algn="ctr"/>
            <a:r>
              <a:rPr sz="2200" b="1" i="0">
                <a:solidFill>
                  <a:srgbClr val="F26522"/>
                </a:solidFill>
              </a:rPr>
              <a:t>Confluence</a:t>
            </a:r>
          </a:p>
        </p:txBody>
      </p:sp>
      <p:sp>
        <p:nvSpPr>
          <p:cNvPr id="18" name="Rectangle 17"/>
          <p:cNvSpPr/>
          <p:nvPr/>
        </p:nvSpPr>
        <p:spPr>
          <a:xfrm>
            <a:off x="8412480" y="2971800"/>
            <a:ext cx="3017520"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108960"/>
            <a:ext cx="3291840" cy="2377440"/>
          </a:xfrm>
          <a:prstGeom prst="rect">
            <a:avLst/>
          </a:prstGeom>
          <a:noFill/>
        </p:spPr>
        <p:txBody>
          <a:bodyPr wrap="square">
            <a:spAutoFit/>
          </a:bodyPr>
          <a:lstStyle/>
          <a:p>
            <a:pPr algn="ctr"/>
            <a:r>
              <a:rPr sz="1300" b="0" i="0">
                <a:solidFill>
                  <a:srgbClr val="555555"/>
                </a:solidFill>
              </a:rPr>
              <a:t>Intern dokumentation
Processer, rutiner,
riktlinjer, teams</a:t>
            </a:r>
          </a:p>
        </p:txBody>
      </p:sp>
      <p:sp>
        <p:nvSpPr>
          <p:cNvPr id="20" name="TextBox 19"/>
          <p:cNvSpPr txBox="1"/>
          <p:nvPr/>
        </p:nvSpPr>
        <p:spPr>
          <a:xfrm>
            <a:off x="457200" y="5897880"/>
            <a:ext cx="11247120" cy="457200"/>
          </a:xfrm>
          <a:prstGeom prst="rect">
            <a:avLst/>
          </a:prstGeom>
          <a:noFill/>
        </p:spPr>
        <p:txBody>
          <a:bodyPr wrap="square">
            <a:spAutoFit/>
          </a:bodyPr>
          <a:lstStyle/>
          <a:p>
            <a:pPr algn="ctr"/>
            <a:r>
              <a:rPr sz="1300" b="0" i="1">
                <a:solidFill>
                  <a:srgbClr val="555555"/>
                </a:solidFill>
              </a:rPr>
              <a:t>Problemet: ingen gemensam struktur — data kan inte enkelt kombineras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Två lösningar undersöks</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400" b="0" i="0">
                <a:solidFill>
                  <a:srgbClr val="1A1A1A"/>
                </a:solidFill>
              </a:rPr>
              <a:t>För att lösa problemet implementeras och jämförs två olika lösningar:</a:t>
            </a:r>
          </a:p>
        </p:txBody>
      </p:sp>
      <p:sp>
        <p:nvSpPr>
          <p:cNvPr id="7" name="Rectangle 6"/>
          <p:cNvSpPr/>
          <p:nvPr/>
        </p:nvSpPr>
        <p:spPr>
          <a:xfrm>
            <a:off x="457200" y="1554480"/>
            <a:ext cx="5486400" cy="502920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45920"/>
            <a:ext cx="5212080" cy="502920"/>
          </a:xfrm>
          <a:prstGeom prst="rect">
            <a:avLst/>
          </a:prstGeom>
          <a:noFill/>
        </p:spPr>
        <p:txBody>
          <a:bodyPr wrap="square">
            <a:spAutoFit/>
          </a:bodyPr>
          <a:lstStyle/>
          <a:p>
            <a:pPr algn="l"/>
            <a:r>
              <a:rPr sz="1700" b="1" i="0">
                <a:solidFill>
                  <a:srgbClr val="F26522"/>
                </a:solidFill>
              </a:rPr>
              <a:t>Lösning 1 — Grafbaserad</a:t>
            </a:r>
          </a:p>
        </p:txBody>
      </p:sp>
      <p:sp>
        <p:nvSpPr>
          <p:cNvPr id="9" name="Rectangle 8"/>
          <p:cNvSpPr/>
          <p:nvPr/>
        </p:nvSpPr>
        <p:spPr>
          <a:xfrm>
            <a:off x="594360" y="2240280"/>
            <a:ext cx="5212080" cy="27432"/>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77440"/>
            <a:ext cx="5120640" cy="4572000"/>
          </a:xfrm>
          <a:prstGeom prst="rect">
            <a:avLst/>
          </a:prstGeom>
          <a:noFill/>
        </p:spPr>
        <p:txBody>
          <a:bodyPr wrap="square">
            <a:spAutoFit/>
          </a:bodyPr>
          <a:lstStyle/>
          <a:p>
            <a:pPr>
              <a:spcBef>
                <a:spcPts val="400"/>
              </a:spcBef>
            </a:pPr>
            <a:r>
              <a:rPr sz="1300">
                <a:solidFill>
                  <a:srgbClr val="1A1A1A"/>
                </a:solidFill>
              </a:rPr>
              <a:t>• Data från GitHub, Slack och Confluence</a:t>
            </a:r>
          </a:p>
          <a:p>
            <a:pPr>
              <a:spcBef>
                <a:spcPts val="400"/>
              </a:spcBef>
            </a:pPr>
            <a:r>
              <a:rPr sz="1300">
                <a:solidFill>
                  <a:srgbClr val="555555"/>
                </a:solidFill>
              </a:rPr>
              <a:t>  samlas i en gemensam grafstruktur</a:t>
            </a:r>
          </a:p>
          <a:p>
            <a:pPr>
              <a:spcBef>
                <a:spcPts val="400"/>
              </a:spcBef>
            </a:pPr>
            <a:r>
              <a:rPr sz="1300">
                <a:solidFill>
                  <a:srgbClr val="1A1A1A"/>
                </a:solidFill>
              </a:rPr>
              <a:t/>
            </a:r>
          </a:p>
          <a:p>
            <a:pPr>
              <a:spcBef>
                <a:spcPts val="400"/>
              </a:spcBef>
            </a:pPr>
            <a:r>
              <a:rPr sz="1300">
                <a:solidFill>
                  <a:srgbClr val="1A1A1A"/>
                </a:solidFill>
              </a:rPr>
              <a:t>• Tydliga relationer och samband modelleras</a:t>
            </a:r>
          </a:p>
          <a:p>
            <a:pPr>
              <a:spcBef>
                <a:spcPts val="400"/>
              </a:spcBef>
            </a:pPr>
            <a:r>
              <a:rPr sz="1300">
                <a:solidFill>
                  <a:srgbClr val="555555"/>
                </a:solidFill>
              </a:rPr>
              <a:t>  direkt i databasen</a:t>
            </a:r>
          </a:p>
          <a:p>
            <a:pPr>
              <a:spcBef>
                <a:spcPts val="400"/>
              </a:spcBef>
            </a:pPr>
            <a:r>
              <a:rPr sz="1300">
                <a:solidFill>
                  <a:srgbClr val="1A1A1A"/>
                </a:solidFill>
              </a:rPr>
              <a:t/>
            </a:r>
          </a:p>
          <a:p>
            <a:pPr>
              <a:spcBef>
                <a:spcPts val="400"/>
              </a:spcBef>
            </a:pPr>
            <a:r>
              <a:rPr sz="1300">
                <a:solidFill>
                  <a:srgbClr val="1A1A1A"/>
                </a:solidFill>
              </a:rPr>
              <a:t>• Ex: Isak Lampell är kopplad till en Confluence-sida,</a:t>
            </a:r>
          </a:p>
          <a:p>
            <a:pPr>
              <a:spcBef>
                <a:spcPts val="400"/>
              </a:spcBef>
            </a:pPr>
            <a:r>
              <a:rPr sz="1300">
                <a:solidFill>
                  <a:srgbClr val="555555"/>
                </a:solidFill>
              </a:rPr>
              <a:t>  ett GitHub-projekt och meddelanden i Slack</a:t>
            </a:r>
          </a:p>
          <a:p>
            <a:pPr>
              <a:spcBef>
                <a:spcPts val="400"/>
              </a:spcBef>
            </a:pPr>
            <a:r>
              <a:rPr sz="1300">
                <a:solidFill>
                  <a:srgbClr val="1A1A1A"/>
                </a:solidFill>
              </a:rPr>
              <a:t/>
            </a:r>
          </a:p>
          <a:p>
            <a:pPr>
              <a:spcBef>
                <a:spcPts val="400"/>
              </a:spcBef>
            </a:pPr>
            <a:r>
              <a:rPr sz="1300">
                <a:solidFill>
                  <a:srgbClr val="1A1A1A"/>
                </a:solidFill>
              </a:rPr>
              <a:t>• LLM:en navigerar grafen för att hitta svar</a:t>
            </a:r>
          </a:p>
        </p:txBody>
      </p:sp>
      <p:sp>
        <p:nvSpPr>
          <p:cNvPr id="11" name="Rectangle 10"/>
          <p:cNvSpPr/>
          <p:nvPr/>
        </p:nvSpPr>
        <p:spPr>
          <a:xfrm>
            <a:off x="6263640" y="1554480"/>
            <a:ext cx="5486400" cy="502920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45920"/>
            <a:ext cx="5212080" cy="502920"/>
          </a:xfrm>
          <a:prstGeom prst="rect">
            <a:avLst/>
          </a:prstGeom>
          <a:noFill/>
        </p:spPr>
        <p:txBody>
          <a:bodyPr wrap="square">
            <a:spAutoFit/>
          </a:bodyPr>
          <a:lstStyle/>
          <a:p>
            <a:pPr algn="l"/>
            <a:r>
              <a:rPr sz="1700" b="1" i="0">
                <a:solidFill>
                  <a:srgbClr val="2E86C1"/>
                </a:solidFill>
              </a:rPr>
              <a:t>Lösning 2 — API-baserad</a:t>
            </a:r>
          </a:p>
        </p:txBody>
      </p:sp>
      <p:sp>
        <p:nvSpPr>
          <p:cNvPr id="13" name="Rectangle 12"/>
          <p:cNvSpPr/>
          <p:nvPr/>
        </p:nvSpPr>
        <p:spPr>
          <a:xfrm>
            <a:off x="6400800" y="2240280"/>
            <a:ext cx="521208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377440"/>
            <a:ext cx="5212080" cy="4572000"/>
          </a:xfrm>
          <a:prstGeom prst="rect">
            <a:avLst/>
          </a:prstGeom>
          <a:noFill/>
        </p:spPr>
        <p:txBody>
          <a:bodyPr wrap="square">
            <a:spAutoFit/>
          </a:bodyPr>
          <a:lstStyle/>
          <a:p>
            <a:pPr>
              <a:spcBef>
                <a:spcPts val="400"/>
              </a:spcBef>
            </a:pPr>
            <a:r>
              <a:rPr sz="1300">
                <a:solidFill>
                  <a:srgbClr val="1A1A1A"/>
                </a:solidFill>
              </a:rPr>
              <a:t>• Ingen central lagring — data hämtas i realtid</a:t>
            </a:r>
          </a:p>
          <a:p>
            <a:pPr>
              <a:spcBef>
                <a:spcPts val="400"/>
              </a:spcBef>
            </a:pPr>
            <a:r>
              <a:rPr sz="1300">
                <a:solidFill>
                  <a:srgbClr val="555555"/>
                </a:solidFill>
              </a:rPr>
              <a:t>  direkt från systemens API:er</a:t>
            </a:r>
          </a:p>
          <a:p>
            <a:pPr>
              <a:spcBef>
                <a:spcPts val="400"/>
              </a:spcBef>
            </a:pPr>
            <a:r>
              <a:rPr sz="1300">
                <a:solidFill>
                  <a:srgbClr val="1A1A1A"/>
                </a:solidFill>
              </a:rPr>
              <a:t/>
            </a:r>
          </a:p>
          <a:p>
            <a:pPr>
              <a:spcBef>
                <a:spcPts val="400"/>
              </a:spcBef>
            </a:pPr>
            <a:r>
              <a:rPr sz="1300">
                <a:solidFill>
                  <a:srgbClr val="1A1A1A"/>
                </a:solidFill>
              </a:rPr>
              <a:t>• LLM:en resonerar själv kring kopplingar</a:t>
            </a:r>
          </a:p>
          <a:p>
            <a:pPr>
              <a:spcBef>
                <a:spcPts val="400"/>
              </a:spcBef>
            </a:pPr>
            <a:r>
              <a:rPr sz="1300">
                <a:solidFill>
                  <a:srgbClr val="555555"/>
                </a:solidFill>
              </a:rPr>
              <a:t>  efter att data hämtats</a:t>
            </a:r>
          </a:p>
          <a:p>
            <a:pPr>
              <a:spcBef>
                <a:spcPts val="400"/>
              </a:spcBef>
            </a:pPr>
            <a:r>
              <a:rPr sz="1300">
                <a:solidFill>
                  <a:srgbClr val="1A1A1A"/>
                </a:solidFill>
              </a:rPr>
              <a:t/>
            </a:r>
          </a:p>
          <a:p>
            <a:pPr>
              <a:spcBef>
                <a:spcPts val="400"/>
              </a:spcBef>
            </a:pPr>
            <a:r>
              <a:rPr sz="1300">
                <a:solidFill>
                  <a:srgbClr val="1A1A1A"/>
                </a:solidFill>
              </a:rPr>
              <a:t>• Ex: API-anrop hämtar alla användare från GitHub,</a:t>
            </a:r>
          </a:p>
          <a:p>
            <a:pPr>
              <a:spcBef>
                <a:spcPts val="400"/>
              </a:spcBef>
            </a:pPr>
            <a:r>
              <a:rPr sz="1300">
                <a:solidFill>
                  <a:srgbClr val="555555"/>
                </a:solidFill>
              </a:rPr>
              <a:t>  LLM plockar ut rätt person och gör nytt anrop</a:t>
            </a:r>
          </a:p>
          <a:p>
            <a:pPr>
              <a:spcBef>
                <a:spcPts val="400"/>
              </a:spcBef>
            </a:pPr>
            <a:r>
              <a:rPr sz="1300">
                <a:solidFill>
                  <a:srgbClr val="555555"/>
                </a:solidFill>
              </a:rPr>
              <a:t>  mot Confluence för att hämta den personens sidor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Teori</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5394960" cy="242316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43000"/>
            <a:ext cx="5120640" cy="457200"/>
          </a:xfrm>
          <a:prstGeom prst="rect">
            <a:avLst/>
          </a:prstGeom>
          <a:noFill/>
        </p:spPr>
        <p:txBody>
          <a:bodyPr wrap="square">
            <a:spAutoFit/>
          </a:bodyPr>
          <a:lstStyle/>
          <a:p>
            <a:pPr algn="l"/>
            <a:r>
              <a:rPr sz="1700" b="1" i="0">
                <a:solidFill>
                  <a:srgbClr val="2E86C1"/>
                </a:solidFill>
              </a:rPr>
              <a:t>LLM</a:t>
            </a:r>
          </a:p>
        </p:txBody>
      </p:sp>
      <p:sp>
        <p:nvSpPr>
          <p:cNvPr id="8" name="Rectangle 7"/>
          <p:cNvSpPr/>
          <p:nvPr/>
        </p:nvSpPr>
        <p:spPr>
          <a:xfrm>
            <a:off x="502920" y="1645919"/>
            <a:ext cx="5120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83080"/>
            <a:ext cx="5120640" cy="1554480"/>
          </a:xfrm>
          <a:prstGeom prst="rect">
            <a:avLst/>
          </a:prstGeom>
          <a:noFill/>
        </p:spPr>
        <p:txBody>
          <a:bodyPr wrap="square">
            <a:spAutoFit/>
          </a:bodyPr>
          <a:lstStyle/>
          <a:p>
            <a:pPr algn="l"/>
            <a:r>
              <a:rPr sz="1200" b="0" i="0">
                <a:solidFill>
                  <a:srgbClr val="555555"/>
                </a:solidFill>
              </a:rPr>
              <a:t>Large Language Model — AI-modell tränad på stora mängder text.
I arbetet: tolkar användarens fråga och avgör vilka verktyg som ska anropas.</a:t>
            </a:r>
          </a:p>
        </p:txBody>
      </p:sp>
      <p:sp>
        <p:nvSpPr>
          <p:cNvPr id="10" name="Rectangle 9"/>
          <p:cNvSpPr/>
          <p:nvPr/>
        </p:nvSpPr>
        <p:spPr>
          <a:xfrm>
            <a:off x="6309360" y="1051560"/>
            <a:ext cx="5394960" cy="24231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43000"/>
            <a:ext cx="5120640" cy="457200"/>
          </a:xfrm>
          <a:prstGeom prst="rect">
            <a:avLst/>
          </a:prstGeom>
          <a:noFill/>
        </p:spPr>
        <p:txBody>
          <a:bodyPr wrap="square">
            <a:spAutoFit/>
          </a:bodyPr>
          <a:lstStyle/>
          <a:p>
            <a:pPr algn="l"/>
            <a:r>
              <a:rPr sz="1700" b="1" i="0">
                <a:solidFill>
                  <a:srgbClr val="F26522"/>
                </a:solidFill>
              </a:rPr>
              <a:t>MCP — Model Context Protocol</a:t>
            </a:r>
          </a:p>
        </p:txBody>
      </p:sp>
      <p:sp>
        <p:nvSpPr>
          <p:cNvPr id="12" name="Rectangle 11"/>
          <p:cNvSpPr/>
          <p:nvPr/>
        </p:nvSpPr>
        <p:spPr>
          <a:xfrm>
            <a:off x="6446520" y="1645919"/>
            <a:ext cx="5120640" cy="27432"/>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83080"/>
            <a:ext cx="5120640" cy="1554480"/>
          </a:xfrm>
          <a:prstGeom prst="rect">
            <a:avLst/>
          </a:prstGeom>
          <a:noFill/>
        </p:spPr>
        <p:txBody>
          <a:bodyPr wrap="square">
            <a:spAutoFit/>
          </a:bodyPr>
          <a:lstStyle/>
          <a:p>
            <a:pPr algn="l"/>
            <a:r>
              <a:rPr sz="1200" b="0" i="0">
                <a:solidFill>
                  <a:srgbClr val="555555"/>
                </a:solidFill>
              </a:rPr>
              <a:t>Mellanlager mellan LLM och datakällor. Funktionalitet exponeras som verktyg.
I arbetet: MCP-server med verktyg för Cypher-frågor eller API-anrop.</a:t>
            </a:r>
          </a:p>
        </p:txBody>
      </p:sp>
      <p:sp>
        <p:nvSpPr>
          <p:cNvPr id="14" name="Rectangle 13"/>
          <p:cNvSpPr/>
          <p:nvPr/>
        </p:nvSpPr>
        <p:spPr>
          <a:xfrm>
            <a:off x="365760" y="3657600"/>
            <a:ext cx="5394960" cy="242316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749039"/>
            <a:ext cx="5120640" cy="457200"/>
          </a:xfrm>
          <a:prstGeom prst="rect">
            <a:avLst/>
          </a:prstGeom>
          <a:noFill/>
        </p:spPr>
        <p:txBody>
          <a:bodyPr wrap="square">
            <a:spAutoFit/>
          </a:bodyPr>
          <a:lstStyle/>
          <a:p>
            <a:pPr algn="l"/>
            <a:r>
              <a:rPr sz="1700" b="1" i="0">
                <a:solidFill>
                  <a:srgbClr val="27AE60"/>
                </a:solidFill>
              </a:rPr>
              <a:t>Kunskapsgraf</a:t>
            </a:r>
          </a:p>
        </p:txBody>
      </p:sp>
      <p:sp>
        <p:nvSpPr>
          <p:cNvPr id="16" name="Rectangle 15"/>
          <p:cNvSpPr/>
          <p:nvPr/>
        </p:nvSpPr>
        <p:spPr>
          <a:xfrm>
            <a:off x="502920" y="4251960"/>
            <a:ext cx="5120640" cy="274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389120"/>
            <a:ext cx="5120640" cy="1554480"/>
          </a:xfrm>
          <a:prstGeom prst="rect">
            <a:avLst/>
          </a:prstGeom>
          <a:noFill/>
        </p:spPr>
        <p:txBody>
          <a:bodyPr wrap="square">
            <a:spAutoFit/>
          </a:bodyPr>
          <a:lstStyle/>
          <a:p>
            <a:pPr algn="l"/>
            <a:r>
              <a:rPr sz="1200" b="0" i="0">
                <a:solidFill>
                  <a:srgbClr val="555555"/>
                </a:solidFill>
              </a:rPr>
              <a:t>Nätverksstruktur av entiteter och relationer. Lagras i Neo4j.
I arbetet: data från GitHub, Slack och Confluence modellerat med noder och kanter.</a:t>
            </a:r>
          </a:p>
        </p:txBody>
      </p:sp>
      <p:sp>
        <p:nvSpPr>
          <p:cNvPr id="18" name="Rectangle 17"/>
          <p:cNvSpPr/>
          <p:nvPr/>
        </p:nvSpPr>
        <p:spPr>
          <a:xfrm>
            <a:off x="6309360" y="3657600"/>
            <a:ext cx="5394960" cy="2423160"/>
          </a:xfrm>
          <a:prstGeom prst="rect">
            <a:avLst/>
          </a:prstGeom>
          <a:solidFill>
            <a:srgbClr val="F4F5F7"/>
          </a:solidFill>
          <a:ln w="1270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749039"/>
            <a:ext cx="5120640" cy="457200"/>
          </a:xfrm>
          <a:prstGeom prst="rect">
            <a:avLst/>
          </a:prstGeom>
          <a:noFill/>
        </p:spPr>
        <p:txBody>
          <a:bodyPr wrap="square">
            <a:spAutoFit/>
          </a:bodyPr>
          <a:lstStyle/>
          <a:p>
            <a:pPr algn="l"/>
            <a:r>
              <a:rPr sz="1700" b="1" i="0">
                <a:solidFill>
                  <a:srgbClr val="555555"/>
                </a:solidFill>
              </a:rPr>
              <a:t>Cypher</a:t>
            </a:r>
          </a:p>
        </p:txBody>
      </p:sp>
      <p:sp>
        <p:nvSpPr>
          <p:cNvPr id="20" name="Rectangle 19"/>
          <p:cNvSpPr/>
          <p:nvPr/>
        </p:nvSpPr>
        <p:spPr>
          <a:xfrm>
            <a:off x="6446520" y="4251960"/>
            <a:ext cx="5120640" cy="2743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389120"/>
            <a:ext cx="5120640" cy="1554480"/>
          </a:xfrm>
          <a:prstGeom prst="rect">
            <a:avLst/>
          </a:prstGeom>
          <a:noFill/>
        </p:spPr>
        <p:txBody>
          <a:bodyPr wrap="square">
            <a:spAutoFit/>
          </a:bodyPr>
          <a:lstStyle/>
          <a:p>
            <a:pPr algn="l"/>
            <a:r>
              <a:rPr sz="1200" b="0" i="0">
                <a:solidFill>
                  <a:srgbClr val="555555"/>
                </a:solidFill>
              </a:rPr>
              <a:t>Frågespråk för Neo4j. LLM:en genererar Cypher-frågor dynamiskt.
Ex: MATCH (p:Person)-[:WORKS_ON]-&gt;(r:Repository) RETURN 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Kunskapsgraf – visualisering</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502920"/>
          </a:xfrm>
          <a:prstGeom prst="rect">
            <a:avLst/>
          </a:prstGeom>
          <a:noFill/>
        </p:spPr>
        <p:txBody>
          <a:bodyPr wrap="square">
            <a:spAutoFit/>
          </a:bodyPr>
          <a:lstStyle/>
          <a:p>
            <a:pPr algn="l"/>
            <a:r>
              <a:rPr sz="1400" b="0" i="1">
                <a:solidFill>
                  <a:srgbClr val="F26522"/>
                </a:solidFill>
              </a:rPr>
              <a:t>Grafen innehåller noder och relationer från alla tre system. Samma person är kopplad till repos, Slack-inlägg och Confluence-dokument.</a:t>
            </a:r>
          </a:p>
        </p:txBody>
      </p:sp>
      <p:sp>
        <p:nvSpPr>
          <p:cNvPr id="7" name="Rectangle 6"/>
          <p:cNvSpPr/>
          <p:nvPr/>
        </p:nvSpPr>
        <p:spPr>
          <a:xfrm>
            <a:off x="457200" y="1645920"/>
            <a:ext cx="7772400" cy="489204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863339"/>
            <a:ext cx="7772400" cy="457200"/>
          </a:xfrm>
          <a:prstGeom prst="rect">
            <a:avLst/>
          </a:prstGeom>
          <a:noFill/>
        </p:spPr>
        <p:txBody>
          <a:bodyPr wrap="square">
            <a:spAutoFit/>
          </a:bodyPr>
          <a:lstStyle/>
          <a:p>
            <a:pPr algn="ctr"/>
            <a:r>
              <a:rPr sz="1300" b="0" i="1">
                <a:solidFill>
                  <a:srgbClr val="555555"/>
                </a:solidFill>
              </a:rPr>
              <a:t>[ BILD: visualisation.png — Neo4j grafvisualisering ]</a:t>
            </a:r>
          </a:p>
        </p:txBody>
      </p:sp>
      <p:sp>
        <p:nvSpPr>
          <p:cNvPr id="9" name="TextBox 8"/>
          <p:cNvSpPr txBox="1"/>
          <p:nvPr/>
        </p:nvSpPr>
        <p:spPr>
          <a:xfrm>
            <a:off x="8412480" y="1828800"/>
            <a:ext cx="3566160" cy="4572000"/>
          </a:xfrm>
          <a:prstGeom prst="rect">
            <a:avLst/>
          </a:prstGeom>
          <a:noFill/>
        </p:spPr>
        <p:txBody>
          <a:bodyPr wrap="square">
            <a:spAutoFit/>
          </a:bodyPr>
          <a:lstStyle/>
          <a:p>
            <a:pPr>
              <a:spcBef>
                <a:spcPts val="400"/>
              </a:spcBef>
            </a:pPr>
            <a:r>
              <a:rPr sz="1200">
                <a:solidFill>
                  <a:srgbClr val="1A1A1A"/>
                </a:solidFill>
              </a:rPr>
              <a:t>Noder:</a:t>
            </a:r>
          </a:p>
          <a:p>
            <a:pPr>
              <a:spcBef>
                <a:spcPts val="400"/>
              </a:spcBef>
            </a:pPr>
            <a:r>
              <a:rPr sz="1200">
                <a:solidFill>
                  <a:srgbClr val="555555"/>
                </a:solidFill>
              </a:rPr>
              <a:t>Person, Repository, Issue, Commit,</a:t>
            </a:r>
          </a:p>
          <a:p>
            <a:pPr>
              <a:spcBef>
                <a:spcPts val="400"/>
              </a:spcBef>
            </a:pPr>
            <a:r>
              <a:rPr sz="1200">
                <a:solidFill>
                  <a:srgbClr val="555555"/>
                </a:solidFill>
              </a:rPr>
              <a:t>SlackChannel, Post, Document ...</a:t>
            </a:r>
          </a:p>
          <a:p>
            <a:pPr>
              <a:spcBef>
                <a:spcPts val="400"/>
              </a:spcBef>
            </a:pPr>
            <a:r>
              <a:rPr sz="1200">
                <a:solidFill>
                  <a:srgbClr val="1A1A1A"/>
                </a:solidFill>
              </a:rPr>
              <a:t/>
            </a:r>
          </a:p>
          <a:p>
            <a:pPr>
              <a:spcBef>
                <a:spcPts val="400"/>
              </a:spcBef>
            </a:pPr>
            <a:r>
              <a:rPr sz="1200">
                <a:solidFill>
                  <a:srgbClr val="1A1A1A"/>
                </a:solidFill>
              </a:rPr>
              <a:t>Relationer:</a:t>
            </a:r>
          </a:p>
          <a:p>
            <a:pPr>
              <a:spcBef>
                <a:spcPts val="400"/>
              </a:spcBef>
            </a:pPr>
            <a:r>
              <a:rPr sz="1200">
                <a:solidFill>
                  <a:srgbClr val="555555"/>
                </a:solidFill>
              </a:rPr>
              <a:t>WORKS_ON  ·  COMMITTED_IN</a:t>
            </a:r>
          </a:p>
          <a:p>
            <a:pPr>
              <a:spcBef>
                <a:spcPts val="400"/>
              </a:spcBef>
            </a:pPr>
            <a:r>
              <a:rPr sz="1200">
                <a:solidFill>
                  <a:srgbClr val="555555"/>
                </a:solidFill>
              </a:rPr>
              <a:t>AUTHORED  ·  MEMBER_OF</a:t>
            </a:r>
          </a:p>
          <a:p>
            <a:pPr>
              <a:spcBef>
                <a:spcPts val="400"/>
              </a:spcBef>
            </a:pPr>
            <a:r>
              <a:rPr sz="1200">
                <a:solidFill>
                  <a:srgbClr val="555555"/>
                </a:solidFill>
              </a:rPr>
              <a:t>HAS_POST  ·  WROTE ...</a:t>
            </a:r>
          </a:p>
        </p:txBody>
      </p:sp>
      <p:sp>
        <p:nvSpPr>
          <p:cNvPr id="10" name="Rectangle 9"/>
          <p:cNvSpPr/>
          <p:nvPr/>
        </p:nvSpPr>
        <p:spPr>
          <a:xfrm>
            <a:off x="8412480" y="5029200"/>
            <a:ext cx="3566160" cy="15087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0" y="5166360"/>
            <a:ext cx="3383280" cy="1234440"/>
          </a:xfrm>
          <a:prstGeom prst="rect">
            <a:avLst/>
          </a:prstGeom>
          <a:noFill/>
        </p:spPr>
        <p:txBody>
          <a:bodyPr wrap="square">
            <a:spAutoFit/>
          </a:bodyPr>
          <a:lstStyle/>
          <a:p>
            <a:pPr algn="l"/>
            <a:r>
              <a:rPr sz="1300" b="1" i="0">
                <a:solidFill>
                  <a:srgbClr val="1A1A1A"/>
                </a:solidFill>
              </a:rPr>
              <a:t>Tydliga kopplingar gör att LLM:en kan följa sambanden direkt — utan att gissa.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Metod — Design Science Research</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400" b="0" i="1">
                <a:solidFill>
                  <a:srgbClr val="F26522"/>
                </a:solidFill>
              </a:rPr>
              <a:t>Designa och bygg konkreta artefakter — utvärdera dem för att dra slutsatser.</a:t>
            </a:r>
          </a:p>
        </p:txBody>
      </p:sp>
      <p:sp>
        <p:nvSpPr>
          <p:cNvPr id="7" name="Rectangle 6"/>
          <p:cNvSpPr/>
          <p:nvPr/>
        </p:nvSpPr>
        <p:spPr>
          <a:xfrm>
            <a:off x="36576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691640"/>
            <a:ext cx="1920240" cy="822960"/>
          </a:xfrm>
          <a:prstGeom prst="rect">
            <a:avLst/>
          </a:prstGeom>
          <a:noFill/>
        </p:spPr>
        <p:txBody>
          <a:bodyPr wrap="square">
            <a:spAutoFit/>
          </a:bodyPr>
          <a:lstStyle/>
          <a:p>
            <a:pPr algn="ctr"/>
            <a:r>
              <a:rPr sz="1300" b="1" i="0">
                <a:solidFill>
                  <a:srgbClr val="1A1A1A"/>
                </a:solidFill>
              </a:rPr>
              <a:t>Designa
två lösningar</a:t>
            </a:r>
          </a:p>
        </p:txBody>
      </p:sp>
      <p:sp>
        <p:nvSpPr>
          <p:cNvPr id="9" name="TextBox 8"/>
          <p:cNvSpPr txBox="1"/>
          <p:nvPr/>
        </p:nvSpPr>
        <p:spPr>
          <a:xfrm>
            <a:off x="2423160" y="1828800"/>
            <a:ext cx="320040" cy="640080"/>
          </a:xfrm>
          <a:prstGeom prst="rect">
            <a:avLst/>
          </a:prstGeom>
          <a:noFill/>
        </p:spPr>
        <p:txBody>
          <a:bodyPr wrap="square">
            <a:spAutoFit/>
          </a:bodyPr>
          <a:lstStyle/>
          <a:p>
            <a:pPr algn="ctr"/>
            <a:r>
              <a:rPr sz="2200" b="1" i="0">
                <a:solidFill>
                  <a:srgbClr val="F26522"/>
                </a:solidFill>
              </a:rPr>
              <a:t>→</a:t>
            </a:r>
          </a:p>
        </p:txBody>
      </p:sp>
      <p:sp>
        <p:nvSpPr>
          <p:cNvPr id="10" name="Rectangle 9"/>
          <p:cNvSpPr/>
          <p:nvPr/>
        </p:nvSpPr>
        <p:spPr>
          <a:xfrm>
            <a:off x="278892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34639" y="1691640"/>
            <a:ext cx="1920240" cy="822960"/>
          </a:xfrm>
          <a:prstGeom prst="rect">
            <a:avLst/>
          </a:prstGeom>
          <a:noFill/>
        </p:spPr>
        <p:txBody>
          <a:bodyPr wrap="square">
            <a:spAutoFit/>
          </a:bodyPr>
          <a:lstStyle/>
          <a:p>
            <a:pPr algn="ctr"/>
            <a:r>
              <a:rPr sz="1300" b="1" i="0">
                <a:solidFill>
                  <a:srgbClr val="1A1A1A"/>
                </a:solidFill>
              </a:rPr>
              <a:t>Implementera
Graf + API</a:t>
            </a:r>
          </a:p>
        </p:txBody>
      </p:sp>
      <p:sp>
        <p:nvSpPr>
          <p:cNvPr id="12" name="TextBox 11"/>
          <p:cNvSpPr txBox="1"/>
          <p:nvPr/>
        </p:nvSpPr>
        <p:spPr>
          <a:xfrm>
            <a:off x="4846320" y="1828800"/>
            <a:ext cx="320040" cy="640080"/>
          </a:xfrm>
          <a:prstGeom prst="rect">
            <a:avLst/>
          </a:prstGeom>
          <a:noFill/>
        </p:spPr>
        <p:txBody>
          <a:bodyPr wrap="square">
            <a:spAutoFit/>
          </a:bodyPr>
          <a:lstStyle/>
          <a:p>
            <a:pPr algn="ctr"/>
            <a:r>
              <a:rPr sz="2200" b="1" i="0">
                <a:solidFill>
                  <a:srgbClr val="F26522"/>
                </a:solidFill>
              </a:rPr>
              <a:t>→</a:t>
            </a:r>
          </a:p>
        </p:txBody>
      </p:sp>
      <p:sp>
        <p:nvSpPr>
          <p:cNvPr id="13" name="Rectangle 12"/>
          <p:cNvSpPr/>
          <p:nvPr/>
        </p:nvSpPr>
        <p:spPr>
          <a:xfrm>
            <a:off x="521208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1691640"/>
            <a:ext cx="1920240" cy="822960"/>
          </a:xfrm>
          <a:prstGeom prst="rect">
            <a:avLst/>
          </a:prstGeom>
          <a:noFill/>
        </p:spPr>
        <p:txBody>
          <a:bodyPr wrap="square">
            <a:spAutoFit/>
          </a:bodyPr>
          <a:lstStyle/>
          <a:p>
            <a:pPr algn="ctr"/>
            <a:r>
              <a:rPr sz="1300" b="1" i="0">
                <a:solidFill>
                  <a:srgbClr val="1A1A1A"/>
                </a:solidFill>
              </a:rPr>
              <a:t>Utvärdera
15 testfrågor</a:t>
            </a:r>
          </a:p>
        </p:txBody>
      </p:sp>
      <p:sp>
        <p:nvSpPr>
          <p:cNvPr id="15" name="TextBox 14"/>
          <p:cNvSpPr txBox="1"/>
          <p:nvPr/>
        </p:nvSpPr>
        <p:spPr>
          <a:xfrm>
            <a:off x="7269480" y="1828800"/>
            <a:ext cx="320040" cy="640080"/>
          </a:xfrm>
          <a:prstGeom prst="rect">
            <a:avLst/>
          </a:prstGeom>
          <a:noFill/>
        </p:spPr>
        <p:txBody>
          <a:bodyPr wrap="square">
            <a:spAutoFit/>
          </a:bodyPr>
          <a:lstStyle/>
          <a:p>
            <a:pPr algn="ctr"/>
            <a:r>
              <a:rPr sz="2200" b="1" i="0">
                <a:solidFill>
                  <a:srgbClr val="F26522"/>
                </a:solidFill>
              </a:rPr>
              <a:t>→</a:t>
            </a:r>
          </a:p>
        </p:txBody>
      </p:sp>
      <p:sp>
        <p:nvSpPr>
          <p:cNvPr id="16" name="Rectangle 15"/>
          <p:cNvSpPr/>
          <p:nvPr/>
        </p:nvSpPr>
        <p:spPr>
          <a:xfrm>
            <a:off x="7635240" y="1600200"/>
            <a:ext cx="201168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1691640"/>
            <a:ext cx="1920240" cy="822960"/>
          </a:xfrm>
          <a:prstGeom prst="rect">
            <a:avLst/>
          </a:prstGeom>
          <a:noFill/>
        </p:spPr>
        <p:txBody>
          <a:bodyPr wrap="square">
            <a:spAutoFit/>
          </a:bodyPr>
          <a:lstStyle/>
          <a:p>
            <a:pPr algn="ctr"/>
            <a:r>
              <a:rPr sz="1300" b="1" i="0">
                <a:solidFill>
                  <a:srgbClr val="1A1A1A"/>
                </a:solidFill>
              </a:rPr>
              <a:t>Dra
slutstatser</a:t>
            </a:r>
          </a:p>
        </p:txBody>
      </p:sp>
      <p:sp>
        <p:nvSpPr>
          <p:cNvPr id="18" name="Rectangle 17"/>
          <p:cNvSpPr/>
          <p:nvPr/>
        </p:nvSpPr>
        <p:spPr>
          <a:xfrm>
            <a:off x="365760" y="2926080"/>
            <a:ext cx="3703320" cy="3703320"/>
          </a:xfrm>
          <a:prstGeom prst="rect">
            <a:avLst/>
          </a:prstGeom>
          <a:solidFill>
            <a:srgbClr val="F4F5F7"/>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999232"/>
            <a:ext cx="3520440" cy="502920"/>
          </a:xfrm>
          <a:prstGeom prst="rect">
            <a:avLst/>
          </a:prstGeom>
          <a:noFill/>
        </p:spPr>
        <p:txBody>
          <a:bodyPr wrap="square">
            <a:spAutoFit/>
          </a:bodyPr>
          <a:lstStyle/>
          <a:p>
            <a:pPr algn="l"/>
            <a:r>
              <a:rPr sz="1400" b="1" i="0">
                <a:solidFill>
                  <a:srgbClr val="2E86C1"/>
                </a:solidFill>
              </a:rPr>
              <a:t>Simpla  Q1–Q5</a:t>
            </a:r>
          </a:p>
        </p:txBody>
      </p:sp>
      <p:sp>
        <p:nvSpPr>
          <p:cNvPr id="20" name="Rectangle 19"/>
          <p:cNvSpPr/>
          <p:nvPr/>
        </p:nvSpPr>
        <p:spPr>
          <a:xfrm>
            <a:off x="548640" y="3547872"/>
            <a:ext cx="333756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639312"/>
            <a:ext cx="3474720" cy="530352"/>
          </a:xfrm>
          <a:prstGeom prst="rect">
            <a:avLst/>
          </a:prstGeom>
          <a:noFill/>
        </p:spPr>
        <p:txBody>
          <a:bodyPr wrap="square">
            <a:spAutoFit/>
          </a:bodyPr>
          <a:lstStyle/>
          <a:p>
            <a:pPr algn="l"/>
            <a:r>
              <a:rPr sz="1000" b="0" i="0">
                <a:solidFill>
                  <a:srgbClr val="555555"/>
                </a:solidFill>
              </a:rPr>
              <a:t>Q1: Get all GitHub repos</a:t>
            </a:r>
          </a:p>
        </p:txBody>
      </p:sp>
      <p:sp>
        <p:nvSpPr>
          <p:cNvPr id="22" name="TextBox 21"/>
          <p:cNvSpPr txBox="1"/>
          <p:nvPr/>
        </p:nvSpPr>
        <p:spPr>
          <a:xfrm>
            <a:off x="502920" y="4206240"/>
            <a:ext cx="3474720" cy="530352"/>
          </a:xfrm>
          <a:prstGeom prst="rect">
            <a:avLst/>
          </a:prstGeom>
          <a:noFill/>
        </p:spPr>
        <p:txBody>
          <a:bodyPr wrap="square">
            <a:spAutoFit/>
          </a:bodyPr>
          <a:lstStyle/>
          <a:p>
            <a:pPr algn="l"/>
            <a:r>
              <a:rPr sz="1000" b="0" i="0">
                <a:solidFill>
                  <a:srgbClr val="555555"/>
                </a:solidFill>
              </a:rPr>
              <a:t>Q2: Show latest message from general Slack channel</a:t>
            </a:r>
          </a:p>
        </p:txBody>
      </p:sp>
      <p:sp>
        <p:nvSpPr>
          <p:cNvPr id="23" name="TextBox 22"/>
          <p:cNvSpPr txBox="1"/>
          <p:nvPr/>
        </p:nvSpPr>
        <p:spPr>
          <a:xfrm>
            <a:off x="502920" y="4773168"/>
            <a:ext cx="3474720" cy="530352"/>
          </a:xfrm>
          <a:prstGeom prst="rect">
            <a:avLst/>
          </a:prstGeom>
          <a:noFill/>
        </p:spPr>
        <p:txBody>
          <a:bodyPr wrap="square">
            <a:spAutoFit/>
          </a:bodyPr>
          <a:lstStyle/>
          <a:p>
            <a:pPr algn="l"/>
            <a:r>
              <a:rPr sz="1000" b="0" i="0">
                <a:solidFill>
                  <a:srgbClr val="555555"/>
                </a:solidFill>
              </a:rPr>
              <a:t>Q3: Get info about the bachelor-thesis repo</a:t>
            </a:r>
          </a:p>
        </p:txBody>
      </p:sp>
      <p:sp>
        <p:nvSpPr>
          <p:cNvPr id="24" name="TextBox 23"/>
          <p:cNvSpPr txBox="1"/>
          <p:nvPr/>
        </p:nvSpPr>
        <p:spPr>
          <a:xfrm>
            <a:off x="502920" y="5340096"/>
            <a:ext cx="3474720" cy="530352"/>
          </a:xfrm>
          <a:prstGeom prst="rect">
            <a:avLst/>
          </a:prstGeom>
          <a:noFill/>
        </p:spPr>
        <p:txBody>
          <a:bodyPr wrap="square">
            <a:spAutoFit/>
          </a:bodyPr>
          <a:lstStyle/>
          <a:p>
            <a:pPr algn="l"/>
            <a:r>
              <a:rPr sz="1000" b="0" i="0">
                <a:solidFill>
                  <a:srgbClr val="555555"/>
                </a:solidFill>
              </a:rPr>
              <a:t>Q4: Show every user in the organisation</a:t>
            </a:r>
          </a:p>
        </p:txBody>
      </p:sp>
      <p:sp>
        <p:nvSpPr>
          <p:cNvPr id="25" name="TextBox 24"/>
          <p:cNvSpPr txBox="1"/>
          <p:nvPr/>
        </p:nvSpPr>
        <p:spPr>
          <a:xfrm>
            <a:off x="502920" y="5907024"/>
            <a:ext cx="3474720" cy="530352"/>
          </a:xfrm>
          <a:prstGeom prst="rect">
            <a:avLst/>
          </a:prstGeom>
          <a:noFill/>
        </p:spPr>
        <p:txBody>
          <a:bodyPr wrap="square">
            <a:spAutoFit/>
          </a:bodyPr>
          <a:lstStyle/>
          <a:p>
            <a:pPr algn="l"/>
            <a:r>
              <a:rPr sz="1000" b="0" i="0">
                <a:solidFill>
                  <a:srgbClr val="555555"/>
                </a:solidFill>
              </a:rPr>
              <a:t>Q5: Send me all pages from Confluence</a:t>
            </a:r>
          </a:p>
        </p:txBody>
      </p:sp>
      <p:sp>
        <p:nvSpPr>
          <p:cNvPr id="26" name="Rectangle 25"/>
          <p:cNvSpPr/>
          <p:nvPr/>
        </p:nvSpPr>
        <p:spPr>
          <a:xfrm>
            <a:off x="4251960" y="2926080"/>
            <a:ext cx="3703320" cy="370332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3400" y="2999232"/>
            <a:ext cx="3520440" cy="502920"/>
          </a:xfrm>
          <a:prstGeom prst="rect">
            <a:avLst/>
          </a:prstGeom>
          <a:noFill/>
        </p:spPr>
        <p:txBody>
          <a:bodyPr wrap="square">
            <a:spAutoFit/>
          </a:bodyPr>
          <a:lstStyle/>
          <a:p>
            <a:pPr algn="l"/>
            <a:r>
              <a:rPr sz="1400" b="1" i="0">
                <a:solidFill>
                  <a:srgbClr val="F26522"/>
                </a:solidFill>
              </a:rPr>
              <a:t>Medelsvåra  Q6–Q10</a:t>
            </a:r>
          </a:p>
        </p:txBody>
      </p:sp>
      <p:sp>
        <p:nvSpPr>
          <p:cNvPr id="28" name="Rectangle 27"/>
          <p:cNvSpPr/>
          <p:nvPr/>
        </p:nvSpPr>
        <p:spPr>
          <a:xfrm>
            <a:off x="4434840" y="3547872"/>
            <a:ext cx="3337560" cy="27432"/>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639312"/>
            <a:ext cx="3474720" cy="530352"/>
          </a:xfrm>
          <a:prstGeom prst="rect">
            <a:avLst/>
          </a:prstGeom>
          <a:noFill/>
        </p:spPr>
        <p:txBody>
          <a:bodyPr wrap="square">
            <a:spAutoFit/>
          </a:bodyPr>
          <a:lstStyle/>
          <a:p>
            <a:pPr algn="l"/>
            <a:r>
              <a:rPr sz="1000" b="0" i="0">
                <a:solidFill>
                  <a:srgbClr val="555555"/>
                </a:solidFill>
              </a:rPr>
              <a:t>Q6: What GitHub issues are open in payment-service?</a:t>
            </a:r>
          </a:p>
        </p:txBody>
      </p:sp>
      <p:sp>
        <p:nvSpPr>
          <p:cNvPr id="30" name="TextBox 29"/>
          <p:cNvSpPr txBox="1"/>
          <p:nvPr/>
        </p:nvSpPr>
        <p:spPr>
          <a:xfrm>
            <a:off x="4389120" y="4206240"/>
            <a:ext cx="3474720" cy="530352"/>
          </a:xfrm>
          <a:prstGeom prst="rect">
            <a:avLst/>
          </a:prstGeom>
          <a:noFill/>
        </p:spPr>
        <p:txBody>
          <a:bodyPr wrap="square">
            <a:spAutoFit/>
          </a:bodyPr>
          <a:lstStyle/>
          <a:p>
            <a:pPr algn="l"/>
            <a:r>
              <a:rPr sz="1000" b="0" i="0">
                <a:solidFill>
                  <a:srgbClr val="555555"/>
                </a:solidFill>
              </a:rPr>
              <a:t>Q7: What project is connected to isak-bachelor-thesis
     repo, and who works on that?</a:t>
            </a:r>
          </a:p>
        </p:txBody>
      </p:sp>
      <p:sp>
        <p:nvSpPr>
          <p:cNvPr id="31" name="TextBox 30"/>
          <p:cNvSpPr txBox="1"/>
          <p:nvPr/>
        </p:nvSpPr>
        <p:spPr>
          <a:xfrm>
            <a:off x="4389120" y="4773168"/>
            <a:ext cx="3474720" cy="530352"/>
          </a:xfrm>
          <a:prstGeom prst="rect">
            <a:avLst/>
          </a:prstGeom>
          <a:noFill/>
        </p:spPr>
        <p:txBody>
          <a:bodyPr wrap="square">
            <a:spAutoFit/>
          </a:bodyPr>
          <a:lstStyle/>
          <a:p>
            <a:pPr algn="l"/>
            <a:r>
              <a:rPr sz="1000" b="0" i="0">
                <a:solidFill>
                  <a:srgbClr val="555555"/>
                </a:solidFill>
              </a:rPr>
              <a:t>Q8: Summarize what happened in general Slack
     channel on April 13, 14 and 15</a:t>
            </a:r>
          </a:p>
        </p:txBody>
      </p:sp>
      <p:sp>
        <p:nvSpPr>
          <p:cNvPr id="32" name="TextBox 31"/>
          <p:cNvSpPr txBox="1"/>
          <p:nvPr/>
        </p:nvSpPr>
        <p:spPr>
          <a:xfrm>
            <a:off x="4389120" y="5340096"/>
            <a:ext cx="3474720" cy="530352"/>
          </a:xfrm>
          <a:prstGeom prst="rect">
            <a:avLst/>
          </a:prstGeom>
          <a:noFill/>
        </p:spPr>
        <p:txBody>
          <a:bodyPr wrap="square">
            <a:spAutoFit/>
          </a:bodyPr>
          <a:lstStyle/>
          <a:p>
            <a:pPr algn="l"/>
            <a:r>
              <a:rPr sz="1000" b="0" i="0">
                <a:solidFill>
                  <a:srgbClr val="555555"/>
                </a:solidFill>
              </a:rPr>
              <a:t>Q9: Are there any blockers in any of our projects?</a:t>
            </a:r>
          </a:p>
        </p:txBody>
      </p:sp>
      <p:sp>
        <p:nvSpPr>
          <p:cNvPr id="33" name="TextBox 32"/>
          <p:cNvSpPr txBox="1"/>
          <p:nvPr/>
        </p:nvSpPr>
        <p:spPr>
          <a:xfrm>
            <a:off x="4389120" y="5907024"/>
            <a:ext cx="3474720" cy="530352"/>
          </a:xfrm>
          <a:prstGeom prst="rect">
            <a:avLst/>
          </a:prstGeom>
          <a:noFill/>
        </p:spPr>
        <p:txBody>
          <a:bodyPr wrap="square">
            <a:spAutoFit/>
          </a:bodyPr>
          <a:lstStyle/>
          <a:p>
            <a:pPr algn="l"/>
            <a:r>
              <a:rPr sz="1000" b="0" i="0">
                <a:solidFill>
                  <a:srgbClr val="555555"/>
                </a:solidFill>
              </a:rPr>
              <a:t>Q10: Which Confluence docs are about AWS?
      What does it say?</a:t>
            </a:r>
          </a:p>
        </p:txBody>
      </p:sp>
      <p:sp>
        <p:nvSpPr>
          <p:cNvPr id="34" name="Rectangle 33"/>
          <p:cNvSpPr/>
          <p:nvPr/>
        </p:nvSpPr>
        <p:spPr>
          <a:xfrm>
            <a:off x="8138160" y="2926080"/>
            <a:ext cx="3703320" cy="370332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0" y="2999232"/>
            <a:ext cx="3520440" cy="502920"/>
          </a:xfrm>
          <a:prstGeom prst="rect">
            <a:avLst/>
          </a:prstGeom>
          <a:noFill/>
        </p:spPr>
        <p:txBody>
          <a:bodyPr wrap="square">
            <a:spAutoFit/>
          </a:bodyPr>
          <a:lstStyle/>
          <a:p>
            <a:pPr algn="l"/>
            <a:r>
              <a:rPr sz="1400" b="1" i="0">
                <a:solidFill>
                  <a:srgbClr val="E74C3C"/>
                </a:solidFill>
              </a:rPr>
              <a:t>Komplexa  Q11–Q15</a:t>
            </a:r>
          </a:p>
        </p:txBody>
      </p:sp>
      <p:sp>
        <p:nvSpPr>
          <p:cNvPr id="36" name="Rectangle 35"/>
          <p:cNvSpPr/>
          <p:nvPr/>
        </p:nvSpPr>
        <p:spPr>
          <a:xfrm>
            <a:off x="8321040" y="3547872"/>
            <a:ext cx="3337560" cy="2743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5320" y="3639312"/>
            <a:ext cx="3474720" cy="530352"/>
          </a:xfrm>
          <a:prstGeom prst="rect">
            <a:avLst/>
          </a:prstGeom>
          <a:noFill/>
        </p:spPr>
        <p:txBody>
          <a:bodyPr wrap="square">
            <a:spAutoFit/>
          </a:bodyPr>
          <a:lstStyle/>
          <a:p>
            <a:pPr algn="l"/>
            <a:r>
              <a:rPr sz="1000" b="0" i="0">
                <a:solidFill>
                  <a:srgbClr val="555555"/>
                </a:solidFill>
              </a:rPr>
              <a:t>Q11: Overview of Payment Platform: repos,
      issues and people working on it</a:t>
            </a:r>
          </a:p>
        </p:txBody>
      </p:sp>
      <p:sp>
        <p:nvSpPr>
          <p:cNvPr id="38" name="TextBox 37"/>
          <p:cNvSpPr txBox="1"/>
          <p:nvPr/>
        </p:nvSpPr>
        <p:spPr>
          <a:xfrm>
            <a:off x="8275320" y="4206240"/>
            <a:ext cx="3474720" cy="530352"/>
          </a:xfrm>
          <a:prstGeom prst="rect">
            <a:avLst/>
          </a:prstGeom>
          <a:noFill/>
        </p:spPr>
        <p:txBody>
          <a:bodyPr wrap="square">
            <a:spAutoFit/>
          </a:bodyPr>
          <a:lstStyle/>
          <a:p>
            <a:pPr algn="l"/>
            <a:r>
              <a:rPr sz="1000" b="0" i="0">
                <a:solidFill>
                  <a:srgbClr val="555555"/>
                </a:solidFill>
              </a:rPr>
              <a:t>Q12: Developers with open Git issues AND active
      in Slack last 24h? Give me proof</a:t>
            </a:r>
          </a:p>
        </p:txBody>
      </p:sp>
      <p:sp>
        <p:nvSpPr>
          <p:cNvPr id="39" name="TextBox 38"/>
          <p:cNvSpPr txBox="1"/>
          <p:nvPr/>
        </p:nvSpPr>
        <p:spPr>
          <a:xfrm>
            <a:off x="8275320" y="4773168"/>
            <a:ext cx="3474720" cy="530352"/>
          </a:xfrm>
          <a:prstGeom prst="rect">
            <a:avLst/>
          </a:prstGeom>
          <a:noFill/>
        </p:spPr>
        <p:txBody>
          <a:bodyPr wrap="square">
            <a:spAutoFit/>
          </a:bodyPr>
          <a:lstStyle/>
          <a:p>
            <a:pPr algn="l"/>
            <a:r>
              <a:rPr sz="1000" b="0" i="0">
                <a:solidFill>
                  <a:srgbClr val="555555"/>
                </a:solidFill>
              </a:rPr>
              <a:t>Q13: Name and email of all persons who committed
      in payment-service. What do commits say?</a:t>
            </a:r>
          </a:p>
        </p:txBody>
      </p:sp>
      <p:sp>
        <p:nvSpPr>
          <p:cNvPr id="40" name="TextBox 39"/>
          <p:cNvSpPr txBox="1"/>
          <p:nvPr/>
        </p:nvSpPr>
        <p:spPr>
          <a:xfrm>
            <a:off x="8275320" y="5340096"/>
            <a:ext cx="3474720" cy="530352"/>
          </a:xfrm>
          <a:prstGeom prst="rect">
            <a:avLst/>
          </a:prstGeom>
          <a:noFill/>
        </p:spPr>
        <p:txBody>
          <a:bodyPr wrap="square">
            <a:spAutoFit/>
          </a:bodyPr>
          <a:lstStyle/>
          <a:p>
            <a:pPr algn="l"/>
            <a:r>
              <a:rPr sz="1000" b="0" i="0">
                <a:solidFill>
                  <a:srgbClr val="555555"/>
                </a:solidFill>
              </a:rPr>
              <a:t>Q14: In which repos does the person who created
      the AWS Confluence page work?</a:t>
            </a:r>
          </a:p>
        </p:txBody>
      </p:sp>
      <p:sp>
        <p:nvSpPr>
          <p:cNvPr id="41" name="TextBox 40"/>
          <p:cNvSpPr txBox="1"/>
          <p:nvPr/>
        </p:nvSpPr>
        <p:spPr>
          <a:xfrm>
            <a:off x="8275320" y="5907024"/>
            <a:ext cx="3474720" cy="530352"/>
          </a:xfrm>
          <a:prstGeom prst="rect">
            <a:avLst/>
          </a:prstGeom>
          <a:noFill/>
        </p:spPr>
        <p:txBody>
          <a:bodyPr wrap="square">
            <a:spAutoFit/>
          </a:bodyPr>
          <a:lstStyle/>
          <a:p>
            <a:pPr algn="l"/>
            <a:r>
              <a:rPr sz="1000" b="0" i="0">
                <a:solidFill>
                  <a:srgbClr val="555555"/>
                </a:solidFill>
              </a:rPr>
              <a:t>Q15: Most recent Confluence doc from the person
      who did latest commit in payment-service?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Systemarkitektur</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11430000" cy="420624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2926079"/>
            <a:ext cx="11430000" cy="457200"/>
          </a:xfrm>
          <a:prstGeom prst="rect">
            <a:avLst/>
          </a:prstGeom>
          <a:noFill/>
        </p:spPr>
        <p:txBody>
          <a:bodyPr wrap="square">
            <a:spAutoFit/>
          </a:bodyPr>
          <a:lstStyle/>
          <a:p>
            <a:pPr algn="ctr"/>
            <a:r>
              <a:rPr sz="1300" b="0" i="1">
                <a:solidFill>
                  <a:srgbClr val="555555"/>
                </a:solidFill>
              </a:rPr>
              <a:t>[ BILD: Systemarkitektur ]</a:t>
            </a:r>
          </a:p>
        </p:txBody>
      </p:sp>
      <p:sp>
        <p:nvSpPr>
          <p:cNvPr id="8" name="Rectangle 7"/>
          <p:cNvSpPr/>
          <p:nvPr/>
        </p:nvSpPr>
        <p:spPr>
          <a:xfrm>
            <a:off x="365760" y="5394960"/>
            <a:ext cx="11430000" cy="114300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532120"/>
            <a:ext cx="11155680" cy="822960"/>
          </a:xfrm>
          <a:prstGeom prst="rect">
            <a:avLst/>
          </a:prstGeom>
          <a:noFill/>
        </p:spPr>
        <p:txBody>
          <a:bodyPr wrap="square">
            <a:spAutoFit/>
          </a:bodyPr>
          <a:lstStyle/>
          <a:p>
            <a:pPr algn="ctr"/>
            <a:r>
              <a:rPr sz="1300" b="0" i="0">
                <a:solidFill>
                  <a:srgbClr val="555555"/>
                </a:solidFill>
              </a:rPr>
              <a:t>1. Fråga ställs  →  2. LLM väljer verktyg  →  3. MCP kör verktyget  →  4. Data returneras  →  5. LLM formulerar svar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Lösning 1 — Grafbaserad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5486400" cy="53949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43000"/>
            <a:ext cx="5212080" cy="457200"/>
          </a:xfrm>
          <a:prstGeom prst="rect">
            <a:avLst/>
          </a:prstGeom>
          <a:noFill/>
        </p:spPr>
        <p:txBody>
          <a:bodyPr wrap="square">
            <a:spAutoFit/>
          </a:bodyPr>
          <a:lstStyle/>
          <a:p>
            <a:pPr algn="l"/>
            <a:r>
              <a:rPr sz="1700" b="1" i="0">
                <a:solidFill>
                  <a:srgbClr val="F26522"/>
                </a:solidFill>
              </a:rPr>
              <a:t>Hur det fungerar</a:t>
            </a:r>
          </a:p>
        </p:txBody>
      </p:sp>
      <p:sp>
        <p:nvSpPr>
          <p:cNvPr id="8" name="Rectangle 7"/>
          <p:cNvSpPr/>
          <p:nvPr/>
        </p:nvSpPr>
        <p:spPr>
          <a:xfrm>
            <a:off x="594360" y="173736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737360"/>
            <a:ext cx="411480" cy="411480"/>
          </a:xfrm>
          <a:prstGeom prst="rect">
            <a:avLst/>
          </a:prstGeom>
          <a:noFill/>
        </p:spPr>
        <p:txBody>
          <a:bodyPr wrap="square">
            <a:spAutoFit/>
          </a:bodyPr>
          <a:lstStyle/>
          <a:p>
            <a:pPr algn="ctr"/>
            <a:r>
              <a:rPr sz="1400" b="1" i="0">
                <a:solidFill>
                  <a:srgbClr val="FFFFFF"/>
                </a:solidFill>
              </a:rPr>
              <a:t>1</a:t>
            </a:r>
          </a:p>
        </p:txBody>
      </p:sp>
      <p:sp>
        <p:nvSpPr>
          <p:cNvPr id="10" name="TextBox 9"/>
          <p:cNvSpPr txBox="1"/>
          <p:nvPr/>
        </p:nvSpPr>
        <p:spPr>
          <a:xfrm>
            <a:off x="1097280" y="1737360"/>
            <a:ext cx="4663440" cy="777240"/>
          </a:xfrm>
          <a:prstGeom prst="rect">
            <a:avLst/>
          </a:prstGeom>
          <a:noFill/>
        </p:spPr>
        <p:txBody>
          <a:bodyPr wrap="square">
            <a:spAutoFit/>
          </a:bodyPr>
          <a:lstStyle/>
          <a:p>
            <a:pPr algn="l"/>
            <a:r>
              <a:rPr sz="1300" b="0" i="0">
                <a:solidFill>
                  <a:srgbClr val="1A1A1A"/>
                </a:solidFill>
              </a:rPr>
              <a:t>1.  LLM hämtar grafens schema
    (alla noder, relationer, attribut)</a:t>
            </a:r>
          </a:p>
        </p:txBody>
      </p:sp>
      <p:sp>
        <p:nvSpPr>
          <p:cNvPr id="11" name="Rectangle 10"/>
          <p:cNvSpPr/>
          <p:nvPr/>
        </p:nvSpPr>
        <p:spPr>
          <a:xfrm>
            <a:off x="594360" y="274320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743200"/>
            <a:ext cx="411480" cy="411480"/>
          </a:xfrm>
          <a:prstGeom prst="rect">
            <a:avLst/>
          </a:prstGeom>
          <a:noFill/>
        </p:spPr>
        <p:txBody>
          <a:bodyPr wrap="square">
            <a:spAutoFit/>
          </a:bodyPr>
          <a:lstStyle/>
          <a:p>
            <a:pPr algn="ctr"/>
            <a:r>
              <a:rPr sz="1400" b="1" i="0">
                <a:solidFill>
                  <a:srgbClr val="FFFFFF"/>
                </a:solidFill>
              </a:rPr>
              <a:t>2</a:t>
            </a:r>
          </a:p>
        </p:txBody>
      </p:sp>
      <p:sp>
        <p:nvSpPr>
          <p:cNvPr id="13" name="TextBox 12"/>
          <p:cNvSpPr txBox="1"/>
          <p:nvPr/>
        </p:nvSpPr>
        <p:spPr>
          <a:xfrm>
            <a:off x="1097280" y="2743200"/>
            <a:ext cx="4663440" cy="777240"/>
          </a:xfrm>
          <a:prstGeom prst="rect">
            <a:avLst/>
          </a:prstGeom>
          <a:noFill/>
        </p:spPr>
        <p:txBody>
          <a:bodyPr wrap="square">
            <a:spAutoFit/>
          </a:bodyPr>
          <a:lstStyle/>
          <a:p>
            <a:pPr algn="l"/>
            <a:r>
              <a:rPr sz="1300" b="0" i="0">
                <a:solidFill>
                  <a:srgbClr val="1A1A1A"/>
                </a:solidFill>
              </a:rPr>
              <a:t>2.  LLM genererar en Cypher-fråga
    baserat på schemat och frågan</a:t>
            </a:r>
          </a:p>
        </p:txBody>
      </p:sp>
      <p:sp>
        <p:nvSpPr>
          <p:cNvPr id="14" name="Rectangle 13"/>
          <p:cNvSpPr/>
          <p:nvPr/>
        </p:nvSpPr>
        <p:spPr>
          <a:xfrm>
            <a:off x="594360" y="3749039"/>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749039"/>
            <a:ext cx="411480" cy="411480"/>
          </a:xfrm>
          <a:prstGeom prst="rect">
            <a:avLst/>
          </a:prstGeom>
          <a:noFill/>
        </p:spPr>
        <p:txBody>
          <a:bodyPr wrap="square">
            <a:spAutoFit/>
          </a:bodyPr>
          <a:lstStyle/>
          <a:p>
            <a:pPr algn="ctr"/>
            <a:r>
              <a:rPr sz="1400" b="1" i="0">
                <a:solidFill>
                  <a:srgbClr val="FFFFFF"/>
                </a:solidFill>
              </a:rPr>
              <a:t>3</a:t>
            </a:r>
          </a:p>
        </p:txBody>
      </p:sp>
      <p:sp>
        <p:nvSpPr>
          <p:cNvPr id="16" name="TextBox 15"/>
          <p:cNvSpPr txBox="1"/>
          <p:nvPr/>
        </p:nvSpPr>
        <p:spPr>
          <a:xfrm>
            <a:off x="1097280" y="3749039"/>
            <a:ext cx="4663440" cy="777240"/>
          </a:xfrm>
          <a:prstGeom prst="rect">
            <a:avLst/>
          </a:prstGeom>
          <a:noFill/>
        </p:spPr>
        <p:txBody>
          <a:bodyPr wrap="square">
            <a:spAutoFit/>
          </a:bodyPr>
          <a:lstStyle/>
          <a:p>
            <a:pPr algn="l"/>
            <a:r>
              <a:rPr sz="1300" b="0" i="0">
                <a:solidFill>
                  <a:srgbClr val="1A1A1A"/>
                </a:solidFill>
              </a:rPr>
              <a:t>3.  Frågan körs mot Neo4j</a:t>
            </a:r>
          </a:p>
        </p:txBody>
      </p:sp>
      <p:sp>
        <p:nvSpPr>
          <p:cNvPr id="17" name="Rectangle 16"/>
          <p:cNvSpPr/>
          <p:nvPr/>
        </p:nvSpPr>
        <p:spPr>
          <a:xfrm>
            <a:off x="594360" y="4754880"/>
            <a:ext cx="411480" cy="41148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754880"/>
            <a:ext cx="411480" cy="411480"/>
          </a:xfrm>
          <a:prstGeom prst="rect">
            <a:avLst/>
          </a:prstGeom>
          <a:noFill/>
        </p:spPr>
        <p:txBody>
          <a:bodyPr wrap="square">
            <a:spAutoFit/>
          </a:bodyPr>
          <a:lstStyle/>
          <a:p>
            <a:pPr algn="ctr"/>
            <a:r>
              <a:rPr sz="1400" b="1" i="0">
                <a:solidFill>
                  <a:srgbClr val="FFFFFF"/>
                </a:solidFill>
              </a:rPr>
              <a:t>4</a:t>
            </a:r>
          </a:p>
        </p:txBody>
      </p:sp>
      <p:sp>
        <p:nvSpPr>
          <p:cNvPr id="19" name="TextBox 18"/>
          <p:cNvSpPr txBox="1"/>
          <p:nvPr/>
        </p:nvSpPr>
        <p:spPr>
          <a:xfrm>
            <a:off x="1097280" y="4754880"/>
            <a:ext cx="4663440" cy="777240"/>
          </a:xfrm>
          <a:prstGeom prst="rect">
            <a:avLst/>
          </a:prstGeom>
          <a:noFill/>
        </p:spPr>
        <p:txBody>
          <a:bodyPr wrap="square">
            <a:spAutoFit/>
          </a:bodyPr>
          <a:lstStyle/>
          <a:p>
            <a:pPr algn="l"/>
            <a:r>
              <a:rPr sz="1300" b="0" i="0">
                <a:solidFill>
                  <a:srgbClr val="1A1A1A"/>
                </a:solidFill>
              </a:rPr>
              <a:t>4.  Resultat returneras — klart</a:t>
            </a:r>
          </a:p>
        </p:txBody>
      </p:sp>
      <p:sp>
        <p:nvSpPr>
          <p:cNvPr id="20" name="Rectangle 19"/>
          <p:cNvSpPr/>
          <p:nvPr/>
        </p:nvSpPr>
        <p:spPr>
          <a:xfrm>
            <a:off x="594360" y="5806440"/>
            <a:ext cx="5212080" cy="502920"/>
          </a:xfrm>
          <a:prstGeom prst="rect">
            <a:avLst/>
          </a:prstGeom>
          <a:solidFill>
            <a:srgbClr val="FFFFFF"/>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52160"/>
            <a:ext cx="5120640" cy="411480"/>
          </a:xfrm>
          <a:prstGeom prst="rect">
            <a:avLst/>
          </a:prstGeom>
          <a:noFill/>
        </p:spPr>
        <p:txBody>
          <a:bodyPr wrap="square">
            <a:spAutoFit/>
          </a:bodyPr>
          <a:lstStyle/>
          <a:p>
            <a:pPr algn="ctr"/>
            <a:r>
              <a:rPr sz="1300" b="1" i="0">
                <a:solidFill>
                  <a:srgbClr val="27AE60"/>
                </a:solidFill>
              </a:rPr>
              <a:t>Totalt: 2 verktyg  (get_schema + execute_query)</a:t>
            </a:r>
          </a:p>
        </p:txBody>
      </p:sp>
      <p:sp>
        <p:nvSpPr>
          <p:cNvPr id="22" name="Rectangle 21"/>
          <p:cNvSpPr/>
          <p:nvPr/>
        </p:nvSpPr>
        <p:spPr>
          <a:xfrm>
            <a:off x="6217920" y="1051560"/>
            <a:ext cx="5669280" cy="539496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3520439"/>
            <a:ext cx="5669280" cy="457200"/>
          </a:xfrm>
          <a:prstGeom prst="rect">
            <a:avLst/>
          </a:prstGeom>
          <a:noFill/>
        </p:spPr>
        <p:txBody>
          <a:bodyPr wrap="square">
            <a:spAutoFit/>
          </a:bodyPr>
          <a:lstStyle/>
          <a:p>
            <a:pPr algn="ctr"/>
            <a:r>
              <a:rPr sz="1300" b="0" i="1">
                <a:solidFill>
                  <a:srgbClr val="555555"/>
                </a:solidFill>
              </a:rPr>
              <a:t>[ BILD: Exempelflöde /
Neo4j visualisering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Lösning 2 — API-baserad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400" b="0" i="1">
                <a:solidFill>
                  <a:srgbClr val="F26522"/>
                </a:solidFill>
              </a:rPr>
              <a:t>Ingen central lagring — data hämtas i realtid direkt från systemens API:er</a:t>
            </a:r>
          </a:p>
        </p:txBody>
      </p:sp>
      <p:sp>
        <p:nvSpPr>
          <p:cNvPr id="7" name="Rectangle 6"/>
          <p:cNvSpPr/>
          <p:nvPr/>
        </p:nvSpPr>
        <p:spPr>
          <a:xfrm>
            <a:off x="365760" y="1554480"/>
            <a:ext cx="3657600" cy="5943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600200"/>
            <a:ext cx="3657600" cy="502920"/>
          </a:xfrm>
          <a:prstGeom prst="rect">
            <a:avLst/>
          </a:prstGeom>
          <a:noFill/>
        </p:spPr>
        <p:txBody>
          <a:bodyPr wrap="square">
            <a:spAutoFit/>
          </a:bodyPr>
          <a:lstStyle/>
          <a:p>
            <a:pPr algn="ctr"/>
            <a:r>
              <a:rPr sz="1500" b="1" i="0">
                <a:solidFill>
                  <a:srgbClr val="FFFFFF"/>
                </a:solidFill>
              </a:rPr>
              <a:t>GitHub  —  8 verktyg</a:t>
            </a:r>
          </a:p>
        </p:txBody>
      </p:sp>
      <p:sp>
        <p:nvSpPr>
          <p:cNvPr id="9" name="Rectangle 8"/>
          <p:cNvSpPr/>
          <p:nvPr/>
        </p:nvSpPr>
        <p:spPr>
          <a:xfrm>
            <a:off x="36576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86000"/>
            <a:ext cx="3474720" cy="384048"/>
          </a:xfrm>
          <a:prstGeom prst="rect">
            <a:avLst/>
          </a:prstGeom>
          <a:noFill/>
        </p:spPr>
        <p:txBody>
          <a:bodyPr wrap="square">
            <a:spAutoFit/>
          </a:bodyPr>
          <a:lstStyle/>
          <a:p>
            <a:pPr algn="l"/>
            <a:r>
              <a:rPr sz="1200" b="0" i="0">
                <a:solidFill>
                  <a:srgbClr val="555555"/>
                </a:solidFill>
              </a:rPr>
              <a:t>  get_repositories</a:t>
            </a:r>
          </a:p>
        </p:txBody>
      </p:sp>
      <p:sp>
        <p:nvSpPr>
          <p:cNvPr id="11" name="Rectangle 10"/>
          <p:cNvSpPr/>
          <p:nvPr/>
        </p:nvSpPr>
        <p:spPr>
          <a:xfrm>
            <a:off x="36576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816352"/>
            <a:ext cx="3474720" cy="384048"/>
          </a:xfrm>
          <a:prstGeom prst="rect">
            <a:avLst/>
          </a:prstGeom>
          <a:noFill/>
        </p:spPr>
        <p:txBody>
          <a:bodyPr wrap="square">
            <a:spAutoFit/>
          </a:bodyPr>
          <a:lstStyle/>
          <a:p>
            <a:pPr algn="l"/>
            <a:r>
              <a:rPr sz="1200" b="0" i="0">
                <a:solidFill>
                  <a:srgbClr val="555555"/>
                </a:solidFill>
              </a:rPr>
              <a:t>  get_commits</a:t>
            </a:r>
          </a:p>
        </p:txBody>
      </p:sp>
      <p:sp>
        <p:nvSpPr>
          <p:cNvPr id="13" name="Rectangle 12"/>
          <p:cNvSpPr/>
          <p:nvPr/>
        </p:nvSpPr>
        <p:spPr>
          <a:xfrm>
            <a:off x="36576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346704"/>
            <a:ext cx="3474720" cy="384048"/>
          </a:xfrm>
          <a:prstGeom prst="rect">
            <a:avLst/>
          </a:prstGeom>
          <a:noFill/>
        </p:spPr>
        <p:txBody>
          <a:bodyPr wrap="square">
            <a:spAutoFit/>
          </a:bodyPr>
          <a:lstStyle/>
          <a:p>
            <a:pPr algn="l"/>
            <a:r>
              <a:rPr sz="1200" b="0" i="0">
                <a:solidFill>
                  <a:srgbClr val="555555"/>
                </a:solidFill>
              </a:rPr>
              <a:t>  get_issues</a:t>
            </a:r>
          </a:p>
        </p:txBody>
      </p:sp>
      <p:sp>
        <p:nvSpPr>
          <p:cNvPr id="15" name="Rectangle 14"/>
          <p:cNvSpPr/>
          <p:nvPr/>
        </p:nvSpPr>
        <p:spPr>
          <a:xfrm>
            <a:off x="36576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877056"/>
            <a:ext cx="3474720" cy="384048"/>
          </a:xfrm>
          <a:prstGeom prst="rect">
            <a:avLst/>
          </a:prstGeom>
          <a:noFill/>
        </p:spPr>
        <p:txBody>
          <a:bodyPr wrap="square">
            <a:spAutoFit/>
          </a:bodyPr>
          <a:lstStyle/>
          <a:p>
            <a:pPr algn="l"/>
            <a:r>
              <a:rPr sz="1200" b="0" i="0">
                <a:solidFill>
                  <a:srgbClr val="555555"/>
                </a:solidFill>
              </a:rPr>
              <a:t>  get_active_users</a:t>
            </a:r>
          </a:p>
        </p:txBody>
      </p:sp>
      <p:sp>
        <p:nvSpPr>
          <p:cNvPr id="17" name="Rectangle 16"/>
          <p:cNvSpPr/>
          <p:nvPr/>
        </p:nvSpPr>
        <p:spPr>
          <a:xfrm>
            <a:off x="36576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407408"/>
            <a:ext cx="3474720" cy="384048"/>
          </a:xfrm>
          <a:prstGeom prst="rect">
            <a:avLst/>
          </a:prstGeom>
          <a:noFill/>
        </p:spPr>
        <p:txBody>
          <a:bodyPr wrap="square">
            <a:spAutoFit/>
          </a:bodyPr>
          <a:lstStyle/>
          <a:p>
            <a:pPr algn="l"/>
            <a:r>
              <a:rPr sz="1200" b="0" i="0">
                <a:solidFill>
                  <a:srgbClr val="555555"/>
                </a:solidFill>
              </a:rPr>
              <a:t>  get_org_members</a:t>
            </a:r>
          </a:p>
        </p:txBody>
      </p:sp>
      <p:sp>
        <p:nvSpPr>
          <p:cNvPr id="19" name="Rectangle 18"/>
          <p:cNvSpPr/>
          <p:nvPr/>
        </p:nvSpPr>
        <p:spPr>
          <a:xfrm>
            <a:off x="365760" y="489204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937760"/>
            <a:ext cx="3474720" cy="384048"/>
          </a:xfrm>
          <a:prstGeom prst="rect">
            <a:avLst/>
          </a:prstGeom>
          <a:noFill/>
        </p:spPr>
        <p:txBody>
          <a:bodyPr wrap="square">
            <a:spAutoFit/>
          </a:bodyPr>
          <a:lstStyle/>
          <a:p>
            <a:pPr algn="l"/>
            <a:r>
              <a:rPr sz="1200" b="0" i="0">
                <a:solidFill>
                  <a:srgbClr val="555555"/>
                </a:solidFill>
              </a:rPr>
              <a:t>  ...</a:t>
            </a:r>
          </a:p>
        </p:txBody>
      </p:sp>
      <p:sp>
        <p:nvSpPr>
          <p:cNvPr id="21" name="Rectangle 20"/>
          <p:cNvSpPr/>
          <p:nvPr/>
        </p:nvSpPr>
        <p:spPr>
          <a:xfrm>
            <a:off x="4297680" y="1554480"/>
            <a:ext cx="3657600" cy="5943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600200"/>
            <a:ext cx="3657600" cy="502920"/>
          </a:xfrm>
          <a:prstGeom prst="rect">
            <a:avLst/>
          </a:prstGeom>
          <a:noFill/>
        </p:spPr>
        <p:txBody>
          <a:bodyPr wrap="square">
            <a:spAutoFit/>
          </a:bodyPr>
          <a:lstStyle/>
          <a:p>
            <a:pPr algn="ctr"/>
            <a:r>
              <a:rPr sz="1500" b="1" i="0">
                <a:solidFill>
                  <a:srgbClr val="FFFFFF"/>
                </a:solidFill>
              </a:rPr>
              <a:t>Slack  —  5 verktyg</a:t>
            </a:r>
          </a:p>
        </p:txBody>
      </p:sp>
      <p:sp>
        <p:nvSpPr>
          <p:cNvPr id="23" name="Rectangle 22"/>
          <p:cNvSpPr/>
          <p:nvPr/>
        </p:nvSpPr>
        <p:spPr>
          <a:xfrm>
            <a:off x="429768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0" y="2286000"/>
            <a:ext cx="3474720" cy="384048"/>
          </a:xfrm>
          <a:prstGeom prst="rect">
            <a:avLst/>
          </a:prstGeom>
          <a:noFill/>
        </p:spPr>
        <p:txBody>
          <a:bodyPr wrap="square">
            <a:spAutoFit/>
          </a:bodyPr>
          <a:lstStyle/>
          <a:p>
            <a:pPr algn="l"/>
            <a:r>
              <a:rPr sz="1200" b="0" i="0">
                <a:solidFill>
                  <a:srgbClr val="555555"/>
                </a:solidFill>
              </a:rPr>
              <a:t>  get_channels</a:t>
            </a:r>
          </a:p>
        </p:txBody>
      </p:sp>
      <p:sp>
        <p:nvSpPr>
          <p:cNvPr id="25" name="Rectangle 24"/>
          <p:cNvSpPr/>
          <p:nvPr/>
        </p:nvSpPr>
        <p:spPr>
          <a:xfrm>
            <a:off x="429768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9120" y="2816352"/>
            <a:ext cx="3474720" cy="384048"/>
          </a:xfrm>
          <a:prstGeom prst="rect">
            <a:avLst/>
          </a:prstGeom>
          <a:noFill/>
        </p:spPr>
        <p:txBody>
          <a:bodyPr wrap="square">
            <a:spAutoFit/>
          </a:bodyPr>
          <a:lstStyle/>
          <a:p>
            <a:pPr algn="l"/>
            <a:r>
              <a:rPr sz="1200" b="0" i="0">
                <a:solidFill>
                  <a:srgbClr val="555555"/>
                </a:solidFill>
              </a:rPr>
              <a:t>  get_messages</a:t>
            </a:r>
          </a:p>
        </p:txBody>
      </p:sp>
      <p:sp>
        <p:nvSpPr>
          <p:cNvPr id="27" name="Rectangle 26"/>
          <p:cNvSpPr/>
          <p:nvPr/>
        </p:nvSpPr>
        <p:spPr>
          <a:xfrm>
            <a:off x="429768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0" y="3346704"/>
            <a:ext cx="3474720" cy="384048"/>
          </a:xfrm>
          <a:prstGeom prst="rect">
            <a:avLst/>
          </a:prstGeom>
          <a:noFill/>
        </p:spPr>
        <p:txBody>
          <a:bodyPr wrap="square">
            <a:spAutoFit/>
          </a:bodyPr>
          <a:lstStyle/>
          <a:p>
            <a:pPr algn="l"/>
            <a:r>
              <a:rPr sz="1200" b="0" i="0">
                <a:solidFill>
                  <a:srgbClr val="555555"/>
                </a:solidFill>
              </a:rPr>
              <a:t>  get_users</a:t>
            </a:r>
          </a:p>
        </p:txBody>
      </p:sp>
      <p:sp>
        <p:nvSpPr>
          <p:cNvPr id="29" name="Rectangle 28"/>
          <p:cNvSpPr/>
          <p:nvPr/>
        </p:nvSpPr>
        <p:spPr>
          <a:xfrm>
            <a:off x="429768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0" y="3877056"/>
            <a:ext cx="3474720" cy="384048"/>
          </a:xfrm>
          <a:prstGeom prst="rect">
            <a:avLst/>
          </a:prstGeom>
          <a:noFill/>
        </p:spPr>
        <p:txBody>
          <a:bodyPr wrap="square">
            <a:spAutoFit/>
          </a:bodyPr>
          <a:lstStyle/>
          <a:p>
            <a:pPr algn="l"/>
            <a:r>
              <a:rPr sz="1200" b="0" i="0">
                <a:solidFill>
                  <a:srgbClr val="555555"/>
                </a:solidFill>
              </a:rPr>
              <a:t>  search_messages</a:t>
            </a:r>
          </a:p>
        </p:txBody>
      </p:sp>
      <p:sp>
        <p:nvSpPr>
          <p:cNvPr id="31" name="Rectangle 30"/>
          <p:cNvSpPr/>
          <p:nvPr/>
        </p:nvSpPr>
        <p:spPr>
          <a:xfrm>
            <a:off x="429768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0" y="4407408"/>
            <a:ext cx="3474720" cy="384048"/>
          </a:xfrm>
          <a:prstGeom prst="rect">
            <a:avLst/>
          </a:prstGeom>
          <a:noFill/>
        </p:spPr>
        <p:txBody>
          <a:bodyPr wrap="square">
            <a:spAutoFit/>
          </a:bodyPr>
          <a:lstStyle/>
          <a:p>
            <a:pPr algn="l"/>
            <a:r>
              <a:rPr sz="1200" b="0" i="0">
                <a:solidFill>
                  <a:srgbClr val="555555"/>
                </a:solidFill>
              </a:rPr>
              <a:t>  ...</a:t>
            </a:r>
          </a:p>
        </p:txBody>
      </p:sp>
      <p:sp>
        <p:nvSpPr>
          <p:cNvPr id="33" name="Rectangle 32"/>
          <p:cNvSpPr/>
          <p:nvPr/>
        </p:nvSpPr>
        <p:spPr>
          <a:xfrm>
            <a:off x="8229600" y="1554480"/>
            <a:ext cx="3657600" cy="59436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1600200"/>
            <a:ext cx="3657600" cy="502920"/>
          </a:xfrm>
          <a:prstGeom prst="rect">
            <a:avLst/>
          </a:prstGeom>
          <a:noFill/>
        </p:spPr>
        <p:txBody>
          <a:bodyPr wrap="square">
            <a:spAutoFit/>
          </a:bodyPr>
          <a:lstStyle/>
          <a:p>
            <a:pPr algn="ctr"/>
            <a:r>
              <a:rPr sz="1500" b="1" i="0">
                <a:solidFill>
                  <a:srgbClr val="FFFFFF"/>
                </a:solidFill>
              </a:rPr>
              <a:t>Confluence  —  7 verktyg</a:t>
            </a:r>
          </a:p>
        </p:txBody>
      </p:sp>
      <p:sp>
        <p:nvSpPr>
          <p:cNvPr id="35" name="Rectangle 34"/>
          <p:cNvSpPr/>
          <p:nvPr/>
        </p:nvSpPr>
        <p:spPr>
          <a:xfrm>
            <a:off x="8229600" y="2240280"/>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21040" y="2286000"/>
            <a:ext cx="3474720" cy="384048"/>
          </a:xfrm>
          <a:prstGeom prst="rect">
            <a:avLst/>
          </a:prstGeom>
          <a:noFill/>
        </p:spPr>
        <p:txBody>
          <a:bodyPr wrap="square">
            <a:spAutoFit/>
          </a:bodyPr>
          <a:lstStyle/>
          <a:p>
            <a:pPr algn="l"/>
            <a:r>
              <a:rPr sz="1200" b="0" i="0">
                <a:solidFill>
                  <a:srgbClr val="555555"/>
                </a:solidFill>
              </a:rPr>
              <a:t>  get_spaces</a:t>
            </a:r>
          </a:p>
        </p:txBody>
      </p:sp>
      <p:sp>
        <p:nvSpPr>
          <p:cNvPr id="37" name="Rectangle 36"/>
          <p:cNvSpPr/>
          <p:nvPr/>
        </p:nvSpPr>
        <p:spPr>
          <a:xfrm>
            <a:off x="8229600" y="2770632"/>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2816352"/>
            <a:ext cx="3474720" cy="384048"/>
          </a:xfrm>
          <a:prstGeom prst="rect">
            <a:avLst/>
          </a:prstGeom>
          <a:noFill/>
        </p:spPr>
        <p:txBody>
          <a:bodyPr wrap="square">
            <a:spAutoFit/>
          </a:bodyPr>
          <a:lstStyle/>
          <a:p>
            <a:pPr algn="l"/>
            <a:r>
              <a:rPr sz="1200" b="0" i="0">
                <a:solidFill>
                  <a:srgbClr val="555555"/>
                </a:solidFill>
              </a:rPr>
              <a:t>  get_pages</a:t>
            </a:r>
          </a:p>
        </p:txBody>
      </p:sp>
      <p:sp>
        <p:nvSpPr>
          <p:cNvPr id="39" name="Rectangle 38"/>
          <p:cNvSpPr/>
          <p:nvPr/>
        </p:nvSpPr>
        <p:spPr>
          <a:xfrm>
            <a:off x="8229600" y="3300984"/>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1040" y="3346704"/>
            <a:ext cx="3474720" cy="384048"/>
          </a:xfrm>
          <a:prstGeom prst="rect">
            <a:avLst/>
          </a:prstGeom>
          <a:noFill/>
        </p:spPr>
        <p:txBody>
          <a:bodyPr wrap="square">
            <a:spAutoFit/>
          </a:bodyPr>
          <a:lstStyle/>
          <a:p>
            <a:pPr algn="l"/>
            <a:r>
              <a:rPr sz="1200" b="0" i="0">
                <a:solidFill>
                  <a:srgbClr val="555555"/>
                </a:solidFill>
              </a:rPr>
              <a:t>  get_page_content</a:t>
            </a:r>
          </a:p>
        </p:txBody>
      </p:sp>
      <p:sp>
        <p:nvSpPr>
          <p:cNvPr id="41" name="Rectangle 40"/>
          <p:cNvSpPr/>
          <p:nvPr/>
        </p:nvSpPr>
        <p:spPr>
          <a:xfrm>
            <a:off x="8229600" y="3831335"/>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21040" y="3877056"/>
            <a:ext cx="3474720" cy="384048"/>
          </a:xfrm>
          <a:prstGeom prst="rect">
            <a:avLst/>
          </a:prstGeom>
          <a:noFill/>
        </p:spPr>
        <p:txBody>
          <a:bodyPr wrap="square">
            <a:spAutoFit/>
          </a:bodyPr>
          <a:lstStyle/>
          <a:p>
            <a:pPr algn="l"/>
            <a:r>
              <a:rPr sz="1200" b="0" i="0">
                <a:solidFill>
                  <a:srgbClr val="555555"/>
                </a:solidFill>
              </a:rPr>
              <a:t>  search_content</a:t>
            </a:r>
          </a:p>
        </p:txBody>
      </p:sp>
      <p:sp>
        <p:nvSpPr>
          <p:cNvPr id="43" name="Rectangle 42"/>
          <p:cNvSpPr/>
          <p:nvPr/>
        </p:nvSpPr>
        <p:spPr>
          <a:xfrm>
            <a:off x="8229600" y="4361688"/>
            <a:ext cx="3657600" cy="475488"/>
          </a:xfrm>
          <a:prstGeom prst="rect">
            <a:avLst/>
          </a:prstGeom>
          <a:solidFill>
            <a:srgbClr val="F4F5F7"/>
          </a:solidFill>
          <a:ln w="12700">
            <a:solidFill>
              <a:srgbClr val="E8E9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407408"/>
            <a:ext cx="3474720" cy="384048"/>
          </a:xfrm>
          <a:prstGeom prst="rect">
            <a:avLst/>
          </a:prstGeom>
          <a:noFill/>
        </p:spPr>
        <p:txBody>
          <a:bodyPr wrap="square">
            <a:spAutoFit/>
          </a:bodyPr>
          <a:lstStyle/>
          <a:p>
            <a:pPr algn="l"/>
            <a:r>
              <a:rPr sz="1200" b="0" i="0">
                <a:solidFill>
                  <a:srgbClr val="555555"/>
                </a:solidFill>
              </a:rPr>
              <a:t>  ...</a:t>
            </a:r>
          </a:p>
        </p:txBody>
      </p:sp>
      <p:sp>
        <p:nvSpPr>
          <p:cNvPr id="45" name="Rectangle 44"/>
          <p:cNvSpPr/>
          <p:nvPr/>
        </p:nvSpPr>
        <p:spPr>
          <a:xfrm>
            <a:off x="1737360" y="5989320"/>
            <a:ext cx="8686800" cy="5943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737360" y="6035040"/>
            <a:ext cx="8686800" cy="502920"/>
          </a:xfrm>
          <a:prstGeom prst="rect">
            <a:avLst/>
          </a:prstGeom>
          <a:noFill/>
        </p:spPr>
        <p:txBody>
          <a:bodyPr wrap="square">
            <a:spAutoFit/>
          </a:bodyPr>
          <a:lstStyle/>
          <a:p>
            <a:pPr algn="ctr"/>
            <a:r>
              <a:rPr sz="1400" b="1" i="0">
                <a:solidFill>
                  <a:srgbClr val="1A1A1A"/>
                </a:solidFill>
              </a:rPr>
              <a:t>Totalt: 20 verktyg   vs   2 verktyg i den grafbaserade lösningen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Demo</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11247120" cy="411480"/>
          </a:xfrm>
          <a:prstGeom prst="rect">
            <a:avLst/>
          </a:prstGeom>
          <a:noFill/>
        </p:spPr>
        <p:txBody>
          <a:bodyPr wrap="square">
            <a:spAutoFit/>
          </a:bodyPr>
          <a:lstStyle/>
          <a:p>
            <a:pPr algn="l"/>
            <a:r>
              <a:rPr sz="1600" b="0" i="1">
                <a:solidFill>
                  <a:srgbClr val="F26522"/>
                </a:solidFill>
              </a:rPr>
              <a:t>Förinspelad video — grafbaserade lösningen i aktion</a:t>
            </a:r>
          </a:p>
        </p:txBody>
      </p:sp>
      <p:sp>
        <p:nvSpPr>
          <p:cNvPr id="7" name="Rectangle 6"/>
          <p:cNvSpPr/>
          <p:nvPr/>
        </p:nvSpPr>
        <p:spPr>
          <a:xfrm>
            <a:off x="1371600" y="1554480"/>
            <a:ext cx="9445752" cy="4846320"/>
          </a:xfrm>
          <a:prstGeom prst="rect">
            <a:avLst/>
          </a:prstGeom>
          <a:solidFill>
            <a:srgbClr val="F4F5F7"/>
          </a:solidFill>
          <a:ln w="12700">
            <a:solidFill>
              <a:srgbClr val="999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749039"/>
            <a:ext cx="9445752" cy="457200"/>
          </a:xfrm>
          <a:prstGeom prst="rect">
            <a:avLst/>
          </a:prstGeom>
          <a:noFill/>
        </p:spPr>
        <p:txBody>
          <a:bodyPr wrap="square">
            <a:spAutoFit/>
          </a:bodyPr>
          <a:lstStyle/>
          <a:p>
            <a:pPr algn="ctr"/>
            <a:r>
              <a:rPr sz="1300" b="0" i="1">
                <a:solidFill>
                  <a:srgbClr val="555555"/>
                </a:solidFill>
              </a:rPr>
              <a:t>[ VIDEO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Resultat — Korrekthet</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5"/>
          <p:cNvGraphicFramePr>
            <a:graphicFrameLocks noGrp="1"/>
          </p:cNvGraphicFramePr>
          <p:nvPr/>
        </p:nvGraphicFramePr>
        <p:xfrm>
          <a:off x="365760" y="1097280"/>
          <a:ext cx="6858000" cy="5394960"/>
        </p:xfrm>
        <a:graphic>
          <a:graphicData uri="http://schemas.openxmlformats.org/drawingml/2006/chart">
            <c:chart xmlns:c="http://schemas.openxmlformats.org/drawingml/2006/chart" r:id="rId2"/>
          </a:graphicData>
        </a:graphic>
      </p:graphicFrame>
      <p:sp>
        <p:nvSpPr>
          <p:cNvPr id="7" name="Rectangle 6"/>
          <p:cNvSpPr/>
          <p:nvPr/>
        </p:nvSpPr>
        <p:spPr>
          <a:xfrm>
            <a:off x="7498079" y="1188720"/>
            <a:ext cx="4480560" cy="100584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280160"/>
            <a:ext cx="4206240" cy="365760"/>
          </a:xfrm>
          <a:prstGeom prst="rect">
            <a:avLst/>
          </a:prstGeom>
          <a:noFill/>
        </p:spPr>
        <p:txBody>
          <a:bodyPr wrap="square">
            <a:spAutoFit/>
          </a:bodyPr>
          <a:lstStyle/>
          <a:p>
            <a:pPr algn="l"/>
            <a:r>
              <a:rPr sz="1400" b="1" i="0">
                <a:solidFill>
                  <a:srgbClr val="27AE60"/>
                </a:solidFill>
              </a:rPr>
              <a:t>Simpla:</a:t>
            </a:r>
          </a:p>
        </p:txBody>
      </p:sp>
      <p:sp>
        <p:nvSpPr>
          <p:cNvPr id="9" name="TextBox 8"/>
          <p:cNvSpPr txBox="1"/>
          <p:nvPr/>
        </p:nvSpPr>
        <p:spPr>
          <a:xfrm>
            <a:off x="7635240" y="1691640"/>
            <a:ext cx="4206240" cy="411480"/>
          </a:xfrm>
          <a:prstGeom prst="rect">
            <a:avLst/>
          </a:prstGeom>
          <a:noFill/>
        </p:spPr>
        <p:txBody>
          <a:bodyPr wrap="square">
            <a:spAutoFit/>
          </a:bodyPr>
          <a:lstStyle/>
          <a:p>
            <a:pPr algn="l"/>
            <a:r>
              <a:rPr sz="1600" b="1" i="0">
                <a:solidFill>
                  <a:srgbClr val="1A1A1A"/>
                </a:solidFill>
              </a:rPr>
              <a:t>Båda 100% ✓</a:t>
            </a:r>
          </a:p>
        </p:txBody>
      </p:sp>
      <p:sp>
        <p:nvSpPr>
          <p:cNvPr id="10" name="Rectangle 9"/>
          <p:cNvSpPr/>
          <p:nvPr/>
        </p:nvSpPr>
        <p:spPr>
          <a:xfrm>
            <a:off x="7498079" y="2377440"/>
            <a:ext cx="4480560" cy="100584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2468880"/>
            <a:ext cx="4206240" cy="365760"/>
          </a:xfrm>
          <a:prstGeom prst="rect">
            <a:avLst/>
          </a:prstGeom>
          <a:noFill/>
        </p:spPr>
        <p:txBody>
          <a:bodyPr wrap="square">
            <a:spAutoFit/>
          </a:bodyPr>
          <a:lstStyle/>
          <a:p>
            <a:pPr algn="l"/>
            <a:r>
              <a:rPr sz="1400" b="1" i="0">
                <a:solidFill>
                  <a:srgbClr val="F26522"/>
                </a:solidFill>
              </a:rPr>
              <a:t>Medelsvåra:</a:t>
            </a:r>
          </a:p>
        </p:txBody>
      </p:sp>
      <p:sp>
        <p:nvSpPr>
          <p:cNvPr id="12" name="TextBox 11"/>
          <p:cNvSpPr txBox="1"/>
          <p:nvPr/>
        </p:nvSpPr>
        <p:spPr>
          <a:xfrm>
            <a:off x="7635240" y="2880360"/>
            <a:ext cx="4206240" cy="411480"/>
          </a:xfrm>
          <a:prstGeom prst="rect">
            <a:avLst/>
          </a:prstGeom>
          <a:noFill/>
        </p:spPr>
        <p:txBody>
          <a:bodyPr wrap="square">
            <a:spAutoFit/>
          </a:bodyPr>
          <a:lstStyle/>
          <a:p>
            <a:pPr algn="l"/>
            <a:r>
              <a:rPr sz="1600" b="1" i="0">
                <a:solidFill>
                  <a:srgbClr val="1A1A1A"/>
                </a:solidFill>
              </a:rPr>
              <a:t>Graf 80%  —  API 40%</a:t>
            </a:r>
          </a:p>
        </p:txBody>
      </p:sp>
      <p:sp>
        <p:nvSpPr>
          <p:cNvPr id="13" name="Rectangle 12"/>
          <p:cNvSpPr/>
          <p:nvPr/>
        </p:nvSpPr>
        <p:spPr>
          <a:xfrm>
            <a:off x="7498079" y="3566160"/>
            <a:ext cx="4480560" cy="100584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3657600"/>
            <a:ext cx="4206240" cy="365760"/>
          </a:xfrm>
          <a:prstGeom prst="rect">
            <a:avLst/>
          </a:prstGeom>
          <a:noFill/>
        </p:spPr>
        <p:txBody>
          <a:bodyPr wrap="square">
            <a:spAutoFit/>
          </a:bodyPr>
          <a:lstStyle/>
          <a:p>
            <a:pPr algn="l"/>
            <a:r>
              <a:rPr sz="1400" b="1" i="0">
                <a:solidFill>
                  <a:srgbClr val="E74C3C"/>
                </a:solidFill>
              </a:rPr>
              <a:t>Komplexa:</a:t>
            </a:r>
          </a:p>
        </p:txBody>
      </p:sp>
      <p:sp>
        <p:nvSpPr>
          <p:cNvPr id="15" name="TextBox 14"/>
          <p:cNvSpPr txBox="1"/>
          <p:nvPr/>
        </p:nvSpPr>
        <p:spPr>
          <a:xfrm>
            <a:off x="7635240" y="4069080"/>
            <a:ext cx="4206240" cy="411480"/>
          </a:xfrm>
          <a:prstGeom prst="rect">
            <a:avLst/>
          </a:prstGeom>
          <a:noFill/>
        </p:spPr>
        <p:txBody>
          <a:bodyPr wrap="square">
            <a:spAutoFit/>
          </a:bodyPr>
          <a:lstStyle/>
          <a:p>
            <a:pPr algn="l"/>
            <a:r>
              <a:rPr sz="1600" b="1" i="0">
                <a:solidFill>
                  <a:srgbClr val="1A1A1A"/>
                </a:solidFill>
              </a:rPr>
              <a:t>Graf 80%  —  API 20%</a:t>
            </a:r>
          </a:p>
        </p:txBody>
      </p:sp>
      <p:sp>
        <p:nvSpPr>
          <p:cNvPr id="16" name="Rectangle 15"/>
          <p:cNvSpPr/>
          <p:nvPr/>
        </p:nvSpPr>
        <p:spPr>
          <a:xfrm>
            <a:off x="7498079" y="4846320"/>
            <a:ext cx="4480560" cy="1645920"/>
          </a:xfrm>
          <a:prstGeom prst="rect">
            <a:avLst/>
          </a:prstGeom>
          <a:solidFill>
            <a:srgbClr val="F4F5F7"/>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4937760"/>
            <a:ext cx="4206240" cy="365760"/>
          </a:xfrm>
          <a:prstGeom prst="rect">
            <a:avLst/>
          </a:prstGeom>
          <a:noFill/>
        </p:spPr>
        <p:txBody>
          <a:bodyPr wrap="square">
            <a:spAutoFit/>
          </a:bodyPr>
          <a:lstStyle/>
          <a:p>
            <a:pPr algn="l"/>
            <a:r>
              <a:rPr sz="1400" b="1" i="0">
                <a:solidFill>
                  <a:srgbClr val="E74C3C"/>
                </a:solidFill>
              </a:rPr>
              <a:t>API:s problem:</a:t>
            </a:r>
          </a:p>
        </p:txBody>
      </p:sp>
      <p:sp>
        <p:nvSpPr>
          <p:cNvPr id="18" name="TextBox 17"/>
          <p:cNvSpPr txBox="1"/>
          <p:nvPr/>
        </p:nvSpPr>
        <p:spPr>
          <a:xfrm>
            <a:off x="7635240" y="5349240"/>
            <a:ext cx="4206240" cy="1051560"/>
          </a:xfrm>
          <a:prstGeom prst="rect">
            <a:avLst/>
          </a:prstGeom>
          <a:noFill/>
        </p:spPr>
        <p:txBody>
          <a:bodyPr wrap="square">
            <a:spAutoFit/>
          </a:bodyPr>
          <a:lstStyle/>
          <a:p>
            <a:pPr algn="l"/>
            <a:r>
              <a:rPr sz="1200" b="0" i="0">
                <a:solidFill>
                  <a:srgbClr val="555555"/>
                </a:solidFill>
              </a:rPr>
              <a:t>Kan ej länka identiteter
mellan system.
"isak29" i GitHub ≠
"Isak Lampell" i Slack?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Resultat — Verktygsanrop &amp; Svarstid</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05840"/>
            <a:ext cx="5760720" cy="320040"/>
          </a:xfrm>
          <a:prstGeom prst="rect">
            <a:avLst/>
          </a:prstGeom>
          <a:noFill/>
        </p:spPr>
        <p:txBody>
          <a:bodyPr wrap="square">
            <a:spAutoFit/>
          </a:bodyPr>
          <a:lstStyle/>
          <a:p>
            <a:pPr algn="l"/>
            <a:r>
              <a:rPr sz="1200" b="1" i="0">
                <a:solidFill>
                  <a:srgbClr val="555555"/>
                </a:solidFill>
              </a:rPr>
              <a:t>Genomsnittliga verktygsanrop</a:t>
            </a:r>
          </a:p>
        </p:txBody>
      </p:sp>
      <p:graphicFrame>
        <p:nvGraphicFramePr>
          <p:cNvPr id="7" name="Chart 6"/>
          <p:cNvGraphicFramePr>
            <a:graphicFrameLocks noGrp="1"/>
          </p:cNvGraphicFramePr>
          <p:nvPr/>
        </p:nvGraphicFramePr>
        <p:xfrm>
          <a:off x="365760" y="1371600"/>
          <a:ext cx="5577840" cy="5120640"/>
        </p:xfrm>
        <a:graphic>
          <a:graphicData uri="http://schemas.openxmlformats.org/drawingml/2006/chart">
            <c:chart xmlns:c="http://schemas.openxmlformats.org/drawingml/2006/chart" r:id="rId2"/>
          </a:graphicData>
        </a:graphic>
      </p:graphicFrame>
      <p:sp>
        <p:nvSpPr>
          <p:cNvPr id="8" name="TextBox 7"/>
          <p:cNvSpPr txBox="1"/>
          <p:nvPr/>
        </p:nvSpPr>
        <p:spPr>
          <a:xfrm>
            <a:off x="6217920" y="1005840"/>
            <a:ext cx="5760720" cy="320040"/>
          </a:xfrm>
          <a:prstGeom prst="rect">
            <a:avLst/>
          </a:prstGeom>
          <a:noFill/>
        </p:spPr>
        <p:txBody>
          <a:bodyPr wrap="square">
            <a:spAutoFit/>
          </a:bodyPr>
          <a:lstStyle/>
          <a:p>
            <a:pPr algn="l"/>
            <a:r>
              <a:rPr sz="1200" b="1" i="0">
                <a:solidFill>
                  <a:srgbClr val="555555"/>
                </a:solidFill>
              </a:rPr>
              <a:t>Genomsnittlig svarstid (ms)</a:t>
            </a:r>
          </a:p>
        </p:txBody>
      </p:sp>
      <p:graphicFrame>
        <p:nvGraphicFramePr>
          <p:cNvPr id="9" name="Chart 8"/>
          <p:cNvGraphicFramePr>
            <a:graphicFrameLocks noGrp="1"/>
          </p:cNvGraphicFramePr>
          <p:nvPr/>
        </p:nvGraphicFramePr>
        <p:xfrm>
          <a:off x="6217920" y="1371600"/>
          <a:ext cx="5577840" cy="5120640"/>
        </p:xfrm>
        <a:graphic>
          <a:graphicData uri="http://schemas.openxmlformats.org/drawingml/2006/chart">
            <c:chart xmlns:c="http://schemas.openxmlformats.org/drawingml/2006/chart" r:id="rId3"/>
          </a:graphicData>
        </a:graphic>
      </p:graphicFrame>
      <p:sp>
        <p:nvSpPr>
          <p:cNvPr id="10" name="Rectangle 9"/>
          <p:cNvSpPr/>
          <p:nvPr/>
        </p:nvSpPr>
        <p:spPr>
          <a:xfrm>
            <a:off x="6089904" y="1005840"/>
            <a:ext cx="36576" cy="539496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7160"/>
            <a:ext cx="11274552" cy="658368"/>
          </a:xfrm>
          <a:prstGeom prst="rect">
            <a:avLst/>
          </a:prstGeom>
          <a:noFill/>
        </p:spPr>
        <p:txBody>
          <a:bodyPr wrap="square">
            <a:spAutoFit/>
          </a:bodyPr>
          <a:lstStyle/>
          <a:p>
            <a:pPr algn="l"/>
            <a:r>
              <a:rPr sz="2600" b="1" i="0">
                <a:solidFill>
                  <a:srgbClr val="1A1A1A"/>
                </a:solidFill>
              </a:rPr>
              <a:t>Diskussion &amp; Slutsats</a:t>
            </a:r>
          </a:p>
        </p:txBody>
      </p:sp>
      <p:sp>
        <p:nvSpPr>
          <p:cNvPr id="5" name="Rectangle 4"/>
          <p:cNvSpPr/>
          <p:nvPr/>
        </p:nvSpPr>
        <p:spPr>
          <a:xfrm>
            <a:off x="457200" y="868680"/>
            <a:ext cx="11274552" cy="36576"/>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05840"/>
            <a:ext cx="5486400" cy="411480"/>
          </a:xfrm>
          <a:prstGeom prst="rect">
            <a:avLst/>
          </a:prstGeom>
          <a:noFill/>
        </p:spPr>
        <p:txBody>
          <a:bodyPr wrap="square">
            <a:spAutoFit/>
          </a:bodyPr>
          <a:lstStyle/>
          <a:p>
            <a:pPr algn="l"/>
            <a:r>
              <a:rPr sz="1600" b="1" i="0">
                <a:solidFill>
                  <a:srgbClr val="F26522"/>
                </a:solidFill>
              </a:rPr>
              <a:t>Vad visar resultaten?</a:t>
            </a:r>
          </a:p>
        </p:txBody>
      </p:sp>
      <p:sp>
        <p:nvSpPr>
          <p:cNvPr id="7" name="TextBox 6"/>
          <p:cNvSpPr txBox="1"/>
          <p:nvPr/>
        </p:nvSpPr>
        <p:spPr>
          <a:xfrm>
            <a:off x="640080" y="1554480"/>
            <a:ext cx="5303520" cy="4572000"/>
          </a:xfrm>
          <a:prstGeom prst="rect">
            <a:avLst/>
          </a:prstGeom>
          <a:noFill/>
        </p:spPr>
        <p:txBody>
          <a:bodyPr wrap="square">
            <a:spAutoFit/>
          </a:bodyPr>
          <a:lstStyle/>
          <a:p>
            <a:pPr>
              <a:spcBef>
                <a:spcPts val="400"/>
              </a:spcBef>
            </a:pPr>
            <a:r>
              <a:rPr sz="1300">
                <a:solidFill>
                  <a:srgbClr val="27AE60"/>
                </a:solidFill>
              </a:rPr>
              <a:t>+ Graf ger LLM:en tydliga relationer att följa</a:t>
            </a:r>
          </a:p>
          <a:p>
            <a:pPr>
              <a:spcBef>
                <a:spcPts val="400"/>
              </a:spcBef>
            </a:pPr>
            <a:r>
              <a:rPr sz="1300">
                <a:solidFill>
                  <a:srgbClr val="1A1A1A"/>
                </a:solidFill>
              </a:rPr>
              <a:t/>
            </a:r>
          </a:p>
          <a:p>
            <a:pPr>
              <a:spcBef>
                <a:spcPts val="400"/>
              </a:spcBef>
            </a:pPr>
            <a:r>
              <a:rPr sz="1300">
                <a:solidFill>
                  <a:srgbClr val="27AE60"/>
                </a:solidFill>
              </a:rPr>
              <a:t>+ En Cypher-fråga kan navigera hela grafen</a:t>
            </a:r>
          </a:p>
          <a:p>
            <a:pPr>
              <a:spcBef>
                <a:spcPts val="400"/>
              </a:spcBef>
            </a:pPr>
            <a:r>
              <a:rPr sz="1300">
                <a:solidFill>
                  <a:srgbClr val="1A1A1A"/>
                </a:solidFill>
              </a:rPr>
              <a:t/>
            </a:r>
          </a:p>
          <a:p>
            <a:pPr>
              <a:spcBef>
                <a:spcPts val="400"/>
              </a:spcBef>
            </a:pPr>
            <a:r>
              <a:rPr sz="1300">
                <a:solidFill>
                  <a:srgbClr val="E74C3C"/>
                </a:solidFill>
              </a:rPr>
              <a:t>− Schema-overhead vid varje anrop</a:t>
            </a:r>
          </a:p>
          <a:p>
            <a:pPr>
              <a:spcBef>
                <a:spcPts val="400"/>
              </a:spcBef>
            </a:pPr>
            <a:r>
              <a:rPr sz="1300">
                <a:solidFill>
                  <a:srgbClr val="1A1A1A"/>
                </a:solidFill>
              </a:rPr>
              <a:t/>
            </a:r>
          </a:p>
          <a:p>
            <a:pPr>
              <a:spcBef>
                <a:spcPts val="400"/>
              </a:spcBef>
            </a:pPr>
            <a:r>
              <a:rPr sz="1300">
                <a:solidFill>
                  <a:srgbClr val="E74C3C"/>
                </a:solidFill>
              </a:rPr>
              <a:t>− API kan ej länka identiteter mellan system</a:t>
            </a:r>
          </a:p>
          <a:p>
            <a:pPr>
              <a:spcBef>
                <a:spcPts val="400"/>
              </a:spcBef>
            </a:pPr>
            <a:r>
              <a:rPr sz="1300">
                <a:solidFill>
                  <a:srgbClr val="1A1A1A"/>
                </a:solidFill>
              </a:rPr>
              <a:t/>
            </a:r>
          </a:p>
          <a:p>
            <a:pPr>
              <a:spcBef>
                <a:spcPts val="400"/>
              </a:spcBef>
            </a:pPr>
            <a:r>
              <a:rPr sz="1300">
                <a:solidFill>
                  <a:srgbClr val="27AE60"/>
                </a:solidFill>
              </a:rPr>
              <a:t>+ API fungerar bra vid enkla frågor</a:t>
            </a:r>
          </a:p>
        </p:txBody>
      </p:sp>
      <p:sp>
        <p:nvSpPr>
          <p:cNvPr id="8" name="Rectangle 7"/>
          <p:cNvSpPr/>
          <p:nvPr/>
        </p:nvSpPr>
        <p:spPr>
          <a:xfrm>
            <a:off x="6309360" y="1005840"/>
            <a:ext cx="5577840" cy="4023360"/>
          </a:xfrm>
          <a:prstGeom prst="rect">
            <a:avLst/>
          </a:prstGeom>
          <a:solidFill>
            <a:srgbClr val="F4F5F7"/>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097280"/>
            <a:ext cx="5303520" cy="457200"/>
          </a:xfrm>
          <a:prstGeom prst="rect">
            <a:avLst/>
          </a:prstGeom>
          <a:noFill/>
        </p:spPr>
        <p:txBody>
          <a:bodyPr wrap="square">
            <a:spAutoFit/>
          </a:bodyPr>
          <a:lstStyle/>
          <a:p>
            <a:pPr algn="l"/>
            <a:r>
              <a:rPr sz="1800" b="1" i="0">
                <a:solidFill>
                  <a:srgbClr val="F26522"/>
                </a:solidFill>
              </a:rPr>
              <a:t>Slutsats</a:t>
            </a:r>
          </a:p>
        </p:txBody>
      </p:sp>
      <p:sp>
        <p:nvSpPr>
          <p:cNvPr id="10" name="TextBox 9"/>
          <p:cNvSpPr txBox="1"/>
          <p:nvPr/>
        </p:nvSpPr>
        <p:spPr>
          <a:xfrm>
            <a:off x="6446520" y="1691640"/>
            <a:ext cx="5303520" cy="3108960"/>
          </a:xfrm>
          <a:prstGeom prst="rect">
            <a:avLst/>
          </a:prstGeom>
          <a:noFill/>
        </p:spPr>
        <p:txBody>
          <a:bodyPr wrap="square">
            <a:spAutoFit/>
          </a:bodyPr>
          <a:lstStyle/>
          <a:p>
            <a:pPr algn="l"/>
            <a:r>
              <a:rPr sz="1400" b="0" i="0">
                <a:solidFill>
                  <a:srgbClr val="1A1A1A"/>
                </a:solidFill>
              </a:rPr>
              <a:t>En grafbaserad representation ger LLM:en tydliga fördelar när information behöver kombineras från olika källor.
Den ger LLM:en tydliga relationer som är enkla att följa.
API-lösningen fungerar bra för frågor mot enskilda system.</a:t>
            </a:r>
          </a:p>
        </p:txBody>
      </p:sp>
      <p:sp>
        <p:nvSpPr>
          <p:cNvPr id="11" name="Rectangle 10"/>
          <p:cNvSpPr/>
          <p:nvPr/>
        </p:nvSpPr>
        <p:spPr>
          <a:xfrm>
            <a:off x="6309360" y="5212080"/>
            <a:ext cx="5577840" cy="1325880"/>
          </a:xfrm>
          <a:prstGeom prst="rect">
            <a:avLst/>
          </a:prstGeom>
          <a:solidFill>
            <a:srgbClr val="F4F5F7"/>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5303520"/>
            <a:ext cx="5303520" cy="365760"/>
          </a:xfrm>
          <a:prstGeom prst="rect">
            <a:avLst/>
          </a:prstGeom>
          <a:noFill/>
        </p:spPr>
        <p:txBody>
          <a:bodyPr wrap="square">
            <a:spAutoFit/>
          </a:bodyPr>
          <a:lstStyle/>
          <a:p>
            <a:pPr algn="l"/>
            <a:r>
              <a:rPr sz="1400" b="1" i="0">
                <a:solidFill>
                  <a:srgbClr val="27AE60"/>
                </a:solidFill>
              </a:rPr>
              <a:t>Framtida arbete</a:t>
            </a:r>
          </a:p>
        </p:txBody>
      </p:sp>
      <p:sp>
        <p:nvSpPr>
          <p:cNvPr id="13" name="TextBox 12"/>
          <p:cNvSpPr txBox="1"/>
          <p:nvPr/>
        </p:nvSpPr>
        <p:spPr>
          <a:xfrm>
            <a:off x="6446520" y="5715000"/>
            <a:ext cx="5303520" cy="685800"/>
          </a:xfrm>
          <a:prstGeom prst="rect">
            <a:avLst/>
          </a:prstGeom>
          <a:noFill/>
        </p:spPr>
        <p:txBody>
          <a:bodyPr wrap="square">
            <a:spAutoFit/>
          </a:bodyPr>
          <a:lstStyle/>
          <a:p>
            <a:pPr algn="l"/>
            <a:r>
              <a:rPr sz="1300" b="0" i="1">
                <a:solidFill>
                  <a:srgbClr val="555555"/>
                </a:solidFill>
              </a:rPr>
              <a:t>Kombinera lösningarna: API bygger grafen, grafen används för sökning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66560"/>
            <a:ext cx="12188952" cy="9144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017520"/>
            <a:ext cx="12188952" cy="54864"/>
          </a:xfrm>
          <a:prstGeom prst="rect">
            <a:avLst/>
          </a:prstGeom>
          <a:solidFill>
            <a:srgbClr val="F265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914400"/>
            <a:ext cx="9445752" cy="1828800"/>
          </a:xfrm>
          <a:prstGeom prst="rect">
            <a:avLst/>
          </a:prstGeom>
          <a:noFill/>
        </p:spPr>
        <p:txBody>
          <a:bodyPr wrap="square">
            <a:spAutoFit/>
          </a:bodyPr>
          <a:lstStyle/>
          <a:p>
            <a:pPr algn="ctr"/>
            <a:r>
              <a:rPr sz="8000" b="1" i="0">
                <a:solidFill>
                  <a:srgbClr val="1A1A1A"/>
                </a:solidFill>
              </a:rPr>
              <a:t>Tack!</a:t>
            </a:r>
          </a:p>
        </p:txBody>
      </p:sp>
      <p:sp>
        <p:nvSpPr>
          <p:cNvPr id="6" name="TextBox 5"/>
          <p:cNvSpPr txBox="1"/>
          <p:nvPr/>
        </p:nvSpPr>
        <p:spPr>
          <a:xfrm>
            <a:off x="1371600" y="3291840"/>
            <a:ext cx="9445752" cy="1097280"/>
          </a:xfrm>
          <a:prstGeom prst="rect">
            <a:avLst/>
          </a:prstGeom>
          <a:noFill/>
        </p:spPr>
        <p:txBody>
          <a:bodyPr wrap="square">
            <a:spAutoFit/>
          </a:bodyPr>
          <a:lstStyle/>
          <a:p>
            <a:pPr algn="ctr"/>
            <a:r>
              <a:rPr sz="4200" b="1" i="0">
                <a:solidFill>
                  <a:srgbClr val="F26522"/>
                </a:solidFill>
              </a:rPr>
              <a:t>Frågor?</a:t>
            </a:r>
          </a:p>
        </p:txBody>
      </p:sp>
      <p:sp>
        <p:nvSpPr>
          <p:cNvPr id="7" name="TextBox 6"/>
          <p:cNvSpPr txBox="1"/>
          <p:nvPr/>
        </p:nvSpPr>
        <p:spPr>
          <a:xfrm>
            <a:off x="1371600" y="4937760"/>
            <a:ext cx="9445752" cy="777240"/>
          </a:xfrm>
          <a:prstGeom prst="rect">
            <a:avLst/>
          </a:prstGeom>
          <a:noFill/>
        </p:spPr>
        <p:txBody>
          <a:bodyPr wrap="square">
            <a:spAutoFit/>
          </a:bodyPr>
          <a:lstStyle/>
          <a:p>
            <a:pPr algn="ctr"/>
            <a:r>
              <a:rPr sz="1400" b="0" i="0">
                <a:solidFill>
                  <a:srgbClr val="555555"/>
                </a:solidFill>
              </a:rPr>
              <a:t>Isak Lampell  ·  lampell.i@gmail.com
Knightec Group AB  ·  Mittuniversitetet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