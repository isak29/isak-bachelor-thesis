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 (%)</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100</c:v>
                </c:pt>
                <c:pt idx="1">
                  <c:v>80</c:v>
                </c:pt>
                <c:pt idx="2">
                  <c:v>80</c:v>
                </c:pt>
              </c:numCache>
            </c:numRef>
          </c:val>
        </c:ser>
        <c:ser>
          <c:idx val="1"/>
          <c:order val="1"/>
          <c:tx>
            <c:strRef>
              <c:f>Sheet1!$C$1</c:f>
              <c:strCache>
                <c:ptCount val="1"/>
                <c:pt idx="0">
                  <c:v>API-baserad (%)</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100</c:v>
                </c:pt>
                <c:pt idx="1">
                  <c:v>40</c:v>
                </c:pt>
                <c:pt idx="2">
                  <c:v>20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2.2</c:v>
                </c:pt>
                <c:pt idx="1">
                  <c:v>4.0</c:v>
                </c:pt>
                <c:pt idx="2">
                  <c:v>2.4</c:v>
                </c:pt>
              </c:numCache>
            </c:numRef>
          </c:val>
        </c:ser>
        <c:ser>
          <c:idx val="1"/>
          <c:order val="1"/>
          <c:tx>
            <c:strRef>
              <c:f>Sheet1!$C$1</c:f>
              <c:strCache>
                <c:ptCount val="1"/>
                <c:pt idx="0">
                  <c:v>API-baserad</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1.6</c:v>
                </c:pt>
                <c:pt idx="1">
                  <c:v>4.4</c:v>
                </c:pt>
                <c:pt idx="2">
                  <c:v>6.0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8.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1967</c:v>
                </c:pt>
                <c:pt idx="1">
                  <c:v>5234</c:v>
                </c:pt>
                <c:pt idx="2">
                  <c:v>2965</c:v>
                </c:pt>
              </c:numCache>
            </c:numRef>
          </c:val>
        </c:ser>
        <c:ser>
          <c:idx val="1"/>
          <c:order val="1"/>
          <c:tx>
            <c:strRef>
              <c:f>Sheet1!$C$1</c:f>
              <c:strCache>
                <c:ptCount val="1"/>
                <c:pt idx="0">
                  <c:v>API-baserad</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1521</c:v>
                </c:pt>
                <c:pt idx="1">
                  <c:v>5251</c:v>
                </c:pt>
                <c:pt idx="2">
                  <c:v>18388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20000.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560320"/>
            <a:ext cx="12188952" cy="54864"/>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725912" cy="1554480"/>
          </a:xfrm>
          <a:prstGeom prst="rect">
            <a:avLst/>
          </a:prstGeom>
          <a:noFill/>
        </p:spPr>
        <p:txBody>
          <a:bodyPr wrap="square">
            <a:spAutoFit/>
          </a:bodyPr>
          <a:lstStyle/>
          <a:p>
            <a:pPr algn="ctr"/>
            <a:r>
              <a:rPr sz="3400" b="1" i="0">
                <a:solidFill>
                  <a:srgbClr val="1A1A1A"/>
                </a:solidFill>
              </a:rPr>
              <a:t>Effektivisering av informationssökning med LLM:er</a:t>
            </a:r>
          </a:p>
        </p:txBody>
      </p:sp>
      <p:sp>
        <p:nvSpPr>
          <p:cNvPr id="6" name="TextBox 5"/>
          <p:cNvSpPr txBox="1"/>
          <p:nvPr/>
        </p:nvSpPr>
        <p:spPr>
          <a:xfrm>
            <a:off x="914400" y="2788920"/>
            <a:ext cx="10360152" cy="640080"/>
          </a:xfrm>
          <a:prstGeom prst="rect">
            <a:avLst/>
          </a:prstGeom>
          <a:noFill/>
        </p:spPr>
        <p:txBody>
          <a:bodyPr wrap="square">
            <a:spAutoFit/>
          </a:bodyPr>
          <a:lstStyle/>
          <a:p>
            <a:pPr algn="ctr"/>
            <a:r>
              <a:rPr sz="1600" b="0" i="1">
                <a:solidFill>
                  <a:srgbClr val="F26522"/>
                </a:solidFill>
              </a:rPr>
              <a:t>En jämförelse av grafbaserad kunskapsgraf mot API-baserad informationshämtning</a:t>
            </a:r>
          </a:p>
        </p:txBody>
      </p:sp>
      <p:sp>
        <p:nvSpPr>
          <p:cNvPr id="7" name="TextBox 6"/>
          <p:cNvSpPr txBox="1"/>
          <p:nvPr/>
        </p:nvSpPr>
        <p:spPr>
          <a:xfrm>
            <a:off x="914400" y="3749039"/>
            <a:ext cx="10360152" cy="457200"/>
          </a:xfrm>
          <a:prstGeom prst="rect">
            <a:avLst/>
          </a:prstGeom>
          <a:noFill/>
        </p:spPr>
        <p:txBody>
          <a:bodyPr wrap="square">
            <a:spAutoFit/>
          </a:bodyPr>
          <a:lstStyle/>
          <a:p>
            <a:pPr algn="ctr"/>
            <a:r>
              <a:rPr sz="1300" b="0" i="0">
                <a:solidFill>
                  <a:srgbClr val="555555"/>
                </a:solidFill>
              </a:rPr>
              <a:t>Isak Lampell  ·  Knightec Group AB  ·  Mittuniversitetet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Problemet</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51560"/>
            <a:ext cx="7772400" cy="822960"/>
          </a:xfrm>
          <a:prstGeom prst="rect">
            <a:avLst/>
          </a:prstGeom>
          <a:noFill/>
        </p:spPr>
        <p:txBody>
          <a:bodyPr wrap="square">
            <a:spAutoFit/>
          </a:bodyPr>
          <a:lstStyle/>
          <a:p>
            <a:pPr algn="l"/>
            <a:r>
              <a:rPr sz="1500" b="0" i="0">
                <a:solidFill>
                  <a:srgbClr val="1A1A1A"/>
                </a:solidFill>
              </a:rPr>
              <a:t>Föreställ dig att du sitter på ett företag med hundratals kollegor,
många projekt och tusentals dokumentationssidor med information om riktlinjer och rutiner.</a:t>
            </a:r>
          </a:p>
        </p:txBody>
      </p:sp>
      <p:sp>
        <p:nvSpPr>
          <p:cNvPr id="7" name="TextBox 6"/>
          <p:cNvSpPr txBox="1"/>
          <p:nvPr/>
        </p:nvSpPr>
        <p:spPr>
          <a:xfrm>
            <a:off x="457200" y="2011680"/>
            <a:ext cx="7772400" cy="594360"/>
          </a:xfrm>
          <a:prstGeom prst="rect">
            <a:avLst/>
          </a:prstGeom>
          <a:noFill/>
        </p:spPr>
        <p:txBody>
          <a:bodyPr wrap="square">
            <a:spAutoFit/>
          </a:bodyPr>
          <a:lstStyle/>
          <a:p>
            <a:pPr algn="l"/>
            <a:r>
              <a:rPr sz="1500" b="0" i="0">
                <a:solidFill>
                  <a:srgbClr val="1A1A1A"/>
                </a:solidFill>
              </a:rPr>
              <a:t>Allt är spritt över många olika interna system och du behöver snabbt hitta svaret på en specifik fråga.</a:t>
            </a:r>
          </a:p>
        </p:txBody>
      </p:sp>
      <p:sp>
        <p:nvSpPr>
          <p:cNvPr id="8" name="TextBox 7"/>
          <p:cNvSpPr txBox="1"/>
          <p:nvPr/>
        </p:nvSpPr>
        <p:spPr>
          <a:xfrm>
            <a:off x="457200" y="2788920"/>
            <a:ext cx="7772400" cy="1005840"/>
          </a:xfrm>
          <a:prstGeom prst="rect">
            <a:avLst/>
          </a:prstGeom>
          <a:noFill/>
        </p:spPr>
        <p:txBody>
          <a:bodyPr wrap="square">
            <a:spAutoFit/>
          </a:bodyPr>
          <a:lstStyle/>
          <a:p>
            <a:pPr algn="l"/>
            <a:r>
              <a:rPr sz="1500" b="0" i="0">
                <a:solidFill>
                  <a:srgbClr val="555555"/>
                </a:solidFill>
              </a:rPr>
              <a:t>Det du gör är att du börjar söka, frågar kollegor och söker lite ytterligare
tills du hittar svaret. Det kan ta väldigt lång tid som egentligen borde
läggas på det riktiga arbetet.</a:t>
            </a:r>
          </a:p>
        </p:txBody>
      </p:sp>
      <p:sp>
        <p:nvSpPr>
          <p:cNvPr id="9" name="Rectangle 8"/>
          <p:cNvSpPr/>
          <p:nvPr/>
        </p:nvSpPr>
        <p:spPr>
          <a:xfrm>
            <a:off x="457200" y="4069080"/>
            <a:ext cx="7772400" cy="118872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206240"/>
            <a:ext cx="7498079" cy="914400"/>
          </a:xfrm>
          <a:prstGeom prst="rect">
            <a:avLst/>
          </a:prstGeom>
          <a:noFill/>
        </p:spPr>
        <p:txBody>
          <a:bodyPr wrap="square">
            <a:spAutoFit/>
          </a:bodyPr>
          <a:lstStyle/>
          <a:p>
            <a:pPr algn="l"/>
            <a:r>
              <a:rPr sz="1500" b="1" i="0">
                <a:solidFill>
                  <a:srgbClr val="1A1A1A"/>
                </a:solidFill>
              </a:rPr>
              <a:t>Det här är vardagen hos många organisationer idag —
och det är precis det problemet mitt arbete syftar till att lösa.</a:t>
            </a:r>
          </a:p>
        </p:txBody>
      </p:sp>
      <p:sp>
        <p:nvSpPr>
          <p:cNvPr id="11" name="Rectangle 10"/>
          <p:cNvSpPr/>
          <p:nvPr/>
        </p:nvSpPr>
        <p:spPr>
          <a:xfrm>
            <a:off x="8412480" y="1051560"/>
            <a:ext cx="3474720" cy="512064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3383279"/>
            <a:ext cx="3474720" cy="457200"/>
          </a:xfrm>
          <a:prstGeom prst="rect">
            <a:avLst/>
          </a:prstGeom>
          <a:noFill/>
        </p:spPr>
        <p:txBody>
          <a:bodyPr wrap="square">
            <a:spAutoFit/>
          </a:bodyPr>
          <a:lstStyle/>
          <a:p>
            <a:pPr algn="ctr"/>
            <a:r>
              <a:rPr sz="1300" b="0" i="1">
                <a:solidFill>
                  <a:srgbClr val="555555"/>
                </a:solidFill>
              </a:rPr>
              <a:t>[ BILD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Bakgrund – Knightec</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502920"/>
          </a:xfrm>
          <a:prstGeom prst="rect">
            <a:avLst/>
          </a:prstGeom>
          <a:noFill/>
        </p:spPr>
        <p:txBody>
          <a:bodyPr wrap="square">
            <a:spAutoFit/>
          </a:bodyPr>
          <a:lstStyle/>
          <a:p>
            <a:pPr algn="l"/>
            <a:r>
              <a:rPr sz="1400" b="0" i="0">
                <a:solidFill>
                  <a:srgbClr val="1A1A1A"/>
                </a:solidFill>
              </a:rPr>
              <a:t>Exjobbet är gjort i samarbete med Knightec — ett tech-konsultbolag med verksamhet på flera orter i Sverige.</a:t>
            </a:r>
          </a:p>
        </p:txBody>
      </p:sp>
      <p:sp>
        <p:nvSpPr>
          <p:cNvPr id="7" name="TextBox 6"/>
          <p:cNvSpPr txBox="1"/>
          <p:nvPr/>
        </p:nvSpPr>
        <p:spPr>
          <a:xfrm>
            <a:off x="457200" y="1645920"/>
            <a:ext cx="7315200" cy="411480"/>
          </a:xfrm>
          <a:prstGeom prst="rect">
            <a:avLst/>
          </a:prstGeom>
          <a:noFill/>
        </p:spPr>
        <p:txBody>
          <a:bodyPr wrap="square">
            <a:spAutoFit/>
          </a:bodyPr>
          <a:lstStyle/>
          <a:p>
            <a:pPr algn="l"/>
            <a:r>
              <a:rPr sz="1400" b="1" i="0">
                <a:solidFill>
                  <a:srgbClr val="F26522"/>
                </a:solidFill>
              </a:rPr>
              <a:t>Informationen är spridd över tre system:</a:t>
            </a:r>
          </a:p>
        </p:txBody>
      </p:sp>
      <p:sp>
        <p:nvSpPr>
          <p:cNvPr id="8" name="Rectangle 7"/>
          <p:cNvSpPr/>
          <p:nvPr/>
        </p:nvSpPr>
        <p:spPr>
          <a:xfrm>
            <a:off x="457200" y="2194560"/>
            <a:ext cx="3566160" cy="356616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286000"/>
            <a:ext cx="3566160" cy="594360"/>
          </a:xfrm>
          <a:prstGeom prst="rect">
            <a:avLst/>
          </a:prstGeom>
          <a:noFill/>
        </p:spPr>
        <p:txBody>
          <a:bodyPr wrap="square">
            <a:spAutoFit/>
          </a:bodyPr>
          <a:lstStyle/>
          <a:p>
            <a:pPr algn="ctr"/>
            <a:r>
              <a:rPr sz="2200" b="1" i="0">
                <a:solidFill>
                  <a:srgbClr val="2E86C1"/>
                </a:solidFill>
              </a:rPr>
              <a:t>GitHub</a:t>
            </a:r>
          </a:p>
        </p:txBody>
      </p:sp>
      <p:sp>
        <p:nvSpPr>
          <p:cNvPr id="10" name="Rectangle 9"/>
          <p:cNvSpPr/>
          <p:nvPr/>
        </p:nvSpPr>
        <p:spPr>
          <a:xfrm>
            <a:off x="731520" y="2971800"/>
            <a:ext cx="3017520" cy="36576"/>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08960"/>
            <a:ext cx="3291840" cy="2377440"/>
          </a:xfrm>
          <a:prstGeom prst="rect">
            <a:avLst/>
          </a:prstGeom>
          <a:noFill/>
        </p:spPr>
        <p:txBody>
          <a:bodyPr wrap="square">
            <a:spAutoFit/>
          </a:bodyPr>
          <a:lstStyle/>
          <a:p>
            <a:pPr algn="ctr"/>
            <a:r>
              <a:rPr sz="1300" b="0" i="0">
                <a:solidFill>
                  <a:srgbClr val="555555"/>
                </a:solidFill>
              </a:rPr>
              <a:t>Projekt &amp; programkod
Repositories, commits,
issues, aktiva användare</a:t>
            </a:r>
          </a:p>
        </p:txBody>
      </p:sp>
      <p:sp>
        <p:nvSpPr>
          <p:cNvPr id="12" name="Rectangle 11"/>
          <p:cNvSpPr/>
          <p:nvPr/>
        </p:nvSpPr>
        <p:spPr>
          <a:xfrm>
            <a:off x="4297680" y="2194560"/>
            <a:ext cx="3566160" cy="356616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2286000"/>
            <a:ext cx="3566160" cy="594360"/>
          </a:xfrm>
          <a:prstGeom prst="rect">
            <a:avLst/>
          </a:prstGeom>
          <a:noFill/>
        </p:spPr>
        <p:txBody>
          <a:bodyPr wrap="square">
            <a:spAutoFit/>
          </a:bodyPr>
          <a:lstStyle/>
          <a:p>
            <a:pPr algn="ctr"/>
            <a:r>
              <a:rPr sz="2200" b="1" i="0">
                <a:solidFill>
                  <a:srgbClr val="27AE60"/>
                </a:solidFill>
              </a:rPr>
              <a:t>Slack</a:t>
            </a:r>
          </a:p>
        </p:txBody>
      </p:sp>
      <p:sp>
        <p:nvSpPr>
          <p:cNvPr id="14" name="Rectangle 13"/>
          <p:cNvSpPr/>
          <p:nvPr/>
        </p:nvSpPr>
        <p:spPr>
          <a:xfrm>
            <a:off x="4572000" y="2971800"/>
            <a:ext cx="3017520" cy="36576"/>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108960"/>
            <a:ext cx="3291840" cy="2377440"/>
          </a:xfrm>
          <a:prstGeom prst="rect">
            <a:avLst/>
          </a:prstGeom>
          <a:noFill/>
        </p:spPr>
        <p:txBody>
          <a:bodyPr wrap="square">
            <a:spAutoFit/>
          </a:bodyPr>
          <a:lstStyle/>
          <a:p>
            <a:pPr algn="ctr"/>
            <a:r>
              <a:rPr sz="1300" b="0" i="0">
                <a:solidFill>
                  <a:srgbClr val="555555"/>
                </a:solidFill>
              </a:rPr>
              <a:t>Kommunikation
Kanaler, meddelanden,
användare</a:t>
            </a:r>
          </a:p>
        </p:txBody>
      </p:sp>
      <p:sp>
        <p:nvSpPr>
          <p:cNvPr id="16" name="Rectangle 15"/>
          <p:cNvSpPr/>
          <p:nvPr/>
        </p:nvSpPr>
        <p:spPr>
          <a:xfrm>
            <a:off x="8138160" y="2194560"/>
            <a:ext cx="3566160" cy="35661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286000"/>
            <a:ext cx="3566160" cy="594360"/>
          </a:xfrm>
          <a:prstGeom prst="rect">
            <a:avLst/>
          </a:prstGeom>
          <a:noFill/>
        </p:spPr>
        <p:txBody>
          <a:bodyPr wrap="square">
            <a:spAutoFit/>
          </a:bodyPr>
          <a:lstStyle/>
          <a:p>
            <a:pPr algn="ctr"/>
            <a:r>
              <a:rPr sz="2200" b="1" i="0">
                <a:solidFill>
                  <a:srgbClr val="F26522"/>
                </a:solidFill>
              </a:rPr>
              <a:t>Confluence</a:t>
            </a:r>
          </a:p>
        </p:txBody>
      </p:sp>
      <p:sp>
        <p:nvSpPr>
          <p:cNvPr id="18" name="Rectangle 17"/>
          <p:cNvSpPr/>
          <p:nvPr/>
        </p:nvSpPr>
        <p:spPr>
          <a:xfrm>
            <a:off x="8412480" y="2971800"/>
            <a:ext cx="3017520"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108960"/>
            <a:ext cx="3291840" cy="2377440"/>
          </a:xfrm>
          <a:prstGeom prst="rect">
            <a:avLst/>
          </a:prstGeom>
          <a:noFill/>
        </p:spPr>
        <p:txBody>
          <a:bodyPr wrap="square">
            <a:spAutoFit/>
          </a:bodyPr>
          <a:lstStyle/>
          <a:p>
            <a:pPr algn="ctr"/>
            <a:r>
              <a:rPr sz="1300" b="0" i="0">
                <a:solidFill>
                  <a:srgbClr val="555555"/>
                </a:solidFill>
              </a:rPr>
              <a:t>Intern dokumentation
Processer, rutiner,
riktlinjer, teams</a:t>
            </a:r>
          </a:p>
        </p:txBody>
      </p:sp>
      <p:sp>
        <p:nvSpPr>
          <p:cNvPr id="20" name="TextBox 19"/>
          <p:cNvSpPr txBox="1"/>
          <p:nvPr/>
        </p:nvSpPr>
        <p:spPr>
          <a:xfrm>
            <a:off x="457200" y="5897880"/>
            <a:ext cx="11247120" cy="457200"/>
          </a:xfrm>
          <a:prstGeom prst="rect">
            <a:avLst/>
          </a:prstGeom>
          <a:noFill/>
        </p:spPr>
        <p:txBody>
          <a:bodyPr wrap="square">
            <a:spAutoFit/>
          </a:bodyPr>
          <a:lstStyle/>
          <a:p>
            <a:pPr algn="ctr"/>
            <a:r>
              <a:rPr sz="1300" b="0" i="1">
                <a:solidFill>
                  <a:srgbClr val="555555"/>
                </a:solidFill>
              </a:rPr>
              <a:t>Problemet: ingen gemensam struktur — data kan inte enkelt kombineras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Teori</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5394960" cy="242316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43000"/>
            <a:ext cx="5120640" cy="457200"/>
          </a:xfrm>
          <a:prstGeom prst="rect">
            <a:avLst/>
          </a:prstGeom>
          <a:noFill/>
        </p:spPr>
        <p:txBody>
          <a:bodyPr wrap="square">
            <a:spAutoFit/>
          </a:bodyPr>
          <a:lstStyle/>
          <a:p>
            <a:pPr algn="l"/>
            <a:r>
              <a:rPr sz="1700" b="1" i="0">
                <a:solidFill>
                  <a:srgbClr val="2E86C1"/>
                </a:solidFill>
              </a:rPr>
              <a:t>LLM</a:t>
            </a:r>
          </a:p>
        </p:txBody>
      </p:sp>
      <p:sp>
        <p:nvSpPr>
          <p:cNvPr id="8" name="Rectangle 7"/>
          <p:cNvSpPr/>
          <p:nvPr/>
        </p:nvSpPr>
        <p:spPr>
          <a:xfrm>
            <a:off x="502920" y="1645919"/>
            <a:ext cx="5120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83080"/>
            <a:ext cx="5120640" cy="1554480"/>
          </a:xfrm>
          <a:prstGeom prst="rect">
            <a:avLst/>
          </a:prstGeom>
          <a:noFill/>
        </p:spPr>
        <p:txBody>
          <a:bodyPr wrap="square">
            <a:spAutoFit/>
          </a:bodyPr>
          <a:lstStyle/>
          <a:p>
            <a:pPr algn="l"/>
            <a:r>
              <a:rPr sz="1200" b="0" i="0">
                <a:solidFill>
                  <a:srgbClr val="555555"/>
                </a:solidFill>
              </a:rPr>
              <a:t>Large Language Model — AI-modell tränad på stora mängder text.
I arbetet: tolkar användarens fråga och avgör vilka verktyg som ska anropas.</a:t>
            </a:r>
          </a:p>
        </p:txBody>
      </p:sp>
      <p:sp>
        <p:nvSpPr>
          <p:cNvPr id="10" name="Rectangle 9"/>
          <p:cNvSpPr/>
          <p:nvPr/>
        </p:nvSpPr>
        <p:spPr>
          <a:xfrm>
            <a:off x="6309360" y="1051560"/>
            <a:ext cx="5394960" cy="24231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43000"/>
            <a:ext cx="5120640" cy="457200"/>
          </a:xfrm>
          <a:prstGeom prst="rect">
            <a:avLst/>
          </a:prstGeom>
          <a:noFill/>
        </p:spPr>
        <p:txBody>
          <a:bodyPr wrap="square">
            <a:spAutoFit/>
          </a:bodyPr>
          <a:lstStyle/>
          <a:p>
            <a:pPr algn="l"/>
            <a:r>
              <a:rPr sz="1700" b="1" i="0">
                <a:solidFill>
                  <a:srgbClr val="F26522"/>
                </a:solidFill>
              </a:rPr>
              <a:t>MCP — Model Context Protocol</a:t>
            </a:r>
          </a:p>
        </p:txBody>
      </p:sp>
      <p:sp>
        <p:nvSpPr>
          <p:cNvPr id="12" name="Rectangle 11"/>
          <p:cNvSpPr/>
          <p:nvPr/>
        </p:nvSpPr>
        <p:spPr>
          <a:xfrm>
            <a:off x="6446520" y="1645919"/>
            <a:ext cx="5120640" cy="27432"/>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83080"/>
            <a:ext cx="5120640" cy="1554480"/>
          </a:xfrm>
          <a:prstGeom prst="rect">
            <a:avLst/>
          </a:prstGeom>
          <a:noFill/>
        </p:spPr>
        <p:txBody>
          <a:bodyPr wrap="square">
            <a:spAutoFit/>
          </a:bodyPr>
          <a:lstStyle/>
          <a:p>
            <a:pPr algn="l"/>
            <a:r>
              <a:rPr sz="1200" b="0" i="0">
                <a:solidFill>
                  <a:srgbClr val="555555"/>
                </a:solidFill>
              </a:rPr>
              <a:t>Mellanlager mellan LLM och datakällor. Funktionalitet exponeras som verktyg.
I arbetet: MCP-server med verktyg för Cypher-frågor eller API-anrop.</a:t>
            </a:r>
          </a:p>
        </p:txBody>
      </p:sp>
      <p:sp>
        <p:nvSpPr>
          <p:cNvPr id="14" name="Rectangle 13"/>
          <p:cNvSpPr/>
          <p:nvPr/>
        </p:nvSpPr>
        <p:spPr>
          <a:xfrm>
            <a:off x="365760" y="3657600"/>
            <a:ext cx="5394960" cy="242316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749039"/>
            <a:ext cx="5120640" cy="457200"/>
          </a:xfrm>
          <a:prstGeom prst="rect">
            <a:avLst/>
          </a:prstGeom>
          <a:noFill/>
        </p:spPr>
        <p:txBody>
          <a:bodyPr wrap="square">
            <a:spAutoFit/>
          </a:bodyPr>
          <a:lstStyle/>
          <a:p>
            <a:pPr algn="l"/>
            <a:r>
              <a:rPr sz="1700" b="1" i="0">
                <a:solidFill>
                  <a:srgbClr val="27AE60"/>
                </a:solidFill>
              </a:rPr>
              <a:t>Kunskapsgraf</a:t>
            </a:r>
          </a:p>
        </p:txBody>
      </p:sp>
      <p:sp>
        <p:nvSpPr>
          <p:cNvPr id="16" name="Rectangle 15"/>
          <p:cNvSpPr/>
          <p:nvPr/>
        </p:nvSpPr>
        <p:spPr>
          <a:xfrm>
            <a:off x="502920" y="4251960"/>
            <a:ext cx="5120640" cy="274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389120"/>
            <a:ext cx="5120640" cy="1554480"/>
          </a:xfrm>
          <a:prstGeom prst="rect">
            <a:avLst/>
          </a:prstGeom>
          <a:noFill/>
        </p:spPr>
        <p:txBody>
          <a:bodyPr wrap="square">
            <a:spAutoFit/>
          </a:bodyPr>
          <a:lstStyle/>
          <a:p>
            <a:pPr algn="l"/>
            <a:r>
              <a:rPr sz="1200" b="0" i="0">
                <a:solidFill>
                  <a:srgbClr val="555555"/>
                </a:solidFill>
              </a:rPr>
              <a:t>Nätverksstruktur av entiteter och relationer. Lagras i Neo4j.
I arbetet: data från GitHub, Slack och Confluence modellerat med noder och kanter.</a:t>
            </a:r>
          </a:p>
        </p:txBody>
      </p:sp>
      <p:sp>
        <p:nvSpPr>
          <p:cNvPr id="18" name="Rectangle 17"/>
          <p:cNvSpPr/>
          <p:nvPr/>
        </p:nvSpPr>
        <p:spPr>
          <a:xfrm>
            <a:off x="6309360" y="3657600"/>
            <a:ext cx="5394960" cy="2423160"/>
          </a:xfrm>
          <a:prstGeom prst="rect">
            <a:avLst/>
          </a:prstGeom>
          <a:solidFill>
            <a:srgbClr val="F4F5F7"/>
          </a:solidFill>
          <a:ln w="1270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749039"/>
            <a:ext cx="5120640" cy="457200"/>
          </a:xfrm>
          <a:prstGeom prst="rect">
            <a:avLst/>
          </a:prstGeom>
          <a:noFill/>
        </p:spPr>
        <p:txBody>
          <a:bodyPr wrap="square">
            <a:spAutoFit/>
          </a:bodyPr>
          <a:lstStyle/>
          <a:p>
            <a:pPr algn="l"/>
            <a:r>
              <a:rPr sz="1700" b="1" i="0">
                <a:solidFill>
                  <a:srgbClr val="555555"/>
                </a:solidFill>
              </a:rPr>
              <a:t>Cypher</a:t>
            </a:r>
          </a:p>
        </p:txBody>
      </p:sp>
      <p:sp>
        <p:nvSpPr>
          <p:cNvPr id="20" name="Rectangle 19"/>
          <p:cNvSpPr/>
          <p:nvPr/>
        </p:nvSpPr>
        <p:spPr>
          <a:xfrm>
            <a:off x="6446520" y="4251960"/>
            <a:ext cx="5120640" cy="2743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389120"/>
            <a:ext cx="5120640" cy="1554480"/>
          </a:xfrm>
          <a:prstGeom prst="rect">
            <a:avLst/>
          </a:prstGeom>
          <a:noFill/>
        </p:spPr>
        <p:txBody>
          <a:bodyPr wrap="square">
            <a:spAutoFit/>
          </a:bodyPr>
          <a:lstStyle/>
          <a:p>
            <a:pPr algn="l"/>
            <a:r>
              <a:rPr sz="1200" b="0" i="0">
                <a:solidFill>
                  <a:srgbClr val="555555"/>
                </a:solidFill>
              </a:rPr>
              <a:t>Frågespråk för Neo4j. LLM:en genererar Cypher-frågor dynamiskt.
Ex: MATCH (p:Person)-[:WORKS_ON]-&gt;(r:Repository) RETURN 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Kunskapsgraf – visualisering</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502920"/>
          </a:xfrm>
          <a:prstGeom prst="rect">
            <a:avLst/>
          </a:prstGeom>
          <a:noFill/>
        </p:spPr>
        <p:txBody>
          <a:bodyPr wrap="square">
            <a:spAutoFit/>
          </a:bodyPr>
          <a:lstStyle/>
          <a:p>
            <a:pPr algn="l"/>
            <a:r>
              <a:rPr sz="1400" b="0" i="1">
                <a:solidFill>
                  <a:srgbClr val="F26522"/>
                </a:solidFill>
              </a:rPr>
              <a:t>Grafen innehåller noder och relationer från alla tre system. Samma person är kopplad till repos, Slack-inlägg och Confluence-dokument.</a:t>
            </a:r>
          </a:p>
        </p:txBody>
      </p:sp>
      <p:sp>
        <p:nvSpPr>
          <p:cNvPr id="7" name="Rectangle 6"/>
          <p:cNvSpPr/>
          <p:nvPr/>
        </p:nvSpPr>
        <p:spPr>
          <a:xfrm>
            <a:off x="457200" y="1645920"/>
            <a:ext cx="7772400" cy="489204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863339"/>
            <a:ext cx="7772400" cy="457200"/>
          </a:xfrm>
          <a:prstGeom prst="rect">
            <a:avLst/>
          </a:prstGeom>
          <a:noFill/>
        </p:spPr>
        <p:txBody>
          <a:bodyPr wrap="square">
            <a:spAutoFit/>
          </a:bodyPr>
          <a:lstStyle/>
          <a:p>
            <a:pPr algn="ctr"/>
            <a:r>
              <a:rPr sz="1300" b="0" i="1">
                <a:solidFill>
                  <a:srgbClr val="555555"/>
                </a:solidFill>
              </a:rPr>
              <a:t>[ BILD: visualisation.png — Neo4j grafvisualisering ]</a:t>
            </a:r>
          </a:p>
        </p:txBody>
      </p:sp>
      <p:sp>
        <p:nvSpPr>
          <p:cNvPr id="9" name="TextBox 8"/>
          <p:cNvSpPr txBox="1"/>
          <p:nvPr/>
        </p:nvSpPr>
        <p:spPr>
          <a:xfrm>
            <a:off x="8412480" y="1828800"/>
            <a:ext cx="3566160" cy="4572000"/>
          </a:xfrm>
          <a:prstGeom prst="rect">
            <a:avLst/>
          </a:prstGeom>
          <a:noFill/>
        </p:spPr>
        <p:txBody>
          <a:bodyPr wrap="square">
            <a:spAutoFit/>
          </a:bodyPr>
          <a:lstStyle/>
          <a:p>
            <a:pPr>
              <a:spcBef>
                <a:spcPts val="400"/>
              </a:spcBef>
            </a:pPr>
            <a:r>
              <a:rPr sz="1200">
                <a:solidFill>
                  <a:srgbClr val="1A1A1A"/>
                </a:solidFill>
              </a:rPr>
              <a:t>Noder:</a:t>
            </a:r>
          </a:p>
          <a:p>
            <a:pPr>
              <a:spcBef>
                <a:spcPts val="400"/>
              </a:spcBef>
            </a:pPr>
            <a:r>
              <a:rPr sz="1200">
                <a:solidFill>
                  <a:srgbClr val="555555"/>
                </a:solidFill>
              </a:rPr>
              <a:t>Person, Repository, Issue, Commit,</a:t>
            </a:r>
          </a:p>
          <a:p>
            <a:pPr>
              <a:spcBef>
                <a:spcPts val="400"/>
              </a:spcBef>
            </a:pPr>
            <a:r>
              <a:rPr sz="1200">
                <a:solidFill>
                  <a:srgbClr val="555555"/>
                </a:solidFill>
              </a:rPr>
              <a:t>SlackChannel, Post, Document ...</a:t>
            </a:r>
          </a:p>
          <a:p>
            <a:pPr>
              <a:spcBef>
                <a:spcPts val="400"/>
              </a:spcBef>
            </a:pPr>
            <a:r>
              <a:rPr sz="1200">
                <a:solidFill>
                  <a:srgbClr val="1A1A1A"/>
                </a:solidFill>
              </a:rPr>
              <a:t/>
            </a:r>
          </a:p>
          <a:p>
            <a:pPr>
              <a:spcBef>
                <a:spcPts val="400"/>
              </a:spcBef>
            </a:pPr>
            <a:r>
              <a:rPr sz="1200">
                <a:solidFill>
                  <a:srgbClr val="1A1A1A"/>
                </a:solidFill>
              </a:rPr>
              <a:t>Relationer:</a:t>
            </a:r>
          </a:p>
          <a:p>
            <a:pPr>
              <a:spcBef>
                <a:spcPts val="400"/>
              </a:spcBef>
            </a:pPr>
            <a:r>
              <a:rPr sz="1200">
                <a:solidFill>
                  <a:srgbClr val="555555"/>
                </a:solidFill>
              </a:rPr>
              <a:t>WORKS_ON  ·  COMMITTED_IN</a:t>
            </a:r>
          </a:p>
          <a:p>
            <a:pPr>
              <a:spcBef>
                <a:spcPts val="400"/>
              </a:spcBef>
            </a:pPr>
            <a:r>
              <a:rPr sz="1200">
                <a:solidFill>
                  <a:srgbClr val="555555"/>
                </a:solidFill>
              </a:rPr>
              <a:t>AUTHORED  ·  MEMBER_OF</a:t>
            </a:r>
          </a:p>
          <a:p>
            <a:pPr>
              <a:spcBef>
                <a:spcPts val="400"/>
              </a:spcBef>
            </a:pPr>
            <a:r>
              <a:rPr sz="1200">
                <a:solidFill>
                  <a:srgbClr val="555555"/>
                </a:solidFill>
              </a:rPr>
              <a:t>HAS_POST  ·  WROTE ...</a:t>
            </a:r>
          </a:p>
        </p:txBody>
      </p:sp>
      <p:sp>
        <p:nvSpPr>
          <p:cNvPr id="10" name="Rectangle 9"/>
          <p:cNvSpPr/>
          <p:nvPr/>
        </p:nvSpPr>
        <p:spPr>
          <a:xfrm>
            <a:off x="8412480" y="5029200"/>
            <a:ext cx="3566160" cy="15087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0" y="5166360"/>
            <a:ext cx="3383280" cy="1234440"/>
          </a:xfrm>
          <a:prstGeom prst="rect">
            <a:avLst/>
          </a:prstGeom>
          <a:noFill/>
        </p:spPr>
        <p:txBody>
          <a:bodyPr wrap="square">
            <a:spAutoFit/>
          </a:bodyPr>
          <a:lstStyle/>
          <a:p>
            <a:pPr algn="l"/>
            <a:r>
              <a:rPr sz="1300" b="1" i="0">
                <a:solidFill>
                  <a:srgbClr val="1A1A1A"/>
                </a:solidFill>
              </a:rPr>
              <a:t>Tydliga kopplingar gör att LLM:en kan följa sambanden direkt — utan att gissa.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Metod — Design Science Research</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400" b="0" i="1">
                <a:solidFill>
                  <a:srgbClr val="F26522"/>
                </a:solidFill>
              </a:rPr>
              <a:t>Designa och bygg konkreta artefakter — utvärdera dem för att dra slutsatser.</a:t>
            </a:r>
          </a:p>
        </p:txBody>
      </p:sp>
      <p:sp>
        <p:nvSpPr>
          <p:cNvPr id="7" name="Rectangle 6"/>
          <p:cNvSpPr/>
          <p:nvPr/>
        </p:nvSpPr>
        <p:spPr>
          <a:xfrm>
            <a:off x="36576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691640"/>
            <a:ext cx="1920240" cy="822960"/>
          </a:xfrm>
          <a:prstGeom prst="rect">
            <a:avLst/>
          </a:prstGeom>
          <a:noFill/>
        </p:spPr>
        <p:txBody>
          <a:bodyPr wrap="square">
            <a:spAutoFit/>
          </a:bodyPr>
          <a:lstStyle/>
          <a:p>
            <a:pPr algn="ctr"/>
            <a:r>
              <a:rPr sz="1300" b="1" i="0">
                <a:solidFill>
                  <a:srgbClr val="1A1A1A"/>
                </a:solidFill>
              </a:rPr>
              <a:t>Designa
två lösningar</a:t>
            </a:r>
          </a:p>
        </p:txBody>
      </p:sp>
      <p:sp>
        <p:nvSpPr>
          <p:cNvPr id="9" name="TextBox 8"/>
          <p:cNvSpPr txBox="1"/>
          <p:nvPr/>
        </p:nvSpPr>
        <p:spPr>
          <a:xfrm>
            <a:off x="2423160" y="1828800"/>
            <a:ext cx="320040" cy="640080"/>
          </a:xfrm>
          <a:prstGeom prst="rect">
            <a:avLst/>
          </a:prstGeom>
          <a:noFill/>
        </p:spPr>
        <p:txBody>
          <a:bodyPr wrap="square">
            <a:spAutoFit/>
          </a:bodyPr>
          <a:lstStyle/>
          <a:p>
            <a:pPr algn="ctr"/>
            <a:r>
              <a:rPr sz="2200" b="1" i="0">
                <a:solidFill>
                  <a:srgbClr val="F26522"/>
                </a:solidFill>
              </a:rPr>
              <a:t>→</a:t>
            </a:r>
          </a:p>
        </p:txBody>
      </p:sp>
      <p:sp>
        <p:nvSpPr>
          <p:cNvPr id="10" name="Rectangle 9"/>
          <p:cNvSpPr/>
          <p:nvPr/>
        </p:nvSpPr>
        <p:spPr>
          <a:xfrm>
            <a:off x="278892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691640"/>
            <a:ext cx="1920240" cy="822960"/>
          </a:xfrm>
          <a:prstGeom prst="rect">
            <a:avLst/>
          </a:prstGeom>
          <a:noFill/>
        </p:spPr>
        <p:txBody>
          <a:bodyPr wrap="square">
            <a:spAutoFit/>
          </a:bodyPr>
          <a:lstStyle/>
          <a:p>
            <a:pPr algn="ctr"/>
            <a:r>
              <a:rPr sz="1300" b="1" i="0">
                <a:solidFill>
                  <a:srgbClr val="1A1A1A"/>
                </a:solidFill>
              </a:rPr>
              <a:t>Implementera
Graf + API</a:t>
            </a:r>
          </a:p>
        </p:txBody>
      </p:sp>
      <p:sp>
        <p:nvSpPr>
          <p:cNvPr id="12" name="TextBox 11"/>
          <p:cNvSpPr txBox="1"/>
          <p:nvPr/>
        </p:nvSpPr>
        <p:spPr>
          <a:xfrm>
            <a:off x="4846320" y="1828800"/>
            <a:ext cx="320040" cy="640080"/>
          </a:xfrm>
          <a:prstGeom prst="rect">
            <a:avLst/>
          </a:prstGeom>
          <a:noFill/>
        </p:spPr>
        <p:txBody>
          <a:bodyPr wrap="square">
            <a:spAutoFit/>
          </a:bodyPr>
          <a:lstStyle/>
          <a:p>
            <a:pPr algn="ctr"/>
            <a:r>
              <a:rPr sz="2200" b="1" i="0">
                <a:solidFill>
                  <a:srgbClr val="F26522"/>
                </a:solidFill>
              </a:rPr>
              <a:t>→</a:t>
            </a:r>
          </a:p>
        </p:txBody>
      </p:sp>
      <p:sp>
        <p:nvSpPr>
          <p:cNvPr id="13" name="Rectangle 12"/>
          <p:cNvSpPr/>
          <p:nvPr/>
        </p:nvSpPr>
        <p:spPr>
          <a:xfrm>
            <a:off x="521208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1691640"/>
            <a:ext cx="1920240" cy="822960"/>
          </a:xfrm>
          <a:prstGeom prst="rect">
            <a:avLst/>
          </a:prstGeom>
          <a:noFill/>
        </p:spPr>
        <p:txBody>
          <a:bodyPr wrap="square">
            <a:spAutoFit/>
          </a:bodyPr>
          <a:lstStyle/>
          <a:p>
            <a:pPr algn="ctr"/>
            <a:r>
              <a:rPr sz="1300" b="1" i="0">
                <a:solidFill>
                  <a:srgbClr val="1A1A1A"/>
                </a:solidFill>
              </a:rPr>
              <a:t>Utvärdera
15 testfrågor</a:t>
            </a:r>
          </a:p>
        </p:txBody>
      </p:sp>
      <p:sp>
        <p:nvSpPr>
          <p:cNvPr id="15" name="TextBox 14"/>
          <p:cNvSpPr txBox="1"/>
          <p:nvPr/>
        </p:nvSpPr>
        <p:spPr>
          <a:xfrm>
            <a:off x="7269480" y="1828800"/>
            <a:ext cx="320040" cy="640080"/>
          </a:xfrm>
          <a:prstGeom prst="rect">
            <a:avLst/>
          </a:prstGeom>
          <a:noFill/>
        </p:spPr>
        <p:txBody>
          <a:bodyPr wrap="square">
            <a:spAutoFit/>
          </a:bodyPr>
          <a:lstStyle/>
          <a:p>
            <a:pPr algn="ctr"/>
            <a:r>
              <a:rPr sz="2200" b="1" i="0">
                <a:solidFill>
                  <a:srgbClr val="F26522"/>
                </a:solidFill>
              </a:rPr>
              <a:t>→</a:t>
            </a:r>
          </a:p>
        </p:txBody>
      </p:sp>
      <p:sp>
        <p:nvSpPr>
          <p:cNvPr id="16" name="Rectangle 15"/>
          <p:cNvSpPr/>
          <p:nvPr/>
        </p:nvSpPr>
        <p:spPr>
          <a:xfrm>
            <a:off x="763524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1691640"/>
            <a:ext cx="1920240" cy="822960"/>
          </a:xfrm>
          <a:prstGeom prst="rect">
            <a:avLst/>
          </a:prstGeom>
          <a:noFill/>
        </p:spPr>
        <p:txBody>
          <a:bodyPr wrap="square">
            <a:spAutoFit/>
          </a:bodyPr>
          <a:lstStyle/>
          <a:p>
            <a:pPr algn="ctr"/>
            <a:r>
              <a:rPr sz="1300" b="1" i="0">
                <a:solidFill>
                  <a:srgbClr val="1A1A1A"/>
                </a:solidFill>
              </a:rPr>
              <a:t>Dra
slutstatser</a:t>
            </a:r>
          </a:p>
        </p:txBody>
      </p:sp>
      <p:sp>
        <p:nvSpPr>
          <p:cNvPr id="18" name="Rectangle 17"/>
          <p:cNvSpPr/>
          <p:nvPr/>
        </p:nvSpPr>
        <p:spPr>
          <a:xfrm>
            <a:off x="365760" y="2926080"/>
            <a:ext cx="3703320" cy="361188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017520"/>
            <a:ext cx="3520440" cy="594360"/>
          </a:xfrm>
          <a:prstGeom prst="rect">
            <a:avLst/>
          </a:prstGeom>
          <a:noFill/>
        </p:spPr>
        <p:txBody>
          <a:bodyPr wrap="square">
            <a:spAutoFit/>
          </a:bodyPr>
          <a:lstStyle/>
          <a:p>
            <a:pPr algn="l"/>
            <a:r>
              <a:rPr sz="1500" b="1" i="0">
                <a:solidFill>
                  <a:srgbClr val="2E86C1"/>
                </a:solidFill>
              </a:rPr>
              <a:t>Simpla  Q1–Q5</a:t>
            </a:r>
          </a:p>
        </p:txBody>
      </p:sp>
      <p:sp>
        <p:nvSpPr>
          <p:cNvPr id="20" name="Rectangle 19"/>
          <p:cNvSpPr/>
          <p:nvPr/>
        </p:nvSpPr>
        <p:spPr>
          <a:xfrm>
            <a:off x="640080" y="3703320"/>
            <a:ext cx="3154680" cy="36576"/>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40480"/>
            <a:ext cx="3429000" cy="1188720"/>
          </a:xfrm>
          <a:prstGeom prst="rect">
            <a:avLst/>
          </a:prstGeom>
          <a:noFill/>
        </p:spPr>
        <p:txBody>
          <a:bodyPr wrap="square">
            <a:spAutoFit/>
          </a:bodyPr>
          <a:lstStyle/>
          <a:p>
            <a:pPr algn="ctr"/>
            <a:r>
              <a:rPr sz="1300" b="0" i="0">
                <a:solidFill>
                  <a:srgbClr val="555555"/>
                </a:solidFill>
              </a:rPr>
              <a:t>Data från en enskild källa.
Inget komplext resonemang.</a:t>
            </a:r>
          </a:p>
        </p:txBody>
      </p:sp>
      <p:sp>
        <p:nvSpPr>
          <p:cNvPr id="22" name="TextBox 21"/>
          <p:cNvSpPr txBox="1"/>
          <p:nvPr/>
        </p:nvSpPr>
        <p:spPr>
          <a:xfrm>
            <a:off x="502920" y="5212080"/>
            <a:ext cx="3429000" cy="365760"/>
          </a:xfrm>
          <a:prstGeom prst="rect">
            <a:avLst/>
          </a:prstGeom>
          <a:noFill/>
        </p:spPr>
        <p:txBody>
          <a:bodyPr wrap="square">
            <a:spAutoFit/>
          </a:bodyPr>
          <a:lstStyle/>
          <a:p>
            <a:pPr algn="ctr"/>
            <a:r>
              <a:rPr sz="1100" b="0" i="1">
                <a:solidFill>
                  <a:srgbClr val="999999"/>
                </a:solidFill>
              </a:rPr>
              <a:t>Mäts: korrekthet · anrop · tid</a:t>
            </a:r>
          </a:p>
        </p:txBody>
      </p:sp>
      <p:sp>
        <p:nvSpPr>
          <p:cNvPr id="23" name="Rectangle 22"/>
          <p:cNvSpPr/>
          <p:nvPr/>
        </p:nvSpPr>
        <p:spPr>
          <a:xfrm>
            <a:off x="4251960" y="2926080"/>
            <a:ext cx="3703320" cy="361188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43400" y="3017520"/>
            <a:ext cx="3520440" cy="594360"/>
          </a:xfrm>
          <a:prstGeom prst="rect">
            <a:avLst/>
          </a:prstGeom>
          <a:noFill/>
        </p:spPr>
        <p:txBody>
          <a:bodyPr wrap="square">
            <a:spAutoFit/>
          </a:bodyPr>
          <a:lstStyle/>
          <a:p>
            <a:pPr algn="l"/>
            <a:r>
              <a:rPr sz="1500" b="1" i="0">
                <a:solidFill>
                  <a:srgbClr val="F26522"/>
                </a:solidFill>
              </a:rPr>
              <a:t>Medelsvåra  Q6–Q10</a:t>
            </a:r>
          </a:p>
        </p:txBody>
      </p:sp>
      <p:sp>
        <p:nvSpPr>
          <p:cNvPr id="25" name="Rectangle 24"/>
          <p:cNvSpPr/>
          <p:nvPr/>
        </p:nvSpPr>
        <p:spPr>
          <a:xfrm>
            <a:off x="4526280" y="3703320"/>
            <a:ext cx="3154680"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9120" y="3840480"/>
            <a:ext cx="3429000" cy="1188720"/>
          </a:xfrm>
          <a:prstGeom prst="rect">
            <a:avLst/>
          </a:prstGeom>
          <a:noFill/>
        </p:spPr>
        <p:txBody>
          <a:bodyPr wrap="square">
            <a:spAutoFit/>
          </a:bodyPr>
          <a:lstStyle/>
          <a:p>
            <a:pPr algn="ctr"/>
            <a:r>
              <a:rPr sz="1300" b="0" i="0">
                <a:solidFill>
                  <a:srgbClr val="555555"/>
                </a:solidFill>
              </a:rPr>
              <a:t>Mer resonemang krävs.
Flera anrop från en källa.</a:t>
            </a:r>
          </a:p>
        </p:txBody>
      </p:sp>
      <p:sp>
        <p:nvSpPr>
          <p:cNvPr id="27" name="TextBox 26"/>
          <p:cNvSpPr txBox="1"/>
          <p:nvPr/>
        </p:nvSpPr>
        <p:spPr>
          <a:xfrm>
            <a:off x="4389120" y="5212080"/>
            <a:ext cx="3429000" cy="365760"/>
          </a:xfrm>
          <a:prstGeom prst="rect">
            <a:avLst/>
          </a:prstGeom>
          <a:noFill/>
        </p:spPr>
        <p:txBody>
          <a:bodyPr wrap="square">
            <a:spAutoFit/>
          </a:bodyPr>
          <a:lstStyle/>
          <a:p>
            <a:pPr algn="ctr"/>
            <a:r>
              <a:rPr sz="1100" b="0" i="1">
                <a:solidFill>
                  <a:srgbClr val="999999"/>
                </a:solidFill>
              </a:rPr>
              <a:t>Mäts: korrekthet · anrop · tid</a:t>
            </a:r>
          </a:p>
        </p:txBody>
      </p:sp>
      <p:sp>
        <p:nvSpPr>
          <p:cNvPr id="28" name="Rectangle 27"/>
          <p:cNvSpPr/>
          <p:nvPr/>
        </p:nvSpPr>
        <p:spPr>
          <a:xfrm>
            <a:off x="8138160" y="2926080"/>
            <a:ext cx="3703320" cy="361188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0" y="3017520"/>
            <a:ext cx="3520440" cy="594360"/>
          </a:xfrm>
          <a:prstGeom prst="rect">
            <a:avLst/>
          </a:prstGeom>
          <a:noFill/>
        </p:spPr>
        <p:txBody>
          <a:bodyPr wrap="square">
            <a:spAutoFit/>
          </a:bodyPr>
          <a:lstStyle/>
          <a:p>
            <a:pPr algn="l"/>
            <a:r>
              <a:rPr sz="1500" b="1" i="0">
                <a:solidFill>
                  <a:srgbClr val="E74C3C"/>
                </a:solidFill>
              </a:rPr>
              <a:t>Komplexa  Q11–Q15</a:t>
            </a:r>
          </a:p>
        </p:txBody>
      </p:sp>
      <p:sp>
        <p:nvSpPr>
          <p:cNvPr id="30" name="Rectangle 29"/>
          <p:cNvSpPr/>
          <p:nvPr/>
        </p:nvSpPr>
        <p:spPr>
          <a:xfrm>
            <a:off x="8412480" y="3703320"/>
            <a:ext cx="3154680" cy="36576"/>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20" y="3840480"/>
            <a:ext cx="3429000" cy="1188720"/>
          </a:xfrm>
          <a:prstGeom prst="rect">
            <a:avLst/>
          </a:prstGeom>
          <a:noFill/>
        </p:spPr>
        <p:txBody>
          <a:bodyPr wrap="square">
            <a:spAutoFit/>
          </a:bodyPr>
          <a:lstStyle/>
          <a:p>
            <a:pPr algn="ctr"/>
            <a:r>
              <a:rPr sz="1300" b="0" i="0">
                <a:solidFill>
                  <a:srgbClr val="555555"/>
                </a:solidFill>
              </a:rPr>
              <a:t>Kopplingar mellan
olika datakällor krävs.</a:t>
            </a:r>
          </a:p>
        </p:txBody>
      </p:sp>
      <p:sp>
        <p:nvSpPr>
          <p:cNvPr id="32" name="TextBox 31"/>
          <p:cNvSpPr txBox="1"/>
          <p:nvPr/>
        </p:nvSpPr>
        <p:spPr>
          <a:xfrm>
            <a:off x="8275320" y="5212080"/>
            <a:ext cx="3429000" cy="365760"/>
          </a:xfrm>
          <a:prstGeom prst="rect">
            <a:avLst/>
          </a:prstGeom>
          <a:noFill/>
        </p:spPr>
        <p:txBody>
          <a:bodyPr wrap="square">
            <a:spAutoFit/>
          </a:bodyPr>
          <a:lstStyle/>
          <a:p>
            <a:pPr algn="ctr"/>
            <a:r>
              <a:rPr sz="1100" b="0" i="1">
                <a:solidFill>
                  <a:srgbClr val="999999"/>
                </a:solidFill>
              </a:rPr>
              <a:t>Mäts: korrekthet · anrop · tid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Systemarkitektur</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2834640"/>
            <a:ext cx="1828800" cy="91440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2907792"/>
            <a:ext cx="1737360" cy="768096"/>
          </a:xfrm>
          <a:prstGeom prst="rect">
            <a:avLst/>
          </a:prstGeom>
          <a:noFill/>
        </p:spPr>
        <p:txBody>
          <a:bodyPr wrap="square">
            <a:spAutoFit/>
          </a:bodyPr>
          <a:lstStyle/>
          <a:p>
            <a:pPr algn="ctr"/>
            <a:r>
              <a:rPr sz="1300" b="1" i="0">
                <a:solidFill>
                  <a:srgbClr val="1A1A1A"/>
                </a:solidFill>
              </a:rPr>
              <a:t>Användare</a:t>
            </a:r>
          </a:p>
        </p:txBody>
      </p:sp>
      <p:sp>
        <p:nvSpPr>
          <p:cNvPr id="8" name="Rectangle 7"/>
          <p:cNvSpPr/>
          <p:nvPr/>
        </p:nvSpPr>
        <p:spPr>
          <a:xfrm>
            <a:off x="2651760" y="2834640"/>
            <a:ext cx="2194560" cy="91440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97479" y="2907792"/>
            <a:ext cx="2103120" cy="768096"/>
          </a:xfrm>
          <a:prstGeom prst="rect">
            <a:avLst/>
          </a:prstGeom>
          <a:noFill/>
        </p:spPr>
        <p:txBody>
          <a:bodyPr wrap="square">
            <a:spAutoFit/>
          </a:bodyPr>
          <a:lstStyle/>
          <a:p>
            <a:pPr algn="ctr"/>
            <a:r>
              <a:rPr sz="1300" b="1" i="0">
                <a:solidFill>
                  <a:srgbClr val="1A1A1A"/>
                </a:solidFill>
              </a:rPr>
              <a:t>Cherry Studio
(UI + chatt)</a:t>
            </a:r>
          </a:p>
        </p:txBody>
      </p:sp>
      <p:sp>
        <p:nvSpPr>
          <p:cNvPr id="10" name="Rectangle 9"/>
          <p:cNvSpPr/>
          <p:nvPr/>
        </p:nvSpPr>
        <p:spPr>
          <a:xfrm>
            <a:off x="5394960" y="1554480"/>
            <a:ext cx="2194560" cy="91440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40680" y="1627632"/>
            <a:ext cx="2103120" cy="768096"/>
          </a:xfrm>
          <a:prstGeom prst="rect">
            <a:avLst/>
          </a:prstGeom>
          <a:noFill/>
        </p:spPr>
        <p:txBody>
          <a:bodyPr wrap="square">
            <a:spAutoFit/>
          </a:bodyPr>
          <a:lstStyle/>
          <a:p>
            <a:pPr algn="ctr"/>
            <a:r>
              <a:rPr sz="1300" b="1" i="0">
                <a:solidFill>
                  <a:srgbClr val="1A1A1A"/>
                </a:solidFill>
              </a:rPr>
              <a:t>LLM</a:t>
            </a:r>
          </a:p>
        </p:txBody>
      </p:sp>
      <p:sp>
        <p:nvSpPr>
          <p:cNvPr id="12" name="Rectangle 11"/>
          <p:cNvSpPr/>
          <p:nvPr/>
        </p:nvSpPr>
        <p:spPr>
          <a:xfrm>
            <a:off x="5394960" y="3840480"/>
            <a:ext cx="2194560" cy="91440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40680" y="3913632"/>
            <a:ext cx="2103120" cy="768096"/>
          </a:xfrm>
          <a:prstGeom prst="rect">
            <a:avLst/>
          </a:prstGeom>
          <a:noFill/>
        </p:spPr>
        <p:txBody>
          <a:bodyPr wrap="square">
            <a:spAutoFit/>
          </a:bodyPr>
          <a:lstStyle/>
          <a:p>
            <a:pPr algn="ctr"/>
            <a:r>
              <a:rPr sz="1300" b="1" i="0">
                <a:solidFill>
                  <a:srgbClr val="1A1A1A"/>
                </a:solidFill>
              </a:rPr>
              <a:t>MCP Server</a:t>
            </a:r>
          </a:p>
        </p:txBody>
      </p:sp>
      <p:sp>
        <p:nvSpPr>
          <p:cNvPr id="14" name="Rectangle 13"/>
          <p:cNvSpPr/>
          <p:nvPr/>
        </p:nvSpPr>
        <p:spPr>
          <a:xfrm>
            <a:off x="8412480" y="1554480"/>
            <a:ext cx="3566160" cy="91440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27632"/>
            <a:ext cx="3474720" cy="768096"/>
          </a:xfrm>
          <a:prstGeom prst="rect">
            <a:avLst/>
          </a:prstGeom>
          <a:noFill/>
        </p:spPr>
        <p:txBody>
          <a:bodyPr wrap="square">
            <a:spAutoFit/>
          </a:bodyPr>
          <a:lstStyle/>
          <a:p>
            <a:pPr algn="ctr"/>
            <a:r>
              <a:rPr sz="1300" b="1" i="0">
                <a:solidFill>
                  <a:srgbClr val="1A1A1A"/>
                </a:solidFill>
              </a:rPr>
              <a:t>Lösning 1: Graf
(Neo4j)</a:t>
            </a:r>
          </a:p>
        </p:txBody>
      </p:sp>
      <p:sp>
        <p:nvSpPr>
          <p:cNvPr id="16" name="Rectangle 15"/>
          <p:cNvSpPr/>
          <p:nvPr/>
        </p:nvSpPr>
        <p:spPr>
          <a:xfrm>
            <a:off x="8412480" y="3840480"/>
            <a:ext cx="3566160" cy="91440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58200" y="3913632"/>
            <a:ext cx="3474720" cy="768096"/>
          </a:xfrm>
          <a:prstGeom prst="rect">
            <a:avLst/>
          </a:prstGeom>
          <a:noFill/>
        </p:spPr>
        <p:txBody>
          <a:bodyPr wrap="square">
            <a:spAutoFit/>
          </a:bodyPr>
          <a:lstStyle/>
          <a:p>
            <a:pPr algn="ctr"/>
            <a:r>
              <a:rPr sz="1300" b="1" i="0">
                <a:solidFill>
                  <a:srgbClr val="1A1A1A"/>
                </a:solidFill>
              </a:rPr>
              <a:t>Lösning 2: API
GitHub/Slack/Confluence</a:t>
            </a:r>
          </a:p>
        </p:txBody>
      </p:sp>
      <p:sp>
        <p:nvSpPr>
          <p:cNvPr id="18" name="TextBox 17"/>
          <p:cNvSpPr txBox="1"/>
          <p:nvPr/>
        </p:nvSpPr>
        <p:spPr>
          <a:xfrm>
            <a:off x="2103120" y="3154680"/>
            <a:ext cx="594360" cy="457200"/>
          </a:xfrm>
          <a:prstGeom prst="rect">
            <a:avLst/>
          </a:prstGeom>
          <a:noFill/>
        </p:spPr>
        <p:txBody>
          <a:bodyPr wrap="square">
            <a:spAutoFit/>
          </a:bodyPr>
          <a:lstStyle/>
          <a:p>
            <a:pPr algn="ctr"/>
            <a:r>
              <a:rPr sz="2200" b="0" i="0">
                <a:solidFill>
                  <a:srgbClr val="F26522"/>
                </a:solidFill>
              </a:rPr>
              <a:t>→</a:t>
            </a:r>
          </a:p>
        </p:txBody>
      </p:sp>
      <p:sp>
        <p:nvSpPr>
          <p:cNvPr id="19" name="TextBox 18"/>
          <p:cNvSpPr txBox="1"/>
          <p:nvPr/>
        </p:nvSpPr>
        <p:spPr>
          <a:xfrm>
            <a:off x="6263640" y="1920240"/>
            <a:ext cx="457200" cy="457200"/>
          </a:xfrm>
          <a:prstGeom prst="rect">
            <a:avLst/>
          </a:prstGeom>
          <a:noFill/>
        </p:spPr>
        <p:txBody>
          <a:bodyPr wrap="square">
            <a:spAutoFit/>
          </a:bodyPr>
          <a:lstStyle/>
          <a:p>
            <a:pPr algn="ctr"/>
            <a:r>
              <a:rPr sz="1800" b="0" i="0">
                <a:solidFill>
                  <a:srgbClr val="2E86C1"/>
                </a:solidFill>
              </a:rPr>
              <a:t>↑↓</a:t>
            </a:r>
          </a:p>
        </p:txBody>
      </p:sp>
      <p:sp>
        <p:nvSpPr>
          <p:cNvPr id="20" name="TextBox 19"/>
          <p:cNvSpPr txBox="1"/>
          <p:nvPr/>
        </p:nvSpPr>
        <p:spPr>
          <a:xfrm>
            <a:off x="6263640" y="4206240"/>
            <a:ext cx="457200" cy="457200"/>
          </a:xfrm>
          <a:prstGeom prst="rect">
            <a:avLst/>
          </a:prstGeom>
          <a:noFill/>
        </p:spPr>
        <p:txBody>
          <a:bodyPr wrap="square">
            <a:spAutoFit/>
          </a:bodyPr>
          <a:lstStyle/>
          <a:p>
            <a:pPr algn="ctr"/>
            <a:r>
              <a:rPr sz="1800" b="0" i="0">
                <a:solidFill>
                  <a:srgbClr val="F26522"/>
                </a:solidFill>
              </a:rPr>
              <a:t>↑↓</a:t>
            </a:r>
          </a:p>
        </p:txBody>
      </p:sp>
      <p:sp>
        <p:nvSpPr>
          <p:cNvPr id="21" name="TextBox 20"/>
          <p:cNvSpPr txBox="1"/>
          <p:nvPr/>
        </p:nvSpPr>
        <p:spPr>
          <a:xfrm>
            <a:off x="7635240" y="1874519"/>
            <a:ext cx="1005840" cy="320040"/>
          </a:xfrm>
          <a:prstGeom prst="rect">
            <a:avLst/>
          </a:prstGeom>
          <a:noFill/>
        </p:spPr>
        <p:txBody>
          <a:bodyPr wrap="square">
            <a:spAutoFit/>
          </a:bodyPr>
          <a:lstStyle/>
          <a:p>
            <a:pPr algn="l"/>
            <a:r>
              <a:rPr sz="1100" b="0" i="1">
                <a:solidFill>
                  <a:srgbClr val="27AE60"/>
                </a:solidFill>
              </a:rPr>
              <a:t>Cypher →</a:t>
            </a:r>
          </a:p>
        </p:txBody>
      </p:sp>
      <p:sp>
        <p:nvSpPr>
          <p:cNvPr id="22" name="TextBox 21"/>
          <p:cNvSpPr txBox="1"/>
          <p:nvPr/>
        </p:nvSpPr>
        <p:spPr>
          <a:xfrm>
            <a:off x="7635240" y="4206240"/>
            <a:ext cx="1005840" cy="320040"/>
          </a:xfrm>
          <a:prstGeom prst="rect">
            <a:avLst/>
          </a:prstGeom>
          <a:noFill/>
        </p:spPr>
        <p:txBody>
          <a:bodyPr wrap="square">
            <a:spAutoFit/>
          </a:bodyPr>
          <a:lstStyle/>
          <a:p>
            <a:pPr algn="l"/>
            <a:r>
              <a:rPr sz="1100" b="0" i="1">
                <a:solidFill>
                  <a:srgbClr val="E74C3C"/>
                </a:solidFill>
              </a:rPr>
              <a:t>REST →</a:t>
            </a:r>
          </a:p>
        </p:txBody>
      </p:sp>
      <p:sp>
        <p:nvSpPr>
          <p:cNvPr id="23" name="Rectangle 22"/>
          <p:cNvSpPr/>
          <p:nvPr/>
        </p:nvSpPr>
        <p:spPr>
          <a:xfrm>
            <a:off x="365760" y="5394960"/>
            <a:ext cx="11430000" cy="114300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532120"/>
            <a:ext cx="11155680" cy="822960"/>
          </a:xfrm>
          <a:prstGeom prst="rect">
            <a:avLst/>
          </a:prstGeom>
          <a:noFill/>
        </p:spPr>
        <p:txBody>
          <a:bodyPr wrap="square">
            <a:spAutoFit/>
          </a:bodyPr>
          <a:lstStyle/>
          <a:p>
            <a:pPr algn="ctr"/>
            <a:r>
              <a:rPr sz="1300" b="0" i="0">
                <a:solidFill>
                  <a:srgbClr val="555555"/>
                </a:solidFill>
              </a:rPr>
              <a:t>1. Fråga ställs  →  2. LLM väljer verktyg  →  3. MCP kör verktyget  →  4. Data returneras  →  5. LLM formulerar svar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Lösning 1 — Grafbaserad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5486400" cy="53949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43000"/>
            <a:ext cx="5212080" cy="457200"/>
          </a:xfrm>
          <a:prstGeom prst="rect">
            <a:avLst/>
          </a:prstGeom>
          <a:noFill/>
        </p:spPr>
        <p:txBody>
          <a:bodyPr wrap="square">
            <a:spAutoFit/>
          </a:bodyPr>
          <a:lstStyle/>
          <a:p>
            <a:pPr algn="l"/>
            <a:r>
              <a:rPr sz="1700" b="1" i="0">
                <a:solidFill>
                  <a:srgbClr val="F26522"/>
                </a:solidFill>
              </a:rPr>
              <a:t>Hur det fungerar</a:t>
            </a:r>
          </a:p>
        </p:txBody>
      </p:sp>
      <p:sp>
        <p:nvSpPr>
          <p:cNvPr id="8" name="Rectangle 7"/>
          <p:cNvSpPr/>
          <p:nvPr/>
        </p:nvSpPr>
        <p:spPr>
          <a:xfrm>
            <a:off x="594360" y="173736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737360"/>
            <a:ext cx="411480" cy="411480"/>
          </a:xfrm>
          <a:prstGeom prst="rect">
            <a:avLst/>
          </a:prstGeom>
          <a:noFill/>
        </p:spPr>
        <p:txBody>
          <a:bodyPr wrap="square">
            <a:spAutoFit/>
          </a:bodyPr>
          <a:lstStyle/>
          <a:p>
            <a:pPr algn="ctr"/>
            <a:r>
              <a:rPr sz="1400" b="1" i="0">
                <a:solidFill>
                  <a:srgbClr val="FFFFFF"/>
                </a:solidFill>
              </a:rPr>
              <a:t>1</a:t>
            </a:r>
          </a:p>
        </p:txBody>
      </p:sp>
      <p:sp>
        <p:nvSpPr>
          <p:cNvPr id="10" name="TextBox 9"/>
          <p:cNvSpPr txBox="1"/>
          <p:nvPr/>
        </p:nvSpPr>
        <p:spPr>
          <a:xfrm>
            <a:off x="1097280" y="1737360"/>
            <a:ext cx="4663440" cy="777240"/>
          </a:xfrm>
          <a:prstGeom prst="rect">
            <a:avLst/>
          </a:prstGeom>
          <a:noFill/>
        </p:spPr>
        <p:txBody>
          <a:bodyPr wrap="square">
            <a:spAutoFit/>
          </a:bodyPr>
          <a:lstStyle/>
          <a:p>
            <a:pPr algn="l"/>
            <a:r>
              <a:rPr sz="1300" b="0" i="0">
                <a:solidFill>
                  <a:srgbClr val="1A1A1A"/>
                </a:solidFill>
              </a:rPr>
              <a:t>1.  LLM hämtar grafens schema
    (alla noder, relationer, attribut)</a:t>
            </a:r>
          </a:p>
        </p:txBody>
      </p:sp>
      <p:sp>
        <p:nvSpPr>
          <p:cNvPr id="11" name="Rectangle 10"/>
          <p:cNvSpPr/>
          <p:nvPr/>
        </p:nvSpPr>
        <p:spPr>
          <a:xfrm>
            <a:off x="594360" y="274320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743200"/>
            <a:ext cx="411480" cy="411480"/>
          </a:xfrm>
          <a:prstGeom prst="rect">
            <a:avLst/>
          </a:prstGeom>
          <a:noFill/>
        </p:spPr>
        <p:txBody>
          <a:bodyPr wrap="square">
            <a:spAutoFit/>
          </a:bodyPr>
          <a:lstStyle/>
          <a:p>
            <a:pPr algn="ctr"/>
            <a:r>
              <a:rPr sz="1400" b="1" i="0">
                <a:solidFill>
                  <a:srgbClr val="FFFFFF"/>
                </a:solidFill>
              </a:rPr>
              <a:t>2</a:t>
            </a:r>
          </a:p>
        </p:txBody>
      </p:sp>
      <p:sp>
        <p:nvSpPr>
          <p:cNvPr id="13" name="TextBox 12"/>
          <p:cNvSpPr txBox="1"/>
          <p:nvPr/>
        </p:nvSpPr>
        <p:spPr>
          <a:xfrm>
            <a:off x="1097280" y="2743200"/>
            <a:ext cx="4663440" cy="777240"/>
          </a:xfrm>
          <a:prstGeom prst="rect">
            <a:avLst/>
          </a:prstGeom>
          <a:noFill/>
        </p:spPr>
        <p:txBody>
          <a:bodyPr wrap="square">
            <a:spAutoFit/>
          </a:bodyPr>
          <a:lstStyle/>
          <a:p>
            <a:pPr algn="l"/>
            <a:r>
              <a:rPr sz="1300" b="0" i="0">
                <a:solidFill>
                  <a:srgbClr val="1A1A1A"/>
                </a:solidFill>
              </a:rPr>
              <a:t>2.  LLM genererar en Cypher-fråga
    baserat på schemat och frågan</a:t>
            </a:r>
          </a:p>
        </p:txBody>
      </p:sp>
      <p:sp>
        <p:nvSpPr>
          <p:cNvPr id="14" name="Rectangle 13"/>
          <p:cNvSpPr/>
          <p:nvPr/>
        </p:nvSpPr>
        <p:spPr>
          <a:xfrm>
            <a:off x="594360" y="3749039"/>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749039"/>
            <a:ext cx="411480" cy="411480"/>
          </a:xfrm>
          <a:prstGeom prst="rect">
            <a:avLst/>
          </a:prstGeom>
          <a:noFill/>
        </p:spPr>
        <p:txBody>
          <a:bodyPr wrap="square">
            <a:spAutoFit/>
          </a:bodyPr>
          <a:lstStyle/>
          <a:p>
            <a:pPr algn="ctr"/>
            <a:r>
              <a:rPr sz="1400" b="1" i="0">
                <a:solidFill>
                  <a:srgbClr val="FFFFFF"/>
                </a:solidFill>
              </a:rPr>
              <a:t>3</a:t>
            </a:r>
          </a:p>
        </p:txBody>
      </p:sp>
      <p:sp>
        <p:nvSpPr>
          <p:cNvPr id="16" name="TextBox 15"/>
          <p:cNvSpPr txBox="1"/>
          <p:nvPr/>
        </p:nvSpPr>
        <p:spPr>
          <a:xfrm>
            <a:off x="1097280" y="3749039"/>
            <a:ext cx="4663440" cy="777240"/>
          </a:xfrm>
          <a:prstGeom prst="rect">
            <a:avLst/>
          </a:prstGeom>
          <a:noFill/>
        </p:spPr>
        <p:txBody>
          <a:bodyPr wrap="square">
            <a:spAutoFit/>
          </a:bodyPr>
          <a:lstStyle/>
          <a:p>
            <a:pPr algn="l"/>
            <a:r>
              <a:rPr sz="1300" b="0" i="0">
                <a:solidFill>
                  <a:srgbClr val="1A1A1A"/>
                </a:solidFill>
              </a:rPr>
              <a:t>3.  Frågan körs mot Neo4j</a:t>
            </a:r>
          </a:p>
        </p:txBody>
      </p:sp>
      <p:sp>
        <p:nvSpPr>
          <p:cNvPr id="17" name="Rectangle 16"/>
          <p:cNvSpPr/>
          <p:nvPr/>
        </p:nvSpPr>
        <p:spPr>
          <a:xfrm>
            <a:off x="594360" y="475488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754880"/>
            <a:ext cx="411480" cy="411480"/>
          </a:xfrm>
          <a:prstGeom prst="rect">
            <a:avLst/>
          </a:prstGeom>
          <a:noFill/>
        </p:spPr>
        <p:txBody>
          <a:bodyPr wrap="square">
            <a:spAutoFit/>
          </a:bodyPr>
          <a:lstStyle/>
          <a:p>
            <a:pPr algn="ctr"/>
            <a:r>
              <a:rPr sz="1400" b="1" i="0">
                <a:solidFill>
                  <a:srgbClr val="FFFFFF"/>
                </a:solidFill>
              </a:rPr>
              <a:t>4</a:t>
            </a:r>
          </a:p>
        </p:txBody>
      </p:sp>
      <p:sp>
        <p:nvSpPr>
          <p:cNvPr id="19" name="TextBox 18"/>
          <p:cNvSpPr txBox="1"/>
          <p:nvPr/>
        </p:nvSpPr>
        <p:spPr>
          <a:xfrm>
            <a:off x="1097280" y="4754880"/>
            <a:ext cx="4663440" cy="777240"/>
          </a:xfrm>
          <a:prstGeom prst="rect">
            <a:avLst/>
          </a:prstGeom>
          <a:noFill/>
        </p:spPr>
        <p:txBody>
          <a:bodyPr wrap="square">
            <a:spAutoFit/>
          </a:bodyPr>
          <a:lstStyle/>
          <a:p>
            <a:pPr algn="l"/>
            <a:r>
              <a:rPr sz="1300" b="0" i="0">
                <a:solidFill>
                  <a:srgbClr val="1A1A1A"/>
                </a:solidFill>
              </a:rPr>
              <a:t>4.  Resultat returneras — klart</a:t>
            </a:r>
          </a:p>
        </p:txBody>
      </p:sp>
      <p:sp>
        <p:nvSpPr>
          <p:cNvPr id="20" name="Rectangle 19"/>
          <p:cNvSpPr/>
          <p:nvPr/>
        </p:nvSpPr>
        <p:spPr>
          <a:xfrm>
            <a:off x="594360" y="5806440"/>
            <a:ext cx="5212080" cy="502920"/>
          </a:xfrm>
          <a:prstGeom prst="rect">
            <a:avLst/>
          </a:prstGeom>
          <a:solidFill>
            <a:srgbClr val="FFFFFF"/>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52160"/>
            <a:ext cx="5120640" cy="411480"/>
          </a:xfrm>
          <a:prstGeom prst="rect">
            <a:avLst/>
          </a:prstGeom>
          <a:noFill/>
        </p:spPr>
        <p:txBody>
          <a:bodyPr wrap="square">
            <a:spAutoFit/>
          </a:bodyPr>
          <a:lstStyle/>
          <a:p>
            <a:pPr algn="ctr"/>
            <a:r>
              <a:rPr sz="1300" b="1" i="0">
                <a:solidFill>
                  <a:srgbClr val="27AE60"/>
                </a:solidFill>
              </a:rPr>
              <a:t>Totalt: 2 verktyg  (get_schema + execute_query)</a:t>
            </a:r>
          </a:p>
        </p:txBody>
      </p:sp>
      <p:sp>
        <p:nvSpPr>
          <p:cNvPr id="22" name="Rectangle 21"/>
          <p:cNvSpPr/>
          <p:nvPr/>
        </p:nvSpPr>
        <p:spPr>
          <a:xfrm>
            <a:off x="6217920" y="1051560"/>
            <a:ext cx="5669280" cy="539496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3520439"/>
            <a:ext cx="5669280" cy="457200"/>
          </a:xfrm>
          <a:prstGeom prst="rect">
            <a:avLst/>
          </a:prstGeom>
          <a:noFill/>
        </p:spPr>
        <p:txBody>
          <a:bodyPr wrap="square">
            <a:spAutoFit/>
          </a:bodyPr>
          <a:lstStyle/>
          <a:p>
            <a:pPr algn="ctr"/>
            <a:r>
              <a:rPr sz="1300" b="0" i="1">
                <a:solidFill>
                  <a:srgbClr val="555555"/>
                </a:solidFill>
              </a:rPr>
              <a:t>[ BILD: Exempelflöde /
Neo4j visualisering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Lösning 2 — API-baserad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400" b="0" i="1">
                <a:solidFill>
                  <a:srgbClr val="F26522"/>
                </a:solidFill>
              </a:rPr>
              <a:t>Ingen central lagring — data hämtas i realtid direkt från systemens API:er</a:t>
            </a:r>
          </a:p>
        </p:txBody>
      </p:sp>
      <p:sp>
        <p:nvSpPr>
          <p:cNvPr id="7" name="Rectangle 6"/>
          <p:cNvSpPr/>
          <p:nvPr/>
        </p:nvSpPr>
        <p:spPr>
          <a:xfrm>
            <a:off x="365760" y="1554480"/>
            <a:ext cx="3657600" cy="5943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600200"/>
            <a:ext cx="3657600" cy="502920"/>
          </a:xfrm>
          <a:prstGeom prst="rect">
            <a:avLst/>
          </a:prstGeom>
          <a:noFill/>
        </p:spPr>
        <p:txBody>
          <a:bodyPr wrap="square">
            <a:spAutoFit/>
          </a:bodyPr>
          <a:lstStyle/>
          <a:p>
            <a:pPr algn="ctr"/>
            <a:r>
              <a:rPr sz="1500" b="1" i="0">
                <a:solidFill>
                  <a:srgbClr val="FFFFFF"/>
                </a:solidFill>
              </a:rPr>
              <a:t>GitHub  —  8 verktyg</a:t>
            </a:r>
          </a:p>
        </p:txBody>
      </p:sp>
      <p:sp>
        <p:nvSpPr>
          <p:cNvPr id="9" name="Rectangle 8"/>
          <p:cNvSpPr/>
          <p:nvPr/>
        </p:nvSpPr>
        <p:spPr>
          <a:xfrm>
            <a:off x="36576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86000"/>
            <a:ext cx="3474720" cy="384048"/>
          </a:xfrm>
          <a:prstGeom prst="rect">
            <a:avLst/>
          </a:prstGeom>
          <a:noFill/>
        </p:spPr>
        <p:txBody>
          <a:bodyPr wrap="square">
            <a:spAutoFit/>
          </a:bodyPr>
          <a:lstStyle/>
          <a:p>
            <a:pPr algn="l"/>
            <a:r>
              <a:rPr sz="1200" b="0" i="0">
                <a:solidFill>
                  <a:srgbClr val="555555"/>
                </a:solidFill>
              </a:rPr>
              <a:t>  get_repositories</a:t>
            </a:r>
          </a:p>
        </p:txBody>
      </p:sp>
      <p:sp>
        <p:nvSpPr>
          <p:cNvPr id="11" name="Rectangle 10"/>
          <p:cNvSpPr/>
          <p:nvPr/>
        </p:nvSpPr>
        <p:spPr>
          <a:xfrm>
            <a:off x="36576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816352"/>
            <a:ext cx="3474720" cy="384048"/>
          </a:xfrm>
          <a:prstGeom prst="rect">
            <a:avLst/>
          </a:prstGeom>
          <a:noFill/>
        </p:spPr>
        <p:txBody>
          <a:bodyPr wrap="square">
            <a:spAutoFit/>
          </a:bodyPr>
          <a:lstStyle/>
          <a:p>
            <a:pPr algn="l"/>
            <a:r>
              <a:rPr sz="1200" b="0" i="0">
                <a:solidFill>
                  <a:srgbClr val="555555"/>
                </a:solidFill>
              </a:rPr>
              <a:t>  get_commits</a:t>
            </a:r>
          </a:p>
        </p:txBody>
      </p:sp>
      <p:sp>
        <p:nvSpPr>
          <p:cNvPr id="13" name="Rectangle 12"/>
          <p:cNvSpPr/>
          <p:nvPr/>
        </p:nvSpPr>
        <p:spPr>
          <a:xfrm>
            <a:off x="36576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346704"/>
            <a:ext cx="3474720" cy="384048"/>
          </a:xfrm>
          <a:prstGeom prst="rect">
            <a:avLst/>
          </a:prstGeom>
          <a:noFill/>
        </p:spPr>
        <p:txBody>
          <a:bodyPr wrap="square">
            <a:spAutoFit/>
          </a:bodyPr>
          <a:lstStyle/>
          <a:p>
            <a:pPr algn="l"/>
            <a:r>
              <a:rPr sz="1200" b="0" i="0">
                <a:solidFill>
                  <a:srgbClr val="555555"/>
                </a:solidFill>
              </a:rPr>
              <a:t>  get_issues</a:t>
            </a:r>
          </a:p>
        </p:txBody>
      </p:sp>
      <p:sp>
        <p:nvSpPr>
          <p:cNvPr id="15" name="Rectangle 14"/>
          <p:cNvSpPr/>
          <p:nvPr/>
        </p:nvSpPr>
        <p:spPr>
          <a:xfrm>
            <a:off x="36576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877056"/>
            <a:ext cx="3474720" cy="384048"/>
          </a:xfrm>
          <a:prstGeom prst="rect">
            <a:avLst/>
          </a:prstGeom>
          <a:noFill/>
        </p:spPr>
        <p:txBody>
          <a:bodyPr wrap="square">
            <a:spAutoFit/>
          </a:bodyPr>
          <a:lstStyle/>
          <a:p>
            <a:pPr algn="l"/>
            <a:r>
              <a:rPr sz="1200" b="0" i="0">
                <a:solidFill>
                  <a:srgbClr val="555555"/>
                </a:solidFill>
              </a:rPr>
              <a:t>  get_active_users</a:t>
            </a:r>
          </a:p>
        </p:txBody>
      </p:sp>
      <p:sp>
        <p:nvSpPr>
          <p:cNvPr id="17" name="Rectangle 16"/>
          <p:cNvSpPr/>
          <p:nvPr/>
        </p:nvSpPr>
        <p:spPr>
          <a:xfrm>
            <a:off x="36576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407408"/>
            <a:ext cx="3474720" cy="384048"/>
          </a:xfrm>
          <a:prstGeom prst="rect">
            <a:avLst/>
          </a:prstGeom>
          <a:noFill/>
        </p:spPr>
        <p:txBody>
          <a:bodyPr wrap="square">
            <a:spAutoFit/>
          </a:bodyPr>
          <a:lstStyle/>
          <a:p>
            <a:pPr algn="l"/>
            <a:r>
              <a:rPr sz="1200" b="0" i="0">
                <a:solidFill>
                  <a:srgbClr val="555555"/>
                </a:solidFill>
              </a:rPr>
              <a:t>  get_org_members</a:t>
            </a:r>
          </a:p>
        </p:txBody>
      </p:sp>
      <p:sp>
        <p:nvSpPr>
          <p:cNvPr id="19" name="Rectangle 18"/>
          <p:cNvSpPr/>
          <p:nvPr/>
        </p:nvSpPr>
        <p:spPr>
          <a:xfrm>
            <a:off x="365760" y="489204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937760"/>
            <a:ext cx="3474720" cy="384048"/>
          </a:xfrm>
          <a:prstGeom prst="rect">
            <a:avLst/>
          </a:prstGeom>
          <a:noFill/>
        </p:spPr>
        <p:txBody>
          <a:bodyPr wrap="square">
            <a:spAutoFit/>
          </a:bodyPr>
          <a:lstStyle/>
          <a:p>
            <a:pPr algn="l"/>
            <a:r>
              <a:rPr sz="1200" b="0" i="0">
                <a:solidFill>
                  <a:srgbClr val="555555"/>
                </a:solidFill>
              </a:rPr>
              <a:t>  ...</a:t>
            </a:r>
          </a:p>
        </p:txBody>
      </p:sp>
      <p:sp>
        <p:nvSpPr>
          <p:cNvPr id="21" name="Rectangle 20"/>
          <p:cNvSpPr/>
          <p:nvPr/>
        </p:nvSpPr>
        <p:spPr>
          <a:xfrm>
            <a:off x="4297680" y="1554480"/>
            <a:ext cx="3657600" cy="5943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600200"/>
            <a:ext cx="3657600" cy="502920"/>
          </a:xfrm>
          <a:prstGeom prst="rect">
            <a:avLst/>
          </a:prstGeom>
          <a:noFill/>
        </p:spPr>
        <p:txBody>
          <a:bodyPr wrap="square">
            <a:spAutoFit/>
          </a:bodyPr>
          <a:lstStyle/>
          <a:p>
            <a:pPr algn="ctr"/>
            <a:r>
              <a:rPr sz="1500" b="1" i="0">
                <a:solidFill>
                  <a:srgbClr val="FFFFFF"/>
                </a:solidFill>
              </a:rPr>
              <a:t>Slack  —  5 verktyg</a:t>
            </a:r>
          </a:p>
        </p:txBody>
      </p:sp>
      <p:sp>
        <p:nvSpPr>
          <p:cNvPr id="23" name="Rectangle 22"/>
          <p:cNvSpPr/>
          <p:nvPr/>
        </p:nvSpPr>
        <p:spPr>
          <a:xfrm>
            <a:off x="429768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0" y="2286000"/>
            <a:ext cx="3474720" cy="384048"/>
          </a:xfrm>
          <a:prstGeom prst="rect">
            <a:avLst/>
          </a:prstGeom>
          <a:noFill/>
        </p:spPr>
        <p:txBody>
          <a:bodyPr wrap="square">
            <a:spAutoFit/>
          </a:bodyPr>
          <a:lstStyle/>
          <a:p>
            <a:pPr algn="l"/>
            <a:r>
              <a:rPr sz="1200" b="0" i="0">
                <a:solidFill>
                  <a:srgbClr val="555555"/>
                </a:solidFill>
              </a:rPr>
              <a:t>  get_channels</a:t>
            </a:r>
          </a:p>
        </p:txBody>
      </p:sp>
      <p:sp>
        <p:nvSpPr>
          <p:cNvPr id="25" name="Rectangle 24"/>
          <p:cNvSpPr/>
          <p:nvPr/>
        </p:nvSpPr>
        <p:spPr>
          <a:xfrm>
            <a:off x="429768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9120" y="2816352"/>
            <a:ext cx="3474720" cy="384048"/>
          </a:xfrm>
          <a:prstGeom prst="rect">
            <a:avLst/>
          </a:prstGeom>
          <a:noFill/>
        </p:spPr>
        <p:txBody>
          <a:bodyPr wrap="square">
            <a:spAutoFit/>
          </a:bodyPr>
          <a:lstStyle/>
          <a:p>
            <a:pPr algn="l"/>
            <a:r>
              <a:rPr sz="1200" b="0" i="0">
                <a:solidFill>
                  <a:srgbClr val="555555"/>
                </a:solidFill>
              </a:rPr>
              <a:t>  get_messages</a:t>
            </a:r>
          </a:p>
        </p:txBody>
      </p:sp>
      <p:sp>
        <p:nvSpPr>
          <p:cNvPr id="27" name="Rectangle 26"/>
          <p:cNvSpPr/>
          <p:nvPr/>
        </p:nvSpPr>
        <p:spPr>
          <a:xfrm>
            <a:off x="429768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0" y="3346704"/>
            <a:ext cx="3474720" cy="384048"/>
          </a:xfrm>
          <a:prstGeom prst="rect">
            <a:avLst/>
          </a:prstGeom>
          <a:noFill/>
        </p:spPr>
        <p:txBody>
          <a:bodyPr wrap="square">
            <a:spAutoFit/>
          </a:bodyPr>
          <a:lstStyle/>
          <a:p>
            <a:pPr algn="l"/>
            <a:r>
              <a:rPr sz="1200" b="0" i="0">
                <a:solidFill>
                  <a:srgbClr val="555555"/>
                </a:solidFill>
              </a:rPr>
              <a:t>  get_users</a:t>
            </a:r>
          </a:p>
        </p:txBody>
      </p:sp>
      <p:sp>
        <p:nvSpPr>
          <p:cNvPr id="29" name="Rectangle 28"/>
          <p:cNvSpPr/>
          <p:nvPr/>
        </p:nvSpPr>
        <p:spPr>
          <a:xfrm>
            <a:off x="429768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0" y="3877056"/>
            <a:ext cx="3474720" cy="384048"/>
          </a:xfrm>
          <a:prstGeom prst="rect">
            <a:avLst/>
          </a:prstGeom>
          <a:noFill/>
        </p:spPr>
        <p:txBody>
          <a:bodyPr wrap="square">
            <a:spAutoFit/>
          </a:bodyPr>
          <a:lstStyle/>
          <a:p>
            <a:pPr algn="l"/>
            <a:r>
              <a:rPr sz="1200" b="0" i="0">
                <a:solidFill>
                  <a:srgbClr val="555555"/>
                </a:solidFill>
              </a:rPr>
              <a:t>  search_messages</a:t>
            </a:r>
          </a:p>
        </p:txBody>
      </p:sp>
      <p:sp>
        <p:nvSpPr>
          <p:cNvPr id="31" name="Rectangle 30"/>
          <p:cNvSpPr/>
          <p:nvPr/>
        </p:nvSpPr>
        <p:spPr>
          <a:xfrm>
            <a:off x="429768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0" y="4407408"/>
            <a:ext cx="3474720" cy="384048"/>
          </a:xfrm>
          <a:prstGeom prst="rect">
            <a:avLst/>
          </a:prstGeom>
          <a:noFill/>
        </p:spPr>
        <p:txBody>
          <a:bodyPr wrap="square">
            <a:spAutoFit/>
          </a:bodyPr>
          <a:lstStyle/>
          <a:p>
            <a:pPr algn="l"/>
            <a:r>
              <a:rPr sz="1200" b="0" i="0">
                <a:solidFill>
                  <a:srgbClr val="555555"/>
                </a:solidFill>
              </a:rPr>
              <a:t>  ...</a:t>
            </a:r>
          </a:p>
        </p:txBody>
      </p:sp>
      <p:sp>
        <p:nvSpPr>
          <p:cNvPr id="33" name="Rectangle 32"/>
          <p:cNvSpPr/>
          <p:nvPr/>
        </p:nvSpPr>
        <p:spPr>
          <a:xfrm>
            <a:off x="8229600" y="1554480"/>
            <a:ext cx="3657600" cy="59436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1600200"/>
            <a:ext cx="3657600" cy="502920"/>
          </a:xfrm>
          <a:prstGeom prst="rect">
            <a:avLst/>
          </a:prstGeom>
          <a:noFill/>
        </p:spPr>
        <p:txBody>
          <a:bodyPr wrap="square">
            <a:spAutoFit/>
          </a:bodyPr>
          <a:lstStyle/>
          <a:p>
            <a:pPr algn="ctr"/>
            <a:r>
              <a:rPr sz="1500" b="1" i="0">
                <a:solidFill>
                  <a:srgbClr val="FFFFFF"/>
                </a:solidFill>
              </a:rPr>
              <a:t>Confluence  —  7 verktyg</a:t>
            </a:r>
          </a:p>
        </p:txBody>
      </p:sp>
      <p:sp>
        <p:nvSpPr>
          <p:cNvPr id="35" name="Rectangle 34"/>
          <p:cNvSpPr/>
          <p:nvPr/>
        </p:nvSpPr>
        <p:spPr>
          <a:xfrm>
            <a:off x="822960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21040" y="2286000"/>
            <a:ext cx="3474720" cy="384048"/>
          </a:xfrm>
          <a:prstGeom prst="rect">
            <a:avLst/>
          </a:prstGeom>
          <a:noFill/>
        </p:spPr>
        <p:txBody>
          <a:bodyPr wrap="square">
            <a:spAutoFit/>
          </a:bodyPr>
          <a:lstStyle/>
          <a:p>
            <a:pPr algn="l"/>
            <a:r>
              <a:rPr sz="1200" b="0" i="0">
                <a:solidFill>
                  <a:srgbClr val="555555"/>
                </a:solidFill>
              </a:rPr>
              <a:t>  get_spaces</a:t>
            </a:r>
          </a:p>
        </p:txBody>
      </p:sp>
      <p:sp>
        <p:nvSpPr>
          <p:cNvPr id="37" name="Rectangle 36"/>
          <p:cNvSpPr/>
          <p:nvPr/>
        </p:nvSpPr>
        <p:spPr>
          <a:xfrm>
            <a:off x="822960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2816352"/>
            <a:ext cx="3474720" cy="384048"/>
          </a:xfrm>
          <a:prstGeom prst="rect">
            <a:avLst/>
          </a:prstGeom>
          <a:noFill/>
        </p:spPr>
        <p:txBody>
          <a:bodyPr wrap="square">
            <a:spAutoFit/>
          </a:bodyPr>
          <a:lstStyle/>
          <a:p>
            <a:pPr algn="l"/>
            <a:r>
              <a:rPr sz="1200" b="0" i="0">
                <a:solidFill>
                  <a:srgbClr val="555555"/>
                </a:solidFill>
              </a:rPr>
              <a:t>  get_pages</a:t>
            </a:r>
          </a:p>
        </p:txBody>
      </p:sp>
      <p:sp>
        <p:nvSpPr>
          <p:cNvPr id="39" name="Rectangle 38"/>
          <p:cNvSpPr/>
          <p:nvPr/>
        </p:nvSpPr>
        <p:spPr>
          <a:xfrm>
            <a:off x="822960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1040" y="3346704"/>
            <a:ext cx="3474720" cy="384048"/>
          </a:xfrm>
          <a:prstGeom prst="rect">
            <a:avLst/>
          </a:prstGeom>
          <a:noFill/>
        </p:spPr>
        <p:txBody>
          <a:bodyPr wrap="square">
            <a:spAutoFit/>
          </a:bodyPr>
          <a:lstStyle/>
          <a:p>
            <a:pPr algn="l"/>
            <a:r>
              <a:rPr sz="1200" b="0" i="0">
                <a:solidFill>
                  <a:srgbClr val="555555"/>
                </a:solidFill>
              </a:rPr>
              <a:t>  get_page_content</a:t>
            </a:r>
          </a:p>
        </p:txBody>
      </p:sp>
      <p:sp>
        <p:nvSpPr>
          <p:cNvPr id="41" name="Rectangle 40"/>
          <p:cNvSpPr/>
          <p:nvPr/>
        </p:nvSpPr>
        <p:spPr>
          <a:xfrm>
            <a:off x="822960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21040" y="3877056"/>
            <a:ext cx="3474720" cy="384048"/>
          </a:xfrm>
          <a:prstGeom prst="rect">
            <a:avLst/>
          </a:prstGeom>
          <a:noFill/>
        </p:spPr>
        <p:txBody>
          <a:bodyPr wrap="square">
            <a:spAutoFit/>
          </a:bodyPr>
          <a:lstStyle/>
          <a:p>
            <a:pPr algn="l"/>
            <a:r>
              <a:rPr sz="1200" b="0" i="0">
                <a:solidFill>
                  <a:srgbClr val="555555"/>
                </a:solidFill>
              </a:rPr>
              <a:t>  search_content</a:t>
            </a:r>
          </a:p>
        </p:txBody>
      </p:sp>
      <p:sp>
        <p:nvSpPr>
          <p:cNvPr id="43" name="Rectangle 42"/>
          <p:cNvSpPr/>
          <p:nvPr/>
        </p:nvSpPr>
        <p:spPr>
          <a:xfrm>
            <a:off x="822960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407408"/>
            <a:ext cx="3474720" cy="384048"/>
          </a:xfrm>
          <a:prstGeom prst="rect">
            <a:avLst/>
          </a:prstGeom>
          <a:noFill/>
        </p:spPr>
        <p:txBody>
          <a:bodyPr wrap="square">
            <a:spAutoFit/>
          </a:bodyPr>
          <a:lstStyle/>
          <a:p>
            <a:pPr algn="l"/>
            <a:r>
              <a:rPr sz="1200" b="0" i="0">
                <a:solidFill>
                  <a:srgbClr val="555555"/>
                </a:solidFill>
              </a:rPr>
              <a:t>  ...</a:t>
            </a:r>
          </a:p>
        </p:txBody>
      </p:sp>
      <p:sp>
        <p:nvSpPr>
          <p:cNvPr id="45" name="Rectangle 44"/>
          <p:cNvSpPr/>
          <p:nvPr/>
        </p:nvSpPr>
        <p:spPr>
          <a:xfrm>
            <a:off x="1737360" y="5989320"/>
            <a:ext cx="8686800" cy="5943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37360" y="6035040"/>
            <a:ext cx="8686800" cy="502920"/>
          </a:xfrm>
          <a:prstGeom prst="rect">
            <a:avLst/>
          </a:prstGeom>
          <a:noFill/>
        </p:spPr>
        <p:txBody>
          <a:bodyPr wrap="square">
            <a:spAutoFit/>
          </a:bodyPr>
          <a:lstStyle/>
          <a:p>
            <a:pPr algn="ctr"/>
            <a:r>
              <a:rPr sz="1400" b="1" i="0">
                <a:solidFill>
                  <a:srgbClr val="1A1A1A"/>
                </a:solidFill>
              </a:rPr>
              <a:t>Totalt: 20 verktyg   vs   2 verktyg i den grafbaserade lösningen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Demo</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600" b="0" i="1">
                <a:solidFill>
                  <a:srgbClr val="F26522"/>
                </a:solidFill>
              </a:rPr>
              <a:t>Förinspelad video — grafbaserade lösningen i aktion</a:t>
            </a:r>
          </a:p>
        </p:txBody>
      </p:sp>
      <p:sp>
        <p:nvSpPr>
          <p:cNvPr id="7" name="Rectangle 6"/>
          <p:cNvSpPr/>
          <p:nvPr/>
        </p:nvSpPr>
        <p:spPr>
          <a:xfrm>
            <a:off x="1371600" y="1554480"/>
            <a:ext cx="9445752" cy="484632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749039"/>
            <a:ext cx="9445752" cy="457200"/>
          </a:xfrm>
          <a:prstGeom prst="rect">
            <a:avLst/>
          </a:prstGeom>
          <a:noFill/>
        </p:spPr>
        <p:txBody>
          <a:bodyPr wrap="square">
            <a:spAutoFit/>
          </a:bodyPr>
          <a:lstStyle/>
          <a:p>
            <a:pPr algn="ctr"/>
            <a:r>
              <a:rPr sz="1300" b="0" i="1">
                <a:solidFill>
                  <a:srgbClr val="555555"/>
                </a:solidFill>
              </a:rPr>
              <a:t>[ VIDEO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Resultat — Korrekthet</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365760" y="1097280"/>
          <a:ext cx="6858000" cy="5394960"/>
        </p:xfrm>
        <a:graphic>
          <a:graphicData uri="http://schemas.openxmlformats.org/drawingml/2006/chart">
            <c:chart xmlns:c="http://schemas.openxmlformats.org/drawingml/2006/chart" r:id="rId2"/>
          </a:graphicData>
        </a:graphic>
      </p:graphicFrame>
      <p:sp>
        <p:nvSpPr>
          <p:cNvPr id="7" name="Rectangle 6"/>
          <p:cNvSpPr/>
          <p:nvPr/>
        </p:nvSpPr>
        <p:spPr>
          <a:xfrm>
            <a:off x="7498079" y="1188720"/>
            <a:ext cx="4480560" cy="100584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280160"/>
            <a:ext cx="4206240" cy="365760"/>
          </a:xfrm>
          <a:prstGeom prst="rect">
            <a:avLst/>
          </a:prstGeom>
          <a:noFill/>
        </p:spPr>
        <p:txBody>
          <a:bodyPr wrap="square">
            <a:spAutoFit/>
          </a:bodyPr>
          <a:lstStyle/>
          <a:p>
            <a:pPr algn="l"/>
            <a:r>
              <a:rPr sz="1400" b="1" i="0">
                <a:solidFill>
                  <a:srgbClr val="27AE60"/>
                </a:solidFill>
              </a:rPr>
              <a:t>Simpla:</a:t>
            </a:r>
          </a:p>
        </p:txBody>
      </p:sp>
      <p:sp>
        <p:nvSpPr>
          <p:cNvPr id="9" name="TextBox 8"/>
          <p:cNvSpPr txBox="1"/>
          <p:nvPr/>
        </p:nvSpPr>
        <p:spPr>
          <a:xfrm>
            <a:off x="7635240" y="1691640"/>
            <a:ext cx="4206240" cy="411480"/>
          </a:xfrm>
          <a:prstGeom prst="rect">
            <a:avLst/>
          </a:prstGeom>
          <a:noFill/>
        </p:spPr>
        <p:txBody>
          <a:bodyPr wrap="square">
            <a:spAutoFit/>
          </a:bodyPr>
          <a:lstStyle/>
          <a:p>
            <a:pPr algn="l"/>
            <a:r>
              <a:rPr sz="1600" b="1" i="0">
                <a:solidFill>
                  <a:srgbClr val="1A1A1A"/>
                </a:solidFill>
              </a:rPr>
              <a:t>Båda 100% ✓</a:t>
            </a:r>
          </a:p>
        </p:txBody>
      </p:sp>
      <p:sp>
        <p:nvSpPr>
          <p:cNvPr id="10" name="Rectangle 9"/>
          <p:cNvSpPr/>
          <p:nvPr/>
        </p:nvSpPr>
        <p:spPr>
          <a:xfrm>
            <a:off x="7498079" y="2377440"/>
            <a:ext cx="448056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2468880"/>
            <a:ext cx="4206240" cy="365760"/>
          </a:xfrm>
          <a:prstGeom prst="rect">
            <a:avLst/>
          </a:prstGeom>
          <a:noFill/>
        </p:spPr>
        <p:txBody>
          <a:bodyPr wrap="square">
            <a:spAutoFit/>
          </a:bodyPr>
          <a:lstStyle/>
          <a:p>
            <a:pPr algn="l"/>
            <a:r>
              <a:rPr sz="1400" b="1" i="0">
                <a:solidFill>
                  <a:srgbClr val="F26522"/>
                </a:solidFill>
              </a:rPr>
              <a:t>Medelsvåra:</a:t>
            </a:r>
          </a:p>
        </p:txBody>
      </p:sp>
      <p:sp>
        <p:nvSpPr>
          <p:cNvPr id="12" name="TextBox 11"/>
          <p:cNvSpPr txBox="1"/>
          <p:nvPr/>
        </p:nvSpPr>
        <p:spPr>
          <a:xfrm>
            <a:off x="7635240" y="2880360"/>
            <a:ext cx="4206240" cy="411480"/>
          </a:xfrm>
          <a:prstGeom prst="rect">
            <a:avLst/>
          </a:prstGeom>
          <a:noFill/>
        </p:spPr>
        <p:txBody>
          <a:bodyPr wrap="square">
            <a:spAutoFit/>
          </a:bodyPr>
          <a:lstStyle/>
          <a:p>
            <a:pPr algn="l"/>
            <a:r>
              <a:rPr sz="1600" b="1" i="0">
                <a:solidFill>
                  <a:srgbClr val="1A1A1A"/>
                </a:solidFill>
              </a:rPr>
              <a:t>Graf 80%  —  API 40%</a:t>
            </a:r>
          </a:p>
        </p:txBody>
      </p:sp>
      <p:sp>
        <p:nvSpPr>
          <p:cNvPr id="13" name="Rectangle 12"/>
          <p:cNvSpPr/>
          <p:nvPr/>
        </p:nvSpPr>
        <p:spPr>
          <a:xfrm>
            <a:off x="7498079" y="3566160"/>
            <a:ext cx="4480560" cy="100584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3657600"/>
            <a:ext cx="4206240" cy="365760"/>
          </a:xfrm>
          <a:prstGeom prst="rect">
            <a:avLst/>
          </a:prstGeom>
          <a:noFill/>
        </p:spPr>
        <p:txBody>
          <a:bodyPr wrap="square">
            <a:spAutoFit/>
          </a:bodyPr>
          <a:lstStyle/>
          <a:p>
            <a:pPr algn="l"/>
            <a:r>
              <a:rPr sz="1400" b="1" i="0">
                <a:solidFill>
                  <a:srgbClr val="E74C3C"/>
                </a:solidFill>
              </a:rPr>
              <a:t>Komplexa:</a:t>
            </a:r>
          </a:p>
        </p:txBody>
      </p:sp>
      <p:sp>
        <p:nvSpPr>
          <p:cNvPr id="15" name="TextBox 14"/>
          <p:cNvSpPr txBox="1"/>
          <p:nvPr/>
        </p:nvSpPr>
        <p:spPr>
          <a:xfrm>
            <a:off x="7635240" y="4069080"/>
            <a:ext cx="4206240" cy="411480"/>
          </a:xfrm>
          <a:prstGeom prst="rect">
            <a:avLst/>
          </a:prstGeom>
          <a:noFill/>
        </p:spPr>
        <p:txBody>
          <a:bodyPr wrap="square">
            <a:spAutoFit/>
          </a:bodyPr>
          <a:lstStyle/>
          <a:p>
            <a:pPr algn="l"/>
            <a:r>
              <a:rPr sz="1600" b="1" i="0">
                <a:solidFill>
                  <a:srgbClr val="1A1A1A"/>
                </a:solidFill>
              </a:rPr>
              <a:t>Graf 80%  —  API 20%</a:t>
            </a:r>
          </a:p>
        </p:txBody>
      </p:sp>
      <p:sp>
        <p:nvSpPr>
          <p:cNvPr id="16" name="Rectangle 15"/>
          <p:cNvSpPr/>
          <p:nvPr/>
        </p:nvSpPr>
        <p:spPr>
          <a:xfrm>
            <a:off x="7498079" y="4846320"/>
            <a:ext cx="4480560" cy="164592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4937760"/>
            <a:ext cx="4206240" cy="365760"/>
          </a:xfrm>
          <a:prstGeom prst="rect">
            <a:avLst/>
          </a:prstGeom>
          <a:noFill/>
        </p:spPr>
        <p:txBody>
          <a:bodyPr wrap="square">
            <a:spAutoFit/>
          </a:bodyPr>
          <a:lstStyle/>
          <a:p>
            <a:pPr algn="l"/>
            <a:r>
              <a:rPr sz="1400" b="1" i="0">
                <a:solidFill>
                  <a:srgbClr val="E74C3C"/>
                </a:solidFill>
              </a:rPr>
              <a:t>API:s problem:</a:t>
            </a:r>
          </a:p>
        </p:txBody>
      </p:sp>
      <p:sp>
        <p:nvSpPr>
          <p:cNvPr id="18" name="TextBox 17"/>
          <p:cNvSpPr txBox="1"/>
          <p:nvPr/>
        </p:nvSpPr>
        <p:spPr>
          <a:xfrm>
            <a:off x="7635240" y="5349240"/>
            <a:ext cx="4206240" cy="1051560"/>
          </a:xfrm>
          <a:prstGeom prst="rect">
            <a:avLst/>
          </a:prstGeom>
          <a:noFill/>
        </p:spPr>
        <p:txBody>
          <a:bodyPr wrap="square">
            <a:spAutoFit/>
          </a:bodyPr>
          <a:lstStyle/>
          <a:p>
            <a:pPr algn="l"/>
            <a:r>
              <a:rPr sz="1200" b="0" i="0">
                <a:solidFill>
                  <a:srgbClr val="555555"/>
                </a:solidFill>
              </a:rPr>
              <a:t>Kan ej länka identiteter
mellan system.
"isak29" i GitHub ≠
"Isak Lampell" i Slack?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Resultat — Verktygsanrop &amp; Svarstid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05840"/>
            <a:ext cx="5760720" cy="320040"/>
          </a:xfrm>
          <a:prstGeom prst="rect">
            <a:avLst/>
          </a:prstGeom>
          <a:noFill/>
        </p:spPr>
        <p:txBody>
          <a:bodyPr wrap="square">
            <a:spAutoFit/>
          </a:bodyPr>
          <a:lstStyle/>
          <a:p>
            <a:pPr algn="l"/>
            <a:r>
              <a:rPr sz="1200" b="1" i="0">
                <a:solidFill>
                  <a:srgbClr val="555555"/>
                </a:solidFill>
              </a:rPr>
              <a:t>Genomsnittliga verktygsanrop</a:t>
            </a:r>
          </a:p>
        </p:txBody>
      </p:sp>
      <p:graphicFrame>
        <p:nvGraphicFramePr>
          <p:cNvPr id="7" name="Chart 6"/>
          <p:cNvGraphicFramePr>
            <a:graphicFrameLocks noGrp="1"/>
          </p:cNvGraphicFramePr>
          <p:nvPr/>
        </p:nvGraphicFramePr>
        <p:xfrm>
          <a:off x="365760" y="1371600"/>
          <a:ext cx="5577840" cy="5120640"/>
        </p:xfrm>
        <a:graphic>
          <a:graphicData uri="http://schemas.openxmlformats.org/drawingml/2006/chart">
            <c:chart xmlns:c="http://schemas.openxmlformats.org/drawingml/2006/chart" r:id="rId2"/>
          </a:graphicData>
        </a:graphic>
      </p:graphicFrame>
      <p:sp>
        <p:nvSpPr>
          <p:cNvPr id="8" name="TextBox 7"/>
          <p:cNvSpPr txBox="1"/>
          <p:nvPr/>
        </p:nvSpPr>
        <p:spPr>
          <a:xfrm>
            <a:off x="6217920" y="1005840"/>
            <a:ext cx="5760720" cy="320040"/>
          </a:xfrm>
          <a:prstGeom prst="rect">
            <a:avLst/>
          </a:prstGeom>
          <a:noFill/>
        </p:spPr>
        <p:txBody>
          <a:bodyPr wrap="square">
            <a:spAutoFit/>
          </a:bodyPr>
          <a:lstStyle/>
          <a:p>
            <a:pPr algn="l"/>
            <a:r>
              <a:rPr sz="1200" b="1" i="0">
                <a:solidFill>
                  <a:srgbClr val="555555"/>
                </a:solidFill>
              </a:rPr>
              <a:t>Genomsnittlig svarstid (ms)</a:t>
            </a:r>
          </a:p>
        </p:txBody>
      </p:sp>
      <p:graphicFrame>
        <p:nvGraphicFramePr>
          <p:cNvPr id="9" name="Chart 8"/>
          <p:cNvGraphicFramePr>
            <a:graphicFrameLocks noGrp="1"/>
          </p:cNvGraphicFramePr>
          <p:nvPr/>
        </p:nvGraphicFramePr>
        <p:xfrm>
          <a:off x="6217920" y="1371600"/>
          <a:ext cx="5577840" cy="5120640"/>
        </p:xfrm>
        <a:graphic>
          <a:graphicData uri="http://schemas.openxmlformats.org/drawingml/2006/chart">
            <c:chart xmlns:c="http://schemas.openxmlformats.org/drawingml/2006/chart" r:id="rId3"/>
          </a:graphicData>
        </a:graphic>
      </p:graphicFrame>
      <p:sp>
        <p:nvSpPr>
          <p:cNvPr id="10" name="Rectangle 9"/>
          <p:cNvSpPr/>
          <p:nvPr/>
        </p:nvSpPr>
        <p:spPr>
          <a:xfrm>
            <a:off x="6089904" y="1005840"/>
            <a:ext cx="36576" cy="53949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Diskussion &amp; Slutsats</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5486400" cy="411480"/>
          </a:xfrm>
          <a:prstGeom prst="rect">
            <a:avLst/>
          </a:prstGeom>
          <a:noFill/>
        </p:spPr>
        <p:txBody>
          <a:bodyPr wrap="square">
            <a:spAutoFit/>
          </a:bodyPr>
          <a:lstStyle/>
          <a:p>
            <a:pPr algn="l"/>
            <a:r>
              <a:rPr sz="1600" b="1" i="0">
                <a:solidFill>
                  <a:srgbClr val="F26522"/>
                </a:solidFill>
              </a:rPr>
              <a:t>Vad visar resultaten?</a:t>
            </a:r>
          </a:p>
        </p:txBody>
      </p:sp>
      <p:sp>
        <p:nvSpPr>
          <p:cNvPr id="7" name="TextBox 6"/>
          <p:cNvSpPr txBox="1"/>
          <p:nvPr/>
        </p:nvSpPr>
        <p:spPr>
          <a:xfrm>
            <a:off x="640080" y="1554480"/>
            <a:ext cx="5303520" cy="4572000"/>
          </a:xfrm>
          <a:prstGeom prst="rect">
            <a:avLst/>
          </a:prstGeom>
          <a:noFill/>
        </p:spPr>
        <p:txBody>
          <a:bodyPr wrap="square">
            <a:spAutoFit/>
          </a:bodyPr>
          <a:lstStyle/>
          <a:p>
            <a:pPr>
              <a:spcBef>
                <a:spcPts val="400"/>
              </a:spcBef>
            </a:pPr>
            <a:r>
              <a:rPr sz="1300">
                <a:solidFill>
                  <a:srgbClr val="27AE60"/>
                </a:solidFill>
              </a:rPr>
              <a:t>+ Graf ger LLM:en tydliga relationer att följa</a:t>
            </a:r>
          </a:p>
          <a:p>
            <a:pPr>
              <a:spcBef>
                <a:spcPts val="400"/>
              </a:spcBef>
            </a:pPr>
            <a:r>
              <a:rPr sz="1300">
                <a:solidFill>
                  <a:srgbClr val="1A1A1A"/>
                </a:solidFill>
              </a:rPr>
              <a:t/>
            </a:r>
          </a:p>
          <a:p>
            <a:pPr>
              <a:spcBef>
                <a:spcPts val="400"/>
              </a:spcBef>
            </a:pPr>
            <a:r>
              <a:rPr sz="1300">
                <a:solidFill>
                  <a:srgbClr val="27AE60"/>
                </a:solidFill>
              </a:rPr>
              <a:t>+ En Cypher-fråga kan navigera hela grafen</a:t>
            </a:r>
          </a:p>
          <a:p>
            <a:pPr>
              <a:spcBef>
                <a:spcPts val="400"/>
              </a:spcBef>
            </a:pPr>
            <a:r>
              <a:rPr sz="1300">
                <a:solidFill>
                  <a:srgbClr val="1A1A1A"/>
                </a:solidFill>
              </a:rPr>
              <a:t/>
            </a:r>
          </a:p>
          <a:p>
            <a:pPr>
              <a:spcBef>
                <a:spcPts val="400"/>
              </a:spcBef>
            </a:pPr>
            <a:r>
              <a:rPr sz="1300">
                <a:solidFill>
                  <a:srgbClr val="E74C3C"/>
                </a:solidFill>
              </a:rPr>
              <a:t>− Schema-overhead vid varje anrop</a:t>
            </a:r>
          </a:p>
          <a:p>
            <a:pPr>
              <a:spcBef>
                <a:spcPts val="400"/>
              </a:spcBef>
            </a:pPr>
            <a:r>
              <a:rPr sz="1300">
                <a:solidFill>
                  <a:srgbClr val="1A1A1A"/>
                </a:solidFill>
              </a:rPr>
              <a:t/>
            </a:r>
          </a:p>
          <a:p>
            <a:pPr>
              <a:spcBef>
                <a:spcPts val="400"/>
              </a:spcBef>
            </a:pPr>
            <a:r>
              <a:rPr sz="1300">
                <a:solidFill>
                  <a:srgbClr val="E74C3C"/>
                </a:solidFill>
              </a:rPr>
              <a:t>− API kan ej länka identiteter mellan system</a:t>
            </a:r>
          </a:p>
          <a:p>
            <a:pPr>
              <a:spcBef>
                <a:spcPts val="400"/>
              </a:spcBef>
            </a:pPr>
            <a:r>
              <a:rPr sz="1300">
                <a:solidFill>
                  <a:srgbClr val="1A1A1A"/>
                </a:solidFill>
              </a:rPr>
              <a:t/>
            </a:r>
          </a:p>
          <a:p>
            <a:pPr>
              <a:spcBef>
                <a:spcPts val="400"/>
              </a:spcBef>
            </a:pPr>
            <a:r>
              <a:rPr sz="1300">
                <a:solidFill>
                  <a:srgbClr val="27AE60"/>
                </a:solidFill>
              </a:rPr>
              <a:t>+ API fungerar bra vid enkla frågor</a:t>
            </a:r>
          </a:p>
        </p:txBody>
      </p:sp>
      <p:sp>
        <p:nvSpPr>
          <p:cNvPr id="8" name="Rectangle 7"/>
          <p:cNvSpPr/>
          <p:nvPr/>
        </p:nvSpPr>
        <p:spPr>
          <a:xfrm>
            <a:off x="6309360" y="1005840"/>
            <a:ext cx="5577840" cy="40233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097280"/>
            <a:ext cx="5303520" cy="457200"/>
          </a:xfrm>
          <a:prstGeom prst="rect">
            <a:avLst/>
          </a:prstGeom>
          <a:noFill/>
        </p:spPr>
        <p:txBody>
          <a:bodyPr wrap="square">
            <a:spAutoFit/>
          </a:bodyPr>
          <a:lstStyle/>
          <a:p>
            <a:pPr algn="l"/>
            <a:r>
              <a:rPr sz="1800" b="1" i="0">
                <a:solidFill>
                  <a:srgbClr val="F26522"/>
                </a:solidFill>
              </a:rPr>
              <a:t>Slutsats</a:t>
            </a:r>
          </a:p>
        </p:txBody>
      </p:sp>
      <p:sp>
        <p:nvSpPr>
          <p:cNvPr id="10" name="TextBox 9"/>
          <p:cNvSpPr txBox="1"/>
          <p:nvPr/>
        </p:nvSpPr>
        <p:spPr>
          <a:xfrm>
            <a:off x="6446520" y="1691640"/>
            <a:ext cx="5303520" cy="3108960"/>
          </a:xfrm>
          <a:prstGeom prst="rect">
            <a:avLst/>
          </a:prstGeom>
          <a:noFill/>
        </p:spPr>
        <p:txBody>
          <a:bodyPr wrap="square">
            <a:spAutoFit/>
          </a:bodyPr>
          <a:lstStyle/>
          <a:p>
            <a:pPr algn="l"/>
            <a:r>
              <a:rPr sz="1400" b="0" i="0">
                <a:solidFill>
                  <a:srgbClr val="1A1A1A"/>
                </a:solidFill>
              </a:rPr>
              <a:t>En grafbaserad representation ger LLM:en tydliga fördelar när information behöver kombineras från olika källor.
Den ger LLM:en tydliga relationer som är enkla att följa.
API-lösningen fungerar bra för frågor mot enskilda system.</a:t>
            </a:r>
          </a:p>
        </p:txBody>
      </p:sp>
      <p:sp>
        <p:nvSpPr>
          <p:cNvPr id="11" name="Rectangle 10"/>
          <p:cNvSpPr/>
          <p:nvPr/>
        </p:nvSpPr>
        <p:spPr>
          <a:xfrm>
            <a:off x="6309360" y="5212080"/>
            <a:ext cx="5577840" cy="132588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5303520"/>
            <a:ext cx="5303520" cy="365760"/>
          </a:xfrm>
          <a:prstGeom prst="rect">
            <a:avLst/>
          </a:prstGeom>
          <a:noFill/>
        </p:spPr>
        <p:txBody>
          <a:bodyPr wrap="square">
            <a:spAutoFit/>
          </a:bodyPr>
          <a:lstStyle/>
          <a:p>
            <a:pPr algn="l"/>
            <a:r>
              <a:rPr sz="1400" b="1" i="0">
                <a:solidFill>
                  <a:srgbClr val="27AE60"/>
                </a:solidFill>
              </a:rPr>
              <a:t>Framtida arbete</a:t>
            </a:r>
          </a:p>
        </p:txBody>
      </p:sp>
      <p:sp>
        <p:nvSpPr>
          <p:cNvPr id="13" name="TextBox 12"/>
          <p:cNvSpPr txBox="1"/>
          <p:nvPr/>
        </p:nvSpPr>
        <p:spPr>
          <a:xfrm>
            <a:off x="6446520" y="5715000"/>
            <a:ext cx="5303520" cy="685800"/>
          </a:xfrm>
          <a:prstGeom prst="rect">
            <a:avLst/>
          </a:prstGeom>
          <a:noFill/>
        </p:spPr>
        <p:txBody>
          <a:bodyPr wrap="square">
            <a:spAutoFit/>
          </a:bodyPr>
          <a:lstStyle/>
          <a:p>
            <a:pPr algn="l"/>
            <a:r>
              <a:rPr sz="1300" b="0" i="1">
                <a:solidFill>
                  <a:srgbClr val="555555"/>
                </a:solidFill>
              </a:rPr>
              <a:t>Kombinera lösningarna: API bygger grafen, grafen används för sökning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017520"/>
            <a:ext cx="12188952" cy="54864"/>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914400"/>
            <a:ext cx="9445752" cy="1828800"/>
          </a:xfrm>
          <a:prstGeom prst="rect">
            <a:avLst/>
          </a:prstGeom>
          <a:noFill/>
        </p:spPr>
        <p:txBody>
          <a:bodyPr wrap="square">
            <a:spAutoFit/>
          </a:bodyPr>
          <a:lstStyle/>
          <a:p>
            <a:pPr algn="ctr"/>
            <a:r>
              <a:rPr sz="8000" b="1" i="0">
                <a:solidFill>
                  <a:srgbClr val="1A1A1A"/>
                </a:solidFill>
              </a:rPr>
              <a:t>Tack!</a:t>
            </a:r>
          </a:p>
        </p:txBody>
      </p:sp>
      <p:sp>
        <p:nvSpPr>
          <p:cNvPr id="6" name="TextBox 5"/>
          <p:cNvSpPr txBox="1"/>
          <p:nvPr/>
        </p:nvSpPr>
        <p:spPr>
          <a:xfrm>
            <a:off x="1371600" y="3291840"/>
            <a:ext cx="9445752" cy="1097280"/>
          </a:xfrm>
          <a:prstGeom prst="rect">
            <a:avLst/>
          </a:prstGeom>
          <a:noFill/>
        </p:spPr>
        <p:txBody>
          <a:bodyPr wrap="square">
            <a:spAutoFit/>
          </a:bodyPr>
          <a:lstStyle/>
          <a:p>
            <a:pPr algn="ctr"/>
            <a:r>
              <a:rPr sz="4200" b="1" i="0">
                <a:solidFill>
                  <a:srgbClr val="F26522"/>
                </a:solidFill>
              </a:rPr>
              <a:t>Frågor?</a:t>
            </a:r>
          </a:p>
        </p:txBody>
      </p:sp>
      <p:sp>
        <p:nvSpPr>
          <p:cNvPr id="7" name="TextBox 6"/>
          <p:cNvSpPr txBox="1"/>
          <p:nvPr/>
        </p:nvSpPr>
        <p:spPr>
          <a:xfrm>
            <a:off x="1371600" y="4937760"/>
            <a:ext cx="9445752" cy="777240"/>
          </a:xfrm>
          <a:prstGeom prst="rect">
            <a:avLst/>
          </a:prstGeom>
          <a:noFill/>
        </p:spPr>
        <p:txBody>
          <a:bodyPr wrap="square">
            <a:spAutoFit/>
          </a:bodyPr>
          <a:lstStyle/>
          <a:p>
            <a:pPr algn="ctr"/>
            <a:r>
              <a:rPr sz="1400" b="0" i="0">
                <a:solidFill>
                  <a:srgbClr val="555555"/>
                </a:solidFill>
              </a:rPr>
              <a:t>Isak Lampell  ·  lampell.i@gmail.com
Knightec Group AB  ·  Mittuniversitetet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