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Grafbaserad (%)</c:v>
                </c:pt>
              </c:strCache>
            </c:strRef>
          </c:tx>
          <c:spPr>
            <a:solidFill>
              <a:srgbClr val="f26522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100</c:v>
                </c:pt>
                <c:pt idx="1">
                  <c:v>80</c:v>
                </c:pt>
                <c:pt idx="2">
                  <c:v>80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API-baserad (%)</c:v>
                </c:pt>
              </c:strCache>
            </c:strRef>
          </c:tx>
          <c:spPr>
            <a:solidFill>
              <a:srgbClr val="2e86c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100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gapWidth val="150"/>
        <c:overlap val="0"/>
        <c:axId val="55953740"/>
        <c:axId val="15265418"/>
      </c:barChart>
      <c:catAx>
        <c:axId val="55953740"/>
        <c:scaling>
          <c:orientation val="minMax"/>
        </c:scaling>
        <c:delete val="0"/>
        <c:axPos val="b"/>
        <c:numFmt formatCode="[$-41D]yyyy/mm/dd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15265418"/>
        <c:crosses val="autoZero"/>
        <c:auto val="1"/>
        <c:lblAlgn val="ctr"/>
        <c:lblOffset val="100"/>
        <c:noMultiLvlLbl val="0"/>
      </c:catAx>
      <c:valAx>
        <c:axId val="15265418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55953740"/>
        <c:crosses val="autoZero"/>
        <c:crossBetween val="between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1"/>
          <c:y val="0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800" strike="noStrike" u="non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Grafbaserad</c:v>
                </c:pt>
              </c:strCache>
            </c:strRef>
          </c:tx>
          <c:spPr>
            <a:solidFill>
              <a:srgbClr val="f26522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2.2</c:v>
                </c:pt>
                <c:pt idx="1">
                  <c:v>4</c:v>
                </c:pt>
                <c:pt idx="2">
                  <c:v>2.4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API-baserad</c:v>
                </c:pt>
              </c:strCache>
            </c:strRef>
          </c:tx>
          <c:spPr>
            <a:solidFill>
              <a:srgbClr val="2e86c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1.6</c:v>
                </c:pt>
                <c:pt idx="1">
                  <c:v>4.4</c:v>
                </c:pt>
                <c:pt idx="2">
                  <c:v>6</c:v>
                </c:pt>
              </c:numCache>
            </c:numRef>
          </c:val>
        </c:ser>
        <c:gapWidth val="150"/>
        <c:overlap val="0"/>
        <c:axId val="86384541"/>
        <c:axId val="57753131"/>
      </c:barChart>
      <c:catAx>
        <c:axId val="86384541"/>
        <c:scaling>
          <c:orientation val="minMax"/>
        </c:scaling>
        <c:delete val="0"/>
        <c:axPos val="b"/>
        <c:numFmt formatCode="[$-41D]yyyy/mm/dd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57753131"/>
        <c:crosses val="autoZero"/>
        <c:auto val="1"/>
        <c:lblAlgn val="ctr"/>
        <c:lblOffset val="100"/>
        <c:noMultiLvlLbl val="0"/>
      </c:catAx>
      <c:valAx>
        <c:axId val="57753131"/>
        <c:scaling>
          <c:orientation val="minMax"/>
          <c:max val="8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86384541"/>
        <c:crosses val="autoZero"/>
        <c:crossBetween val="between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1"/>
          <c:y val="0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800" strike="noStrike" u="non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Grafbaserad</c:v>
                </c:pt>
              </c:strCache>
            </c:strRef>
          </c:tx>
          <c:spPr>
            <a:solidFill>
              <a:srgbClr val="f26522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1967</c:v>
                </c:pt>
                <c:pt idx="1">
                  <c:v>5234</c:v>
                </c:pt>
                <c:pt idx="2">
                  <c:v>2965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API-baserad</c:v>
                </c:pt>
              </c:strCache>
            </c:strRef>
          </c:tx>
          <c:spPr>
            <a:solidFill>
              <a:srgbClr val="2e86c1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Simpla</c:v>
                </c:pt>
                <c:pt idx="1">
                  <c:v>Medelsvåra</c:v>
                </c:pt>
                <c:pt idx="2">
                  <c:v>Komplexa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1521</c:v>
                </c:pt>
                <c:pt idx="1">
                  <c:v>5251</c:v>
                </c:pt>
                <c:pt idx="2">
                  <c:v>18388</c:v>
                </c:pt>
              </c:numCache>
            </c:numRef>
          </c:val>
        </c:ser>
        <c:gapWidth val="150"/>
        <c:overlap val="0"/>
        <c:axId val="46552438"/>
        <c:axId val="8768965"/>
      </c:barChart>
      <c:catAx>
        <c:axId val="46552438"/>
        <c:scaling>
          <c:orientation val="minMax"/>
        </c:scaling>
        <c:delete val="0"/>
        <c:axPos val="b"/>
        <c:numFmt formatCode="[$-41D]yyyy/mm/dd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8768965"/>
        <c:crosses val="autoZero"/>
        <c:auto val="1"/>
        <c:lblAlgn val="ctr"/>
        <c:lblOffset val="100"/>
        <c:noMultiLvlLbl val="0"/>
      </c:catAx>
      <c:valAx>
        <c:axId val="8768965"/>
        <c:scaling>
          <c:orientation val="minMax"/>
          <c:max val="20000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txPr>
          <a:bodyPr/>
          <a:lstStyle/>
          <a:p>
            <a:pPr>
              <a:defRPr b="0" sz="1800" strike="noStrike" u="none">
                <a:solidFill>
                  <a:srgbClr val="000000"/>
                </a:solidFill>
                <a:uFillTx/>
                <a:latin typeface="Calibri"/>
              </a:defRPr>
            </a:pPr>
          </a:p>
        </c:txPr>
        <c:crossAx val="46552438"/>
        <c:crosses val="autoZero"/>
        <c:crossBetween val="between"/>
      </c:valAx>
      <c:spPr>
        <a:noFill/>
        <a:ln w="0">
          <a:noFill/>
        </a:ln>
      </c:spPr>
    </c:plotArea>
    <c:legend>
      <c:legendPos val="r"/>
      <c:layout>
        <c:manualLayout>
          <c:xMode val="edge"/>
          <c:yMode val="edge"/>
          <c:x val="1"/>
          <c:y val="0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800" strike="noStrike" u="none">
              <a:solidFill>
                <a:srgbClr val="000000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EC9A13-F66E-42D7-BC13-73E7AABAD99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95297C-3FA9-4655-90C1-387B8968B32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538DD9-E040-45FA-874A-64B31361C82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4900BD-63C0-4879-AC91-8DC60C8BF79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D2945B9-B43C-4B6F-AE0A-35B9140508C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2669C6-8BD2-4F39-B36B-2EECC615D82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DCFC60-33F6-4074-8323-D2B3A0A3B0D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160F8-0CD1-41FD-AF29-3E7A7E010BA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FBD1BD-5A62-4E79-84BA-DA2F50BDD64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Klicka för att redigera rubriktextens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Klicka för att redigera dispositionstextens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Andra dispositionsnivån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Tredje dispositionsnivån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Fjärde dispositionsnivån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Femte dispositionsnivån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Sjätte dispositionsnivån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Sjunde dispositionsnivån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313936-C8F0-4BFE-B8AB-BE461325645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Klicka för att redigera dispositionstextens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Andra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Tredje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Fjärde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Femte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Sjätte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Sjunde dispositionsnivån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&lt;datum/tid&gt;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sv-S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&lt;sidfot&gt;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9D28A8-A789-4107-9C37-51A167ACBBD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&lt;nummer&gt;</a:t>
            </a:fld>
            <a:endParaRPr b="0" lang="sv-SE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" name="Rectangle 3"/>
          <p:cNvSpPr/>
          <p:nvPr/>
        </p:nvSpPr>
        <p:spPr>
          <a:xfrm>
            <a:off x="0" y="2560320"/>
            <a:ext cx="12188520" cy="54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731520" y="822960"/>
            <a:ext cx="10725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Grafbaserad datarepresentation för LLM-driven informationssökning i organisationer</a:t>
            </a:r>
            <a:endParaRPr b="0" lang="sv-SE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914400" y="2788920"/>
            <a:ext cx="1035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En jämförelse mellan grafbaserad och API-baserad dataåtkomst avseende effektivitet, korrekthet och resursanvändning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914400" y="3749040"/>
            <a:ext cx="10359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Isak Lampell  ·  Knightec Group AB  ·  Mittuniversitetet  ·  2026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Problemet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457200" y="1051560"/>
            <a:ext cx="7772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5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Föreställ dig att du sitter på ett företag med hundratals kollegor,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många projekt och tusentals dokumentationssidor med information om riktlinjer och rutiner.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457200" y="20116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Allt är spritt över många olika interna system och du behöver snabbt hitta svaret på en specifik fråga.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457200" y="2788920"/>
            <a:ext cx="7772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5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Det du gör är att du börjar söka, frågar kollegor och söker lite ytterligare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5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tills du hittar svaret. Det kan ta väldigt lång tid som egentligen borde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läggas på det riktiga arbetet.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8"/>
          <p:cNvSpPr/>
          <p:nvPr/>
        </p:nvSpPr>
        <p:spPr>
          <a:xfrm>
            <a:off x="457200" y="4069080"/>
            <a:ext cx="7772040" cy="11883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9"/>
          <p:cNvSpPr/>
          <p:nvPr/>
        </p:nvSpPr>
        <p:spPr>
          <a:xfrm>
            <a:off x="594360" y="4206240"/>
            <a:ext cx="7497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5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Det här är vardagen hos många organisationer idag —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och det är precis det problemet mitt arbete syftar till att lösa.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10"/>
          <p:cNvSpPr/>
          <p:nvPr/>
        </p:nvSpPr>
        <p:spPr>
          <a:xfrm>
            <a:off x="8412480" y="1051560"/>
            <a:ext cx="3474360" cy="512028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8412480" y="3383280"/>
            <a:ext cx="3474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[ BILD ]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 descr=""/>
          <p:cNvPicPr/>
          <p:nvPr/>
        </p:nvPicPr>
        <p:blipFill>
          <a:blip r:embed="rId1"/>
          <a:stretch/>
        </p:blipFill>
        <p:spPr>
          <a:xfrm>
            <a:off x="8412480" y="1051560"/>
            <a:ext cx="3474360" cy="512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Bakgrund – Knightec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5"/>
          <p:cNvSpPr/>
          <p:nvPr/>
        </p:nvSpPr>
        <p:spPr>
          <a:xfrm>
            <a:off x="457200" y="100584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Exjobbet är gjort i samarbete med Knightec — ett tech-konsultbolag med verksamhet på flera orter i Sverige.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6"/>
          <p:cNvSpPr/>
          <p:nvPr/>
        </p:nvSpPr>
        <p:spPr>
          <a:xfrm>
            <a:off x="457200" y="1645920"/>
            <a:ext cx="7314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Informationen är spridd över tre system: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7"/>
          <p:cNvSpPr/>
          <p:nvPr/>
        </p:nvSpPr>
        <p:spPr>
          <a:xfrm>
            <a:off x="457200" y="2194560"/>
            <a:ext cx="3565800" cy="356580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457200" y="2286000"/>
            <a:ext cx="3565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2e86c1"/>
                </a:solidFill>
                <a:effectLst/>
                <a:uFillTx/>
                <a:latin typeface="Calibri"/>
              </a:rPr>
              <a:t>GitHub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9"/>
          <p:cNvSpPr/>
          <p:nvPr/>
        </p:nvSpPr>
        <p:spPr>
          <a:xfrm>
            <a:off x="731520" y="2971800"/>
            <a:ext cx="3017160" cy="36360"/>
          </a:xfrm>
          <a:prstGeom prst="rect">
            <a:avLst/>
          </a:prstGeom>
          <a:solidFill>
            <a:srgbClr val="2e8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731520" y="309060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Projekt &amp; programkod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731520" y="356616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Repositories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2"/>
          <p:cNvSpPr/>
          <p:nvPr/>
        </p:nvSpPr>
        <p:spPr>
          <a:xfrm>
            <a:off x="731520" y="404172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Commits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3"/>
          <p:cNvSpPr/>
          <p:nvPr/>
        </p:nvSpPr>
        <p:spPr>
          <a:xfrm>
            <a:off x="731520" y="451728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Issues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4"/>
          <p:cNvSpPr/>
          <p:nvPr/>
        </p:nvSpPr>
        <p:spPr>
          <a:xfrm>
            <a:off x="731520" y="499248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Aktiva användare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15"/>
          <p:cNvSpPr/>
          <p:nvPr/>
        </p:nvSpPr>
        <p:spPr>
          <a:xfrm>
            <a:off x="4297680" y="2194560"/>
            <a:ext cx="3565800" cy="356580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16"/>
          <p:cNvSpPr/>
          <p:nvPr/>
        </p:nvSpPr>
        <p:spPr>
          <a:xfrm>
            <a:off x="4297680" y="2286000"/>
            <a:ext cx="3565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Slack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7"/>
          <p:cNvSpPr/>
          <p:nvPr/>
        </p:nvSpPr>
        <p:spPr>
          <a:xfrm>
            <a:off x="4572000" y="2971800"/>
            <a:ext cx="3017160" cy="3636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8"/>
          <p:cNvSpPr/>
          <p:nvPr/>
        </p:nvSpPr>
        <p:spPr>
          <a:xfrm>
            <a:off x="4572000" y="309060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Kommunikation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9"/>
          <p:cNvSpPr/>
          <p:nvPr/>
        </p:nvSpPr>
        <p:spPr>
          <a:xfrm>
            <a:off x="4572000" y="356616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Kanaler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0"/>
          <p:cNvSpPr/>
          <p:nvPr/>
        </p:nvSpPr>
        <p:spPr>
          <a:xfrm>
            <a:off x="4572000" y="404172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Meddelanden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1"/>
          <p:cNvSpPr/>
          <p:nvPr/>
        </p:nvSpPr>
        <p:spPr>
          <a:xfrm>
            <a:off x="4572000" y="451728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Användare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8138160" y="2194560"/>
            <a:ext cx="3565800" cy="35658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3"/>
          <p:cNvSpPr/>
          <p:nvPr/>
        </p:nvSpPr>
        <p:spPr>
          <a:xfrm>
            <a:off x="8138160" y="2286000"/>
            <a:ext cx="3565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Confluence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8412480" y="2971800"/>
            <a:ext cx="301716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25"/>
          <p:cNvSpPr/>
          <p:nvPr/>
        </p:nvSpPr>
        <p:spPr>
          <a:xfrm>
            <a:off x="8412480" y="309060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Intern dokumentation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6"/>
          <p:cNvSpPr/>
          <p:nvPr/>
        </p:nvSpPr>
        <p:spPr>
          <a:xfrm>
            <a:off x="8412480" y="356616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Processer &amp; rutiner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7"/>
          <p:cNvSpPr/>
          <p:nvPr/>
        </p:nvSpPr>
        <p:spPr>
          <a:xfrm>
            <a:off x="8412480" y="404172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Riktlinjer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8"/>
          <p:cNvSpPr/>
          <p:nvPr/>
        </p:nvSpPr>
        <p:spPr>
          <a:xfrm>
            <a:off x="8412480" y="451728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Teams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9"/>
          <p:cNvSpPr/>
          <p:nvPr/>
        </p:nvSpPr>
        <p:spPr>
          <a:xfrm>
            <a:off x="8412480" y="4992480"/>
            <a:ext cx="30171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• Sidor &amp; författare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30"/>
          <p:cNvSpPr/>
          <p:nvPr/>
        </p:nvSpPr>
        <p:spPr>
          <a:xfrm>
            <a:off x="457200" y="5897880"/>
            <a:ext cx="11246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Problemet: ingen gemensam struktur — data kan inte enkelt kombineras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Två lösningar undersöks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5"/>
          <p:cNvSpPr/>
          <p:nvPr/>
        </p:nvSpPr>
        <p:spPr>
          <a:xfrm>
            <a:off x="457200" y="1005840"/>
            <a:ext cx="11246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För att lösa problemet implementeras och jämförs två olika lösningar: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6"/>
          <p:cNvSpPr/>
          <p:nvPr/>
        </p:nvSpPr>
        <p:spPr>
          <a:xfrm>
            <a:off x="457200" y="1554480"/>
            <a:ext cx="5486040" cy="502884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7"/>
          <p:cNvSpPr/>
          <p:nvPr/>
        </p:nvSpPr>
        <p:spPr>
          <a:xfrm>
            <a:off x="594360" y="164592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Lösning 1 — Grafbaserad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8"/>
          <p:cNvSpPr/>
          <p:nvPr/>
        </p:nvSpPr>
        <p:spPr>
          <a:xfrm>
            <a:off x="594360" y="2240280"/>
            <a:ext cx="5211720" cy="2700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9"/>
          <p:cNvSpPr/>
          <p:nvPr/>
        </p:nvSpPr>
        <p:spPr>
          <a:xfrm>
            <a:off x="640080" y="2377440"/>
            <a:ext cx="512028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Data från GitHub, Slack och Confluence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samlas i en gemensam grafstruktur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Tydliga relationer och samband modelleras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direkt i databasen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Ex: Isak Lampell är kopplad till en Confluence-sida,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ett GitHub-projekt och meddelanden i Slack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LLM:en navigerar grafen för att hitta svar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10"/>
          <p:cNvSpPr/>
          <p:nvPr/>
        </p:nvSpPr>
        <p:spPr>
          <a:xfrm>
            <a:off x="6263640" y="1554480"/>
            <a:ext cx="5486040" cy="502884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11"/>
          <p:cNvSpPr/>
          <p:nvPr/>
        </p:nvSpPr>
        <p:spPr>
          <a:xfrm>
            <a:off x="6400800" y="164592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2e86c1"/>
                </a:solidFill>
                <a:effectLst/>
                <a:uFillTx/>
                <a:latin typeface="Calibri"/>
              </a:rPr>
              <a:t>Lösning 2 — API-baserad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12"/>
          <p:cNvSpPr/>
          <p:nvPr/>
        </p:nvSpPr>
        <p:spPr>
          <a:xfrm>
            <a:off x="6400800" y="2240280"/>
            <a:ext cx="5211720" cy="27000"/>
          </a:xfrm>
          <a:prstGeom prst="rect">
            <a:avLst/>
          </a:prstGeom>
          <a:solidFill>
            <a:srgbClr val="2e8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13"/>
          <p:cNvSpPr/>
          <p:nvPr/>
        </p:nvSpPr>
        <p:spPr>
          <a:xfrm>
            <a:off x="6400800" y="2377440"/>
            <a:ext cx="521172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Ingen central lagring — data hämtas i realtid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direkt från systemens API:er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LLM:en resonerar själv kring kopplingar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efter att data hämtats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• Ex: API-anrop hämtar alla användare från GitHub,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LLM plockar ut rätt person och gör nytt anrop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mot Confluence för att hämta den personens sidor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Teori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365760" y="1051560"/>
            <a:ext cx="5394600" cy="242280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502920" y="11430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2e86c1"/>
                </a:solidFill>
                <a:effectLst/>
                <a:uFillTx/>
                <a:latin typeface="Calibri"/>
              </a:rPr>
              <a:t>LLM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502920" y="1645920"/>
            <a:ext cx="5120280" cy="27000"/>
          </a:xfrm>
          <a:prstGeom prst="rect">
            <a:avLst/>
          </a:prstGeom>
          <a:solidFill>
            <a:srgbClr val="2e8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502920" y="1783080"/>
            <a:ext cx="51202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Large Language Model — AI-modell tränad på stora mängder text.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I arbetet: tolkar användarens fråga och avgör vilka verktyg som ska anropas.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6309360" y="1051560"/>
            <a:ext cx="5394600" cy="24228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6446520" y="11430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MCP — Model Context Protocol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11"/>
          <p:cNvSpPr/>
          <p:nvPr/>
        </p:nvSpPr>
        <p:spPr>
          <a:xfrm>
            <a:off x="6446520" y="1645920"/>
            <a:ext cx="5120280" cy="2700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6446520" y="1783080"/>
            <a:ext cx="51202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Mellanlager mellan LLM och datakällor. Funktionalitet exponeras som verktyg.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I arbetet: MCP-server med verktyg för Cypher-frågor eller API-anrop.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13"/>
          <p:cNvSpPr/>
          <p:nvPr/>
        </p:nvSpPr>
        <p:spPr>
          <a:xfrm>
            <a:off x="365760" y="3657600"/>
            <a:ext cx="5394600" cy="242280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4"/>
          <p:cNvSpPr/>
          <p:nvPr/>
        </p:nvSpPr>
        <p:spPr>
          <a:xfrm>
            <a:off x="502920" y="374904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Kunskapsgraf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15"/>
          <p:cNvSpPr/>
          <p:nvPr/>
        </p:nvSpPr>
        <p:spPr>
          <a:xfrm>
            <a:off x="502920" y="4251960"/>
            <a:ext cx="5120280" cy="2700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6"/>
          <p:cNvSpPr/>
          <p:nvPr/>
        </p:nvSpPr>
        <p:spPr>
          <a:xfrm>
            <a:off x="502920" y="4389120"/>
            <a:ext cx="51202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Nätverksstruktur av entiteter och relationer. Lagras i Neo4j.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I arbetet: data från GitHub, Slack och Confluence modellerat med noder och kanter.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7"/>
          <p:cNvSpPr/>
          <p:nvPr/>
        </p:nvSpPr>
        <p:spPr>
          <a:xfrm>
            <a:off x="6309360" y="3657600"/>
            <a:ext cx="5394600" cy="2422800"/>
          </a:xfrm>
          <a:prstGeom prst="rect">
            <a:avLst/>
          </a:prstGeom>
          <a:solidFill>
            <a:srgbClr val="f4f5f7"/>
          </a:solidFill>
          <a:ln w="12700">
            <a:solidFill>
              <a:srgbClr val="5555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18"/>
          <p:cNvSpPr/>
          <p:nvPr/>
        </p:nvSpPr>
        <p:spPr>
          <a:xfrm>
            <a:off x="6446520" y="374904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Cypher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19"/>
          <p:cNvSpPr/>
          <p:nvPr/>
        </p:nvSpPr>
        <p:spPr>
          <a:xfrm>
            <a:off x="6446520" y="4251960"/>
            <a:ext cx="5120280" cy="27000"/>
          </a:xfrm>
          <a:prstGeom prst="rect">
            <a:avLst/>
          </a:prstGeom>
          <a:solidFill>
            <a:srgbClr val="55555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0"/>
          <p:cNvSpPr/>
          <p:nvPr/>
        </p:nvSpPr>
        <p:spPr>
          <a:xfrm>
            <a:off x="6446520" y="4389120"/>
            <a:ext cx="51202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Frågespråk för Neo4j. LLM:en genererar Cypher-frågor dynamiskt.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Ex: MATCH (p:Person)-[:WORKS_ON]-&gt;(r:Repository) RETURN r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Kunskapsgraf – visualisering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457200" y="100584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Grafen innehåller noder och relationer från alla tre system. Samma person är kopplad till repos, Slack-inlägg och Confluence-dokument.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7"/>
          <p:cNvSpPr/>
          <p:nvPr/>
        </p:nvSpPr>
        <p:spPr>
          <a:xfrm>
            <a:off x="457200" y="386316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[ BILD: visualisation.png — Neo4j grafvisualisering ]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8"/>
          <p:cNvSpPr/>
          <p:nvPr/>
        </p:nvSpPr>
        <p:spPr>
          <a:xfrm>
            <a:off x="8412480" y="1828800"/>
            <a:ext cx="356580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Noder: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Person, Repository, Issue, Commit,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SlackChannel, Post, Document ...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Relationer: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WORKS_ON  ·  COMMITTED_IN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AUTHORED  ·  MEMBER_OF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HAS_POST  ·  WROTE ...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9"/>
          <p:cNvSpPr/>
          <p:nvPr/>
        </p:nvSpPr>
        <p:spPr>
          <a:xfrm>
            <a:off x="8412480" y="5029200"/>
            <a:ext cx="3565800" cy="15084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0"/>
          <p:cNvSpPr/>
          <p:nvPr/>
        </p:nvSpPr>
        <p:spPr>
          <a:xfrm>
            <a:off x="8503920" y="5166360"/>
            <a:ext cx="338292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Tydliga kopplingar gör att LLM:en kan följa sambanden direkt — utan att gissa.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1"/>
          <a:stretch/>
        </p:blipFill>
        <p:spPr>
          <a:xfrm>
            <a:off x="720000" y="1800000"/>
            <a:ext cx="6591600" cy="4372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Metod — Design Science Research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5"/>
          <p:cNvSpPr/>
          <p:nvPr/>
        </p:nvSpPr>
        <p:spPr>
          <a:xfrm>
            <a:off x="457200" y="1005840"/>
            <a:ext cx="11246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Designa och bygg konkreta artefakter — utvärdera dem för att dra slutsatser.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6"/>
          <p:cNvSpPr/>
          <p:nvPr/>
        </p:nvSpPr>
        <p:spPr>
          <a:xfrm>
            <a:off x="365760" y="1600200"/>
            <a:ext cx="201132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7"/>
          <p:cNvSpPr/>
          <p:nvPr/>
        </p:nvSpPr>
        <p:spPr>
          <a:xfrm>
            <a:off x="411480" y="1691640"/>
            <a:ext cx="1919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Designa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två lösningar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8"/>
          <p:cNvSpPr/>
          <p:nvPr/>
        </p:nvSpPr>
        <p:spPr>
          <a:xfrm>
            <a:off x="2423160" y="1828800"/>
            <a:ext cx="319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→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9"/>
          <p:cNvSpPr/>
          <p:nvPr/>
        </p:nvSpPr>
        <p:spPr>
          <a:xfrm>
            <a:off x="2788920" y="1600200"/>
            <a:ext cx="201132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0"/>
          <p:cNvSpPr/>
          <p:nvPr/>
        </p:nvSpPr>
        <p:spPr>
          <a:xfrm>
            <a:off x="2834640" y="1691640"/>
            <a:ext cx="1919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Implementera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Graf + API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11"/>
          <p:cNvSpPr/>
          <p:nvPr/>
        </p:nvSpPr>
        <p:spPr>
          <a:xfrm>
            <a:off x="4846320" y="1828800"/>
            <a:ext cx="319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→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12"/>
          <p:cNvSpPr/>
          <p:nvPr/>
        </p:nvSpPr>
        <p:spPr>
          <a:xfrm>
            <a:off x="5212080" y="1600200"/>
            <a:ext cx="201132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5257800" y="1691640"/>
            <a:ext cx="1919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Utvärdera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15 testfrågor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7269480" y="1828800"/>
            <a:ext cx="319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→</a:t>
            </a:r>
            <a:endParaRPr b="0" lang="sv-S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15"/>
          <p:cNvSpPr/>
          <p:nvPr/>
        </p:nvSpPr>
        <p:spPr>
          <a:xfrm>
            <a:off x="7635240" y="1600200"/>
            <a:ext cx="201132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6"/>
          <p:cNvSpPr/>
          <p:nvPr/>
        </p:nvSpPr>
        <p:spPr>
          <a:xfrm>
            <a:off x="7680960" y="1691640"/>
            <a:ext cx="1919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Dra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slutstatser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17"/>
          <p:cNvSpPr/>
          <p:nvPr/>
        </p:nvSpPr>
        <p:spPr>
          <a:xfrm>
            <a:off x="365760" y="2926080"/>
            <a:ext cx="3702960" cy="3702960"/>
          </a:xfrm>
          <a:prstGeom prst="rect">
            <a:avLst/>
          </a:prstGeom>
          <a:solidFill>
            <a:srgbClr val="f4f5f7"/>
          </a:solidFill>
          <a:ln w="12700">
            <a:solidFill>
              <a:srgbClr val="2e8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18"/>
          <p:cNvSpPr/>
          <p:nvPr/>
        </p:nvSpPr>
        <p:spPr>
          <a:xfrm>
            <a:off x="457200" y="2999160"/>
            <a:ext cx="3520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e86c1"/>
                </a:solidFill>
                <a:effectLst/>
                <a:uFillTx/>
                <a:latin typeface="Calibri"/>
              </a:rPr>
              <a:t>Simpla  Q1–Q5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19"/>
          <p:cNvSpPr/>
          <p:nvPr/>
        </p:nvSpPr>
        <p:spPr>
          <a:xfrm>
            <a:off x="548640" y="3547800"/>
            <a:ext cx="3337200" cy="27000"/>
          </a:xfrm>
          <a:prstGeom prst="rect">
            <a:avLst/>
          </a:prstGeom>
          <a:solidFill>
            <a:srgbClr val="2e8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20"/>
          <p:cNvSpPr/>
          <p:nvPr/>
        </p:nvSpPr>
        <p:spPr>
          <a:xfrm>
            <a:off x="502920" y="3639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Q1: Get all GitHub repos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21"/>
          <p:cNvSpPr/>
          <p:nvPr/>
        </p:nvSpPr>
        <p:spPr>
          <a:xfrm>
            <a:off x="502920" y="4206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Q2: Show latest message from general Slack channel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22"/>
          <p:cNvSpPr/>
          <p:nvPr/>
        </p:nvSpPr>
        <p:spPr>
          <a:xfrm>
            <a:off x="502920" y="4773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Q3: Get info about the bachelor-thesis repo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23"/>
          <p:cNvSpPr/>
          <p:nvPr/>
        </p:nvSpPr>
        <p:spPr>
          <a:xfrm>
            <a:off x="502920" y="5340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Q4: Show every user in the organisation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24"/>
          <p:cNvSpPr/>
          <p:nvPr/>
        </p:nvSpPr>
        <p:spPr>
          <a:xfrm>
            <a:off x="502920" y="590688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Q5: Send me all pages from Confluence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25"/>
          <p:cNvSpPr/>
          <p:nvPr/>
        </p:nvSpPr>
        <p:spPr>
          <a:xfrm>
            <a:off x="4251960" y="2926080"/>
            <a:ext cx="3702960" cy="370296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26"/>
          <p:cNvSpPr/>
          <p:nvPr/>
        </p:nvSpPr>
        <p:spPr>
          <a:xfrm>
            <a:off x="4343400" y="2999160"/>
            <a:ext cx="3520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Medelsvåra  Q6–Q10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ectangle 27"/>
          <p:cNvSpPr/>
          <p:nvPr/>
        </p:nvSpPr>
        <p:spPr>
          <a:xfrm>
            <a:off x="4434840" y="3547800"/>
            <a:ext cx="3337200" cy="2700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28"/>
          <p:cNvSpPr/>
          <p:nvPr/>
        </p:nvSpPr>
        <p:spPr>
          <a:xfrm>
            <a:off x="4389120" y="3639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Q6: What GitHub issues are open in payment-service?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9"/>
          <p:cNvSpPr/>
          <p:nvPr/>
        </p:nvSpPr>
        <p:spPr>
          <a:xfrm>
            <a:off x="4389120" y="4206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Q7: What project is connected to isak-bachelor-thesis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repo, and who works on that?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30"/>
          <p:cNvSpPr/>
          <p:nvPr/>
        </p:nvSpPr>
        <p:spPr>
          <a:xfrm>
            <a:off x="4389120" y="4773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Q8: Summarize what happened in general Slack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channel on April 13, 14 and 15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1"/>
          <p:cNvSpPr/>
          <p:nvPr/>
        </p:nvSpPr>
        <p:spPr>
          <a:xfrm>
            <a:off x="4389120" y="5340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Q9: Are there any blockers in any of our projects?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32"/>
          <p:cNvSpPr/>
          <p:nvPr/>
        </p:nvSpPr>
        <p:spPr>
          <a:xfrm>
            <a:off x="4389120" y="590688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Q10: Which Confluence docs are about AWS?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What does it say?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33"/>
          <p:cNvSpPr/>
          <p:nvPr/>
        </p:nvSpPr>
        <p:spPr>
          <a:xfrm>
            <a:off x="8138160" y="2926080"/>
            <a:ext cx="3702960" cy="370296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34"/>
          <p:cNvSpPr/>
          <p:nvPr/>
        </p:nvSpPr>
        <p:spPr>
          <a:xfrm>
            <a:off x="8229600" y="2999160"/>
            <a:ext cx="3520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Komplexa  Q11–Q15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5"/>
          <p:cNvSpPr/>
          <p:nvPr/>
        </p:nvSpPr>
        <p:spPr>
          <a:xfrm>
            <a:off x="8321040" y="3547800"/>
            <a:ext cx="3337200" cy="27000"/>
          </a:xfrm>
          <a:prstGeom prst="rect">
            <a:avLst/>
          </a:prstGeom>
          <a:solidFill>
            <a:srgbClr val="e74c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36"/>
          <p:cNvSpPr/>
          <p:nvPr/>
        </p:nvSpPr>
        <p:spPr>
          <a:xfrm>
            <a:off x="8275320" y="3639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Q11: Overview of Payment Platform: repos,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issues and people working on it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7"/>
          <p:cNvSpPr/>
          <p:nvPr/>
        </p:nvSpPr>
        <p:spPr>
          <a:xfrm>
            <a:off x="8275320" y="4206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Q12: Developers with open Git issues AND active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in Slack last 24h? Give me proof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38"/>
          <p:cNvSpPr/>
          <p:nvPr/>
        </p:nvSpPr>
        <p:spPr>
          <a:xfrm>
            <a:off x="8275320" y="4773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Q13: Name and email of all persons who committed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in payment-service. What do commits say?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39"/>
          <p:cNvSpPr/>
          <p:nvPr/>
        </p:nvSpPr>
        <p:spPr>
          <a:xfrm>
            <a:off x="8275320" y="534024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Q14: In which repos does the person who created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the AWS Confluence page work?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40"/>
          <p:cNvSpPr/>
          <p:nvPr/>
        </p:nvSpPr>
        <p:spPr>
          <a:xfrm>
            <a:off x="8275320" y="5906880"/>
            <a:ext cx="3474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Q15: Most recent Confluence doc from the person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    who did latest commit in payment-service?</a:t>
            </a:r>
            <a:endParaRPr b="0" lang="sv-SE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Systemarkitektur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6"/>
          <p:cNvSpPr/>
          <p:nvPr/>
        </p:nvSpPr>
        <p:spPr>
          <a:xfrm>
            <a:off x="365760" y="2926080"/>
            <a:ext cx="114296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7"/>
          <p:cNvSpPr/>
          <p:nvPr/>
        </p:nvSpPr>
        <p:spPr>
          <a:xfrm>
            <a:off x="365760" y="5394960"/>
            <a:ext cx="11429640" cy="114264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8"/>
          <p:cNvSpPr/>
          <p:nvPr/>
        </p:nvSpPr>
        <p:spPr>
          <a:xfrm>
            <a:off x="502920" y="5532120"/>
            <a:ext cx="11155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1. Fråga ställs  →  2. LLM väljer verktyg  →  3. MCP kör verktyget  →  4. Data returneras  →  5. LLM formulerar svar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1"/>
          <a:stretch/>
        </p:blipFill>
        <p:spPr>
          <a:xfrm>
            <a:off x="2621160" y="1260000"/>
            <a:ext cx="6018840" cy="345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Lösning 1 — Grafbaserad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Rectangle 5"/>
          <p:cNvSpPr/>
          <p:nvPr/>
        </p:nvSpPr>
        <p:spPr>
          <a:xfrm>
            <a:off x="457200" y="1051560"/>
            <a:ext cx="5486040" cy="53946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Box 6"/>
          <p:cNvSpPr/>
          <p:nvPr/>
        </p:nvSpPr>
        <p:spPr>
          <a:xfrm>
            <a:off x="594360" y="114300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Hur det fungerar</a:t>
            </a:r>
            <a:endParaRPr b="0" lang="sv-SE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7"/>
          <p:cNvSpPr/>
          <p:nvPr/>
        </p:nvSpPr>
        <p:spPr>
          <a:xfrm>
            <a:off x="594360" y="1737360"/>
            <a:ext cx="411120" cy="41112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8"/>
          <p:cNvSpPr/>
          <p:nvPr/>
        </p:nvSpPr>
        <p:spPr>
          <a:xfrm>
            <a:off x="594360" y="173736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9"/>
          <p:cNvSpPr/>
          <p:nvPr/>
        </p:nvSpPr>
        <p:spPr>
          <a:xfrm>
            <a:off x="1097280" y="173736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1.  LLM hämtar grafens schema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    (alla noder, relationer, attribut)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10"/>
          <p:cNvSpPr/>
          <p:nvPr/>
        </p:nvSpPr>
        <p:spPr>
          <a:xfrm>
            <a:off x="594360" y="2743200"/>
            <a:ext cx="411120" cy="41112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11"/>
          <p:cNvSpPr/>
          <p:nvPr/>
        </p:nvSpPr>
        <p:spPr>
          <a:xfrm>
            <a:off x="594360" y="274320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12"/>
          <p:cNvSpPr/>
          <p:nvPr/>
        </p:nvSpPr>
        <p:spPr>
          <a:xfrm>
            <a:off x="1097280" y="274320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2.  LLM genererar en Cypher-fråga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    baserat på schemat och frågan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13"/>
          <p:cNvSpPr/>
          <p:nvPr/>
        </p:nvSpPr>
        <p:spPr>
          <a:xfrm>
            <a:off x="594360" y="3749040"/>
            <a:ext cx="411120" cy="41112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14"/>
          <p:cNvSpPr/>
          <p:nvPr/>
        </p:nvSpPr>
        <p:spPr>
          <a:xfrm>
            <a:off x="594360" y="374904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5"/>
          <p:cNvSpPr/>
          <p:nvPr/>
        </p:nvSpPr>
        <p:spPr>
          <a:xfrm>
            <a:off x="1097280" y="374904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3.  Frågan körs mot Neo4j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16"/>
          <p:cNvSpPr/>
          <p:nvPr/>
        </p:nvSpPr>
        <p:spPr>
          <a:xfrm>
            <a:off x="594360" y="4754880"/>
            <a:ext cx="411120" cy="41112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7"/>
          <p:cNvSpPr/>
          <p:nvPr/>
        </p:nvSpPr>
        <p:spPr>
          <a:xfrm>
            <a:off x="594360" y="4754880"/>
            <a:ext cx="411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8"/>
          <p:cNvSpPr/>
          <p:nvPr/>
        </p:nvSpPr>
        <p:spPr>
          <a:xfrm>
            <a:off x="1097280" y="4754880"/>
            <a:ext cx="46630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4.  Resultat returneras — klart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19"/>
          <p:cNvSpPr/>
          <p:nvPr/>
        </p:nvSpPr>
        <p:spPr>
          <a:xfrm>
            <a:off x="594360" y="5806440"/>
            <a:ext cx="521172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20"/>
          <p:cNvSpPr/>
          <p:nvPr/>
        </p:nvSpPr>
        <p:spPr>
          <a:xfrm>
            <a:off x="640080" y="585216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Totalt: 2 verktyg  (get_schema + execute_query)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21"/>
          <p:cNvSpPr/>
          <p:nvPr/>
        </p:nvSpPr>
        <p:spPr>
          <a:xfrm>
            <a:off x="6217920" y="1051560"/>
            <a:ext cx="5668920" cy="539460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Box 22"/>
          <p:cNvSpPr/>
          <p:nvPr/>
        </p:nvSpPr>
        <p:spPr>
          <a:xfrm>
            <a:off x="6217920" y="3520440"/>
            <a:ext cx="5668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[ BILD: Exempelflöde /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Neo4j visualisering ]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1"/>
          <a:stretch/>
        </p:blipFill>
        <p:spPr>
          <a:xfrm>
            <a:off x="6199920" y="1051560"/>
            <a:ext cx="5680080" cy="5428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Lösning 2 — API-baserad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5"/>
          <p:cNvSpPr/>
          <p:nvPr/>
        </p:nvSpPr>
        <p:spPr>
          <a:xfrm>
            <a:off x="457200" y="1005840"/>
            <a:ext cx="11246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Ingen central lagring — data hämtas i realtid direkt från systemens API:er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6"/>
          <p:cNvSpPr/>
          <p:nvPr/>
        </p:nvSpPr>
        <p:spPr>
          <a:xfrm>
            <a:off x="365760" y="1554480"/>
            <a:ext cx="3657240" cy="594000"/>
          </a:xfrm>
          <a:prstGeom prst="rect">
            <a:avLst/>
          </a:prstGeom>
          <a:solidFill>
            <a:srgbClr val="2e8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7"/>
          <p:cNvSpPr/>
          <p:nvPr/>
        </p:nvSpPr>
        <p:spPr>
          <a:xfrm>
            <a:off x="365760" y="16002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GitHub  —  8 verktyg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8"/>
          <p:cNvSpPr/>
          <p:nvPr/>
        </p:nvSpPr>
        <p:spPr>
          <a:xfrm>
            <a:off x="365760" y="22402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9"/>
          <p:cNvSpPr/>
          <p:nvPr/>
        </p:nvSpPr>
        <p:spPr>
          <a:xfrm>
            <a:off x="457200" y="22860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get_repositories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10"/>
          <p:cNvSpPr/>
          <p:nvPr/>
        </p:nvSpPr>
        <p:spPr>
          <a:xfrm>
            <a:off x="365760" y="27705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11"/>
          <p:cNvSpPr/>
          <p:nvPr/>
        </p:nvSpPr>
        <p:spPr>
          <a:xfrm>
            <a:off x="457200" y="281628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get_commits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2"/>
          <p:cNvSpPr/>
          <p:nvPr/>
        </p:nvSpPr>
        <p:spPr>
          <a:xfrm>
            <a:off x="365760" y="330084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13"/>
          <p:cNvSpPr/>
          <p:nvPr/>
        </p:nvSpPr>
        <p:spPr>
          <a:xfrm>
            <a:off x="457200" y="334656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get_issues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14"/>
          <p:cNvSpPr/>
          <p:nvPr/>
        </p:nvSpPr>
        <p:spPr>
          <a:xfrm>
            <a:off x="365760" y="38314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15"/>
          <p:cNvSpPr/>
          <p:nvPr/>
        </p:nvSpPr>
        <p:spPr>
          <a:xfrm>
            <a:off x="457200" y="3877200"/>
            <a:ext cx="3474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get_contributors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Rectangle 16"/>
          <p:cNvSpPr/>
          <p:nvPr/>
        </p:nvSpPr>
        <p:spPr>
          <a:xfrm>
            <a:off x="365760" y="43617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7"/>
          <p:cNvSpPr/>
          <p:nvPr/>
        </p:nvSpPr>
        <p:spPr>
          <a:xfrm>
            <a:off x="457200" y="4407480"/>
            <a:ext cx="3474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...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20"/>
          <p:cNvSpPr/>
          <p:nvPr/>
        </p:nvSpPr>
        <p:spPr>
          <a:xfrm>
            <a:off x="4297680" y="1554480"/>
            <a:ext cx="3657240" cy="59400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21"/>
          <p:cNvSpPr/>
          <p:nvPr/>
        </p:nvSpPr>
        <p:spPr>
          <a:xfrm>
            <a:off x="4297680" y="16002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Slack  —  5 verktyg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22"/>
          <p:cNvSpPr/>
          <p:nvPr/>
        </p:nvSpPr>
        <p:spPr>
          <a:xfrm>
            <a:off x="4297680" y="22402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23"/>
          <p:cNvSpPr/>
          <p:nvPr/>
        </p:nvSpPr>
        <p:spPr>
          <a:xfrm>
            <a:off x="4389120" y="22860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get_channels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24"/>
          <p:cNvSpPr/>
          <p:nvPr/>
        </p:nvSpPr>
        <p:spPr>
          <a:xfrm>
            <a:off x="4297680" y="27705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25"/>
          <p:cNvSpPr/>
          <p:nvPr/>
        </p:nvSpPr>
        <p:spPr>
          <a:xfrm>
            <a:off x="4389120" y="281628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get_messages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26"/>
          <p:cNvSpPr/>
          <p:nvPr/>
        </p:nvSpPr>
        <p:spPr>
          <a:xfrm>
            <a:off x="4297680" y="330084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27"/>
          <p:cNvSpPr/>
          <p:nvPr/>
        </p:nvSpPr>
        <p:spPr>
          <a:xfrm>
            <a:off x="4389120" y="334656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get_users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ectangle 28"/>
          <p:cNvSpPr/>
          <p:nvPr/>
        </p:nvSpPr>
        <p:spPr>
          <a:xfrm>
            <a:off x="4297680" y="38314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29"/>
          <p:cNvSpPr/>
          <p:nvPr/>
        </p:nvSpPr>
        <p:spPr>
          <a:xfrm>
            <a:off x="4389120" y="38772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search_messages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ectangle 30"/>
          <p:cNvSpPr/>
          <p:nvPr/>
        </p:nvSpPr>
        <p:spPr>
          <a:xfrm>
            <a:off x="4297680" y="43617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31"/>
          <p:cNvSpPr/>
          <p:nvPr/>
        </p:nvSpPr>
        <p:spPr>
          <a:xfrm>
            <a:off x="4389120" y="440748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...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32"/>
          <p:cNvSpPr/>
          <p:nvPr/>
        </p:nvSpPr>
        <p:spPr>
          <a:xfrm>
            <a:off x="8229600" y="1554480"/>
            <a:ext cx="3657240" cy="59400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33"/>
          <p:cNvSpPr/>
          <p:nvPr/>
        </p:nvSpPr>
        <p:spPr>
          <a:xfrm>
            <a:off x="8229600" y="1600200"/>
            <a:ext cx="3657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Calibri"/>
              </a:rPr>
              <a:t>Confluence  —  7 verktyg</a:t>
            </a:r>
            <a:endParaRPr b="0" lang="sv-SE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ectangle 34"/>
          <p:cNvSpPr/>
          <p:nvPr/>
        </p:nvSpPr>
        <p:spPr>
          <a:xfrm>
            <a:off x="8229600" y="22402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35"/>
          <p:cNvSpPr/>
          <p:nvPr/>
        </p:nvSpPr>
        <p:spPr>
          <a:xfrm>
            <a:off x="8321040" y="228600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get_spaces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36"/>
          <p:cNvSpPr/>
          <p:nvPr/>
        </p:nvSpPr>
        <p:spPr>
          <a:xfrm>
            <a:off x="8229600" y="27705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37"/>
          <p:cNvSpPr/>
          <p:nvPr/>
        </p:nvSpPr>
        <p:spPr>
          <a:xfrm>
            <a:off x="8321040" y="281628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get_pages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ectangle 38"/>
          <p:cNvSpPr/>
          <p:nvPr/>
        </p:nvSpPr>
        <p:spPr>
          <a:xfrm>
            <a:off x="8229600" y="330084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39"/>
          <p:cNvSpPr/>
          <p:nvPr/>
        </p:nvSpPr>
        <p:spPr>
          <a:xfrm>
            <a:off x="8321040" y="334656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get_page_content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ctangle 40"/>
          <p:cNvSpPr/>
          <p:nvPr/>
        </p:nvSpPr>
        <p:spPr>
          <a:xfrm>
            <a:off x="8229600" y="383148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41"/>
          <p:cNvSpPr/>
          <p:nvPr/>
        </p:nvSpPr>
        <p:spPr>
          <a:xfrm>
            <a:off x="8321040" y="3877200"/>
            <a:ext cx="3474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get_users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ectangle 42"/>
          <p:cNvSpPr/>
          <p:nvPr/>
        </p:nvSpPr>
        <p:spPr>
          <a:xfrm>
            <a:off x="8229600" y="4361760"/>
            <a:ext cx="3657240" cy="475200"/>
          </a:xfrm>
          <a:prstGeom prst="rect">
            <a:avLst/>
          </a:prstGeom>
          <a:solidFill>
            <a:srgbClr val="f4f5f7"/>
          </a:solidFill>
          <a:ln w="12700">
            <a:solidFill>
              <a:srgbClr val="e8e9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43"/>
          <p:cNvSpPr/>
          <p:nvPr/>
        </p:nvSpPr>
        <p:spPr>
          <a:xfrm>
            <a:off x="8321040" y="4407480"/>
            <a:ext cx="3474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  ...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44"/>
          <p:cNvSpPr/>
          <p:nvPr/>
        </p:nvSpPr>
        <p:spPr>
          <a:xfrm>
            <a:off x="1737360" y="5989320"/>
            <a:ext cx="8686440" cy="5940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45"/>
          <p:cNvSpPr/>
          <p:nvPr/>
        </p:nvSpPr>
        <p:spPr>
          <a:xfrm>
            <a:off x="1737360" y="6035040"/>
            <a:ext cx="8686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Totalt: 20 verktyg   vs   2 verktyg i den grafbaserade lösningen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Demo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5"/>
          <p:cNvSpPr/>
          <p:nvPr/>
        </p:nvSpPr>
        <p:spPr>
          <a:xfrm>
            <a:off x="457200" y="1005840"/>
            <a:ext cx="11246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Förinspelad video — grafbaserade lösningen i aktion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Rectangle 6"/>
          <p:cNvSpPr/>
          <p:nvPr/>
        </p:nvSpPr>
        <p:spPr>
          <a:xfrm>
            <a:off x="1371600" y="1554480"/>
            <a:ext cx="9445320" cy="4845960"/>
          </a:xfrm>
          <a:prstGeom prst="rect">
            <a:avLst/>
          </a:prstGeom>
          <a:solidFill>
            <a:srgbClr val="f4f5f7"/>
          </a:solidFill>
          <a:ln w="12700">
            <a:solidFill>
              <a:srgbClr val="99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7"/>
          <p:cNvSpPr/>
          <p:nvPr/>
        </p:nvSpPr>
        <p:spPr>
          <a:xfrm>
            <a:off x="1371600" y="3749040"/>
            <a:ext cx="94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[ VIDEO ]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Resultat — Korrekthet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75" name="Chart 5"/>
          <p:cNvGraphicFramePr/>
          <p:nvPr/>
        </p:nvGraphicFramePr>
        <p:xfrm>
          <a:off x="365760" y="1097280"/>
          <a:ext cx="6857640" cy="539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76" name="Rectangle 6"/>
          <p:cNvSpPr/>
          <p:nvPr/>
        </p:nvSpPr>
        <p:spPr>
          <a:xfrm>
            <a:off x="7498080" y="1188720"/>
            <a:ext cx="448020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7"/>
          <p:cNvSpPr/>
          <p:nvPr/>
        </p:nvSpPr>
        <p:spPr>
          <a:xfrm>
            <a:off x="7635240" y="128016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Simpla: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8"/>
          <p:cNvSpPr/>
          <p:nvPr/>
        </p:nvSpPr>
        <p:spPr>
          <a:xfrm>
            <a:off x="7635240" y="169164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Båda 100% ✓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9"/>
          <p:cNvSpPr/>
          <p:nvPr/>
        </p:nvSpPr>
        <p:spPr>
          <a:xfrm>
            <a:off x="7498080" y="2377440"/>
            <a:ext cx="448020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10"/>
          <p:cNvSpPr/>
          <p:nvPr/>
        </p:nvSpPr>
        <p:spPr>
          <a:xfrm>
            <a:off x="7635240" y="24688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Medelsvåra: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11"/>
          <p:cNvSpPr/>
          <p:nvPr/>
        </p:nvSpPr>
        <p:spPr>
          <a:xfrm>
            <a:off x="7635240" y="288036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Graf 80%  —  API 40%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12"/>
          <p:cNvSpPr/>
          <p:nvPr/>
        </p:nvSpPr>
        <p:spPr>
          <a:xfrm>
            <a:off x="7498080" y="3566160"/>
            <a:ext cx="4480200" cy="100548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13"/>
          <p:cNvSpPr/>
          <p:nvPr/>
        </p:nvSpPr>
        <p:spPr>
          <a:xfrm>
            <a:off x="7635240" y="365760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Komplexa: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4"/>
          <p:cNvSpPr/>
          <p:nvPr/>
        </p:nvSpPr>
        <p:spPr>
          <a:xfrm>
            <a:off x="7635240" y="406908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Graf 80%  —  API 20%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15"/>
          <p:cNvSpPr/>
          <p:nvPr/>
        </p:nvSpPr>
        <p:spPr>
          <a:xfrm>
            <a:off x="7498080" y="4846320"/>
            <a:ext cx="4480200" cy="1645560"/>
          </a:xfrm>
          <a:prstGeom prst="rect">
            <a:avLst/>
          </a:prstGeom>
          <a:solidFill>
            <a:srgbClr val="f4f5f7"/>
          </a:solidFill>
          <a:ln w="12700">
            <a:solidFill>
              <a:srgbClr val="e74c3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Box 16"/>
          <p:cNvSpPr/>
          <p:nvPr/>
        </p:nvSpPr>
        <p:spPr>
          <a:xfrm>
            <a:off x="7635240" y="493776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API:s problem: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7"/>
          <p:cNvSpPr/>
          <p:nvPr/>
        </p:nvSpPr>
        <p:spPr>
          <a:xfrm>
            <a:off x="7635240" y="5349240"/>
            <a:ext cx="42058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Kan ej länka identiteter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mellan system.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"isak29" i GitHub ≠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"Isak Lampell" i Slack?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Resultat — Verktygsanrop &amp; Svarstid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5"/>
          <p:cNvSpPr/>
          <p:nvPr/>
        </p:nvSpPr>
        <p:spPr>
          <a:xfrm>
            <a:off x="365760" y="1005840"/>
            <a:ext cx="5760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Genomsnittliga verktygsanrop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3" name="Chart 6"/>
          <p:cNvGraphicFramePr/>
          <p:nvPr/>
        </p:nvGraphicFramePr>
        <p:xfrm>
          <a:off x="365760" y="1371600"/>
          <a:ext cx="5577480" cy="512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94" name="TextBox 7"/>
          <p:cNvSpPr/>
          <p:nvPr/>
        </p:nvSpPr>
        <p:spPr>
          <a:xfrm>
            <a:off x="6217920" y="1005840"/>
            <a:ext cx="5760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Genomsnittlig svarstid (ms)</a:t>
            </a:r>
            <a:endParaRPr b="0" lang="sv-SE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5" name="Chart 8"/>
          <p:cNvGraphicFramePr/>
          <p:nvPr/>
        </p:nvGraphicFramePr>
        <p:xfrm>
          <a:off x="6217920" y="1371600"/>
          <a:ext cx="5577480" cy="512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96" name="Rectangle 9"/>
          <p:cNvSpPr/>
          <p:nvPr/>
        </p:nvSpPr>
        <p:spPr>
          <a:xfrm>
            <a:off x="6089760" y="1005840"/>
            <a:ext cx="36360" cy="5394600"/>
          </a:xfrm>
          <a:prstGeom prst="rect">
            <a:avLst/>
          </a:prstGeom>
          <a:solidFill>
            <a:srgbClr val="99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3"/>
          <p:cNvSpPr/>
          <p:nvPr/>
        </p:nvSpPr>
        <p:spPr>
          <a:xfrm>
            <a:off x="457200" y="137160"/>
            <a:ext cx="11274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Diskussion &amp; Slutsats</a:t>
            </a:r>
            <a:endParaRPr b="0" lang="sv-S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4"/>
          <p:cNvSpPr/>
          <p:nvPr/>
        </p:nvSpPr>
        <p:spPr>
          <a:xfrm>
            <a:off x="457200" y="868680"/>
            <a:ext cx="11274120" cy="36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"/>
          <p:cNvSpPr/>
          <p:nvPr/>
        </p:nvSpPr>
        <p:spPr>
          <a:xfrm>
            <a:off x="457200" y="1005840"/>
            <a:ext cx="5486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Vad visar resultaten?</a:t>
            </a:r>
            <a:endParaRPr b="0" lang="sv-SE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6"/>
          <p:cNvSpPr/>
          <p:nvPr/>
        </p:nvSpPr>
        <p:spPr>
          <a:xfrm>
            <a:off x="640080" y="1554480"/>
            <a:ext cx="530316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+ Graf ger LLM:en tydliga relationer att följa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+ En Cypher-fråga kan navigera hela grafen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− Schema-overhead vid varje anrop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e74c3c"/>
                </a:solidFill>
                <a:effectLst/>
                <a:uFillTx/>
                <a:latin typeface="Calibri"/>
              </a:rPr>
              <a:t>− API kan ej länka identiteter mellan system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b="0" lang="en-US" sz="13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+ API fungerar bra vid enkla frågor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ectangle 7"/>
          <p:cNvSpPr/>
          <p:nvPr/>
        </p:nvSpPr>
        <p:spPr>
          <a:xfrm>
            <a:off x="6309360" y="1005840"/>
            <a:ext cx="5577480" cy="4023000"/>
          </a:xfrm>
          <a:prstGeom prst="rect">
            <a:avLst/>
          </a:prstGeom>
          <a:solidFill>
            <a:srgbClr val="f4f5f7"/>
          </a:solidFill>
          <a:ln w="12700">
            <a:solidFill>
              <a:srgbClr val="f265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8"/>
          <p:cNvSpPr/>
          <p:nvPr/>
        </p:nvSpPr>
        <p:spPr>
          <a:xfrm>
            <a:off x="6446520" y="1097280"/>
            <a:ext cx="530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Slutsats</a:t>
            </a:r>
            <a:endParaRPr b="0" lang="sv-SE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9"/>
          <p:cNvSpPr/>
          <p:nvPr/>
        </p:nvSpPr>
        <p:spPr>
          <a:xfrm>
            <a:off x="6446520" y="1691640"/>
            <a:ext cx="530316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En grafbaserad representation ger LLM:en tydliga fördelar när information behöver kombineras från olika källor.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b="0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Den ger LLM:en tydliga relationer som är enkla att följa.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API-lösningen fungerar bra för frågor mot enskilda system.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10"/>
          <p:cNvSpPr/>
          <p:nvPr/>
        </p:nvSpPr>
        <p:spPr>
          <a:xfrm>
            <a:off x="6309360" y="5212080"/>
            <a:ext cx="5577480" cy="1325520"/>
          </a:xfrm>
          <a:prstGeom prst="rect">
            <a:avLst/>
          </a:prstGeom>
          <a:solidFill>
            <a:srgbClr val="f4f5f7"/>
          </a:solidFill>
          <a:ln w="12700">
            <a:solidFill>
              <a:srgbClr val="27ae6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11"/>
          <p:cNvSpPr/>
          <p:nvPr/>
        </p:nvSpPr>
        <p:spPr>
          <a:xfrm>
            <a:off x="6446520" y="53035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27ae60"/>
                </a:solidFill>
                <a:effectLst/>
                <a:uFillTx/>
                <a:latin typeface="Calibri"/>
              </a:rPr>
              <a:t>Framtida arbete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12"/>
          <p:cNvSpPr/>
          <p:nvPr/>
        </p:nvSpPr>
        <p:spPr>
          <a:xfrm>
            <a:off x="6446520" y="5715000"/>
            <a:ext cx="5303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Kombinera lösningarna: API bygger grafen, grafen används för sökning</a:t>
            </a:r>
            <a:endParaRPr b="0" lang="sv-SE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 1"/>
          <p:cNvSpPr/>
          <p:nvPr/>
        </p:nvSpPr>
        <p:spPr>
          <a:xfrm>
            <a:off x="0" y="0"/>
            <a:ext cx="12188520" cy="9108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0" name="Rectangle 2"/>
          <p:cNvSpPr/>
          <p:nvPr/>
        </p:nvSpPr>
        <p:spPr>
          <a:xfrm>
            <a:off x="0" y="6766560"/>
            <a:ext cx="12188520" cy="91080"/>
          </a:xfrm>
          <a:prstGeom prst="rect">
            <a:avLst/>
          </a:prstGeom>
          <a:solidFill>
            <a:srgbClr val="f4f5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Rectangle 3"/>
          <p:cNvSpPr/>
          <p:nvPr/>
        </p:nvSpPr>
        <p:spPr>
          <a:xfrm>
            <a:off x="0" y="3017520"/>
            <a:ext cx="12188520" cy="54360"/>
          </a:xfrm>
          <a:prstGeom prst="rect">
            <a:avLst/>
          </a:prstGeom>
          <a:solidFill>
            <a:srgbClr val="f265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4"/>
          <p:cNvSpPr/>
          <p:nvPr/>
        </p:nvSpPr>
        <p:spPr>
          <a:xfrm>
            <a:off x="1371600" y="914400"/>
            <a:ext cx="94453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000" strike="noStrike" u="none">
                <a:solidFill>
                  <a:srgbClr val="1a1a1a"/>
                </a:solidFill>
                <a:effectLst/>
                <a:uFillTx/>
                <a:latin typeface="Calibri"/>
              </a:rPr>
              <a:t>Tack!</a:t>
            </a:r>
            <a:endParaRPr b="0" lang="sv-SE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5"/>
          <p:cNvSpPr/>
          <p:nvPr/>
        </p:nvSpPr>
        <p:spPr>
          <a:xfrm>
            <a:off x="1371600" y="3291840"/>
            <a:ext cx="94453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200" strike="noStrike" u="none">
                <a:solidFill>
                  <a:srgbClr val="f26522"/>
                </a:solidFill>
                <a:effectLst/>
                <a:uFillTx/>
                <a:latin typeface="Calibri"/>
              </a:rPr>
              <a:t>Frågor?</a:t>
            </a:r>
            <a:endParaRPr b="0" lang="sv-SE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6"/>
          <p:cNvSpPr/>
          <p:nvPr/>
        </p:nvSpPr>
        <p:spPr>
          <a:xfrm>
            <a:off x="1371600" y="4937760"/>
            <a:ext cx="944532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400" strike="noStrike" u="none">
                <a:solidFill>
                  <a:srgbClr val="555555"/>
                </a:solidFill>
                <a:effectLst/>
                <a:uFillTx/>
                <a:latin typeface="Calibri"/>
              </a:rPr>
              <a:t>Knightec Group AB  ·  Mittuniversitetet  ·  2026</a:t>
            </a:r>
            <a:endParaRPr b="0" lang="sv-SE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LibreOffice/25.2.7.2$Windows_X86_64 LibreOffice_project/5cbfd1ab6520636bb5f7b99185aa69bd7456825d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sv-SE</dc:language>
  <cp:lastModifiedBy/>
  <dcterms:modified xsi:type="dcterms:W3CDTF">2026-05-26T11:47:13Z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