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Grafbaserad (%)</c:v>
                </c:pt>
              </c:strCache>
            </c:strRef>
          </c:tx>
          <c:spPr>
            <a:solidFill>
              <a:srgbClr val="F26522"/>
            </a:solidFill>
          </c:spPr>
          <c:cat>
            <c:strRef>
              <c:f>Sheet1!$A$2:$A$4</c:f>
              <c:strCache>
                <c:ptCount val="3"/>
                <c:pt idx="0">
                  <c:v>Simpla</c:v>
                </c:pt>
                <c:pt idx="1">
                  <c:v>Medelsvåra</c:v>
                </c:pt>
                <c:pt idx="2">
                  <c:v>Komplexa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100</c:v>
                </c:pt>
                <c:pt idx="1">
                  <c:v>80</c:v>
                </c:pt>
                <c:pt idx="2">
                  <c:v>80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API-baserad (%)</c:v>
                </c:pt>
              </c:strCache>
            </c:strRef>
          </c:tx>
          <c:spPr>
            <a:solidFill>
              <a:srgbClr val="2E86C1"/>
            </a:solidFill>
          </c:spPr>
          <c:cat>
            <c:strRef>
              <c:f>Sheet1!$A$2:$A$4</c:f>
              <c:strCache>
                <c:ptCount val="3"/>
                <c:pt idx="0">
                  <c:v>Simpla</c:v>
                </c:pt>
                <c:pt idx="1">
                  <c:v>Medelsvåra</c:v>
                </c:pt>
                <c:pt idx="2">
                  <c:v>Komplexa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100</c:v>
                </c:pt>
                <c:pt idx="1">
                  <c:v>40</c:v>
                </c:pt>
                <c:pt idx="2">
                  <c:v>20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r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Grafbaserad</c:v>
                </c:pt>
              </c:strCache>
            </c:strRef>
          </c:tx>
          <c:spPr>
            <a:solidFill>
              <a:srgbClr val="F26522"/>
            </a:solidFill>
          </c:spPr>
          <c:cat>
            <c:strRef>
              <c:f>Sheet1!$A$2:$A$4</c:f>
              <c:strCache>
                <c:ptCount val="3"/>
                <c:pt idx="0">
                  <c:v>Simpla</c:v>
                </c:pt>
                <c:pt idx="1">
                  <c:v>Medelsvåra</c:v>
                </c:pt>
                <c:pt idx="2">
                  <c:v>Komplexa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2.2</c:v>
                </c:pt>
                <c:pt idx="1">
                  <c:v>4.0</c:v>
                </c:pt>
                <c:pt idx="2">
                  <c:v>2.4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API-baserad</c:v>
                </c:pt>
              </c:strCache>
            </c:strRef>
          </c:tx>
          <c:spPr>
            <a:solidFill>
              <a:srgbClr val="2E86C1"/>
            </a:solidFill>
          </c:spPr>
          <c:cat>
            <c:strRef>
              <c:f>Sheet1!$A$2:$A$4</c:f>
              <c:strCache>
                <c:ptCount val="3"/>
                <c:pt idx="0">
                  <c:v>Simpla</c:v>
                </c:pt>
                <c:pt idx="1">
                  <c:v>Medelsvåra</c:v>
                </c:pt>
                <c:pt idx="2">
                  <c:v>Komplexa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1.6</c:v>
                </c:pt>
                <c:pt idx="1">
                  <c:v>4.4</c:v>
                </c:pt>
                <c:pt idx="2">
                  <c:v>6.0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r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Grafbaserad</c:v>
                </c:pt>
              </c:strCache>
            </c:strRef>
          </c:tx>
          <c:spPr>
            <a:solidFill>
              <a:srgbClr val="F26522"/>
            </a:solidFill>
          </c:spPr>
          <c:cat>
            <c:strRef>
              <c:f>Sheet1!$A$2:$A$4</c:f>
              <c:strCache>
                <c:ptCount val="3"/>
                <c:pt idx="0">
                  <c:v>Simpla</c:v>
                </c:pt>
                <c:pt idx="1">
                  <c:v>Medelsvåra</c:v>
                </c:pt>
                <c:pt idx="2">
                  <c:v>Komplexa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1967</c:v>
                </c:pt>
                <c:pt idx="1">
                  <c:v>5234</c:v>
                </c:pt>
                <c:pt idx="2">
                  <c:v>2965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API-baserad</c:v>
                </c:pt>
              </c:strCache>
            </c:strRef>
          </c:tx>
          <c:spPr>
            <a:solidFill>
              <a:srgbClr val="2E86C1"/>
            </a:solidFill>
          </c:spPr>
          <c:cat>
            <c:strRef>
              <c:f>Sheet1!$A$2:$A$4</c:f>
              <c:strCache>
                <c:ptCount val="3"/>
                <c:pt idx="0">
                  <c:v>Simpla</c:v>
                </c:pt>
                <c:pt idx="1">
                  <c:v>Medelsvåra</c:v>
                </c:pt>
                <c:pt idx="2">
                  <c:v>Komplexa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1521</c:v>
                </c:pt>
                <c:pt idx="1">
                  <c:v>5251</c:v>
                </c:pt>
                <c:pt idx="2">
                  <c:v>18388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000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r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F26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560320"/>
            <a:ext cx="12188952" cy="54864"/>
          </a:xfrm>
          <a:prstGeom prst="rect">
            <a:avLst/>
          </a:prstGeom>
          <a:solidFill>
            <a:srgbClr val="F26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725912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</a:rPr>
              <a:t>Effektivisering av informationssökning med LLM:er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788920"/>
            <a:ext cx="103601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F26522"/>
                </a:solidFill>
              </a:rPr>
              <a:t>En jämförelse av grafbaserad kunskapsgraf mot API-baserad informationshämtning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749039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555555"/>
                </a:solidFill>
              </a:rPr>
              <a:t>Isak Lampell  ·  Knightec Group AB  ·  Mittuniversitetet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F26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745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1A1A"/>
                </a:solidFill>
              </a:rPr>
              <a:t>Problemet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F26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058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F26522"/>
                </a:solidFill>
              </a:rPr>
              <a:t>Föreställ dig att du som konsult behöver snabbt hitta ett svar...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6400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A1A1A"/>
                </a:solidFill>
              </a:rPr>
              <a:t>Vem skrev det här Confluence-dokumentet?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A1A1A"/>
                </a:solidFill>
              </a:rPr>
              <a:t/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A1A1A"/>
                </a:solidFill>
              </a:rPr>
              <a:t>Var i Slack diskuterades det här beslutet?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A1A1A"/>
                </a:solidFill>
              </a:rPr>
              <a:t/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A1A1A"/>
                </a:solidFill>
              </a:rPr>
              <a:t>Vem i GitHub skrev koden för den här funktionen?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840480"/>
            <a:ext cx="6400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55555"/>
                </a:solidFill>
              </a:rPr>
              <a:t>Svaret finns — men kräver sökning i flera
system och manuella kopplingar.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754880"/>
            <a:ext cx="6675120" cy="1783080"/>
          </a:xfrm>
          <a:prstGeom prst="rect">
            <a:avLst/>
          </a:prstGeom>
          <a:solidFill>
            <a:srgbClr val="F4F5F7"/>
          </a:solidFill>
          <a:ln w="12700">
            <a:solidFill>
              <a:srgbClr val="F265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4937760"/>
            <a:ext cx="64008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</a:rPr>
              <a:t>Det här är vardagen hos många organisationer idag.
Det är exakt det problemet mitt arbete syftar till att lösa.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79" y="1005840"/>
            <a:ext cx="4389120" cy="5577840"/>
          </a:xfrm>
          <a:prstGeom prst="rect">
            <a:avLst/>
          </a:prstGeom>
          <a:solidFill>
            <a:srgbClr val="F4F5F7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79" y="356616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555555"/>
                </a:solidFill>
              </a:rPr>
              <a:t>[ BILD: Information
spridd i olika system 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F26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745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1A1A"/>
                </a:solidFill>
              </a:rPr>
              <a:t>Bakgrund – Knightec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F26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058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</a:rPr>
              <a:t>Exjobbet är gjort i samarbete med Knightec — ett tech-konsultbolag med verksamhet på flera orter i Sverige.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4592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26522"/>
                </a:solidFill>
              </a:rPr>
              <a:t>Informationen är spridd över tre system: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194560"/>
            <a:ext cx="3566160" cy="3566160"/>
          </a:xfrm>
          <a:prstGeom prst="rect">
            <a:avLst/>
          </a:prstGeom>
          <a:solidFill>
            <a:srgbClr val="F4F5F7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286000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E86C1"/>
                </a:solidFill>
              </a:rPr>
              <a:t>GitHub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971800"/>
            <a:ext cx="3017520" cy="36576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3108960"/>
            <a:ext cx="32918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555555"/>
                </a:solidFill>
              </a:rPr>
              <a:t>Projekt &amp; programkod
Repositories, commits,
issues, aktiva användare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2194560"/>
            <a:ext cx="3566160" cy="3566160"/>
          </a:xfrm>
          <a:prstGeom prst="rect">
            <a:avLst/>
          </a:prstGeom>
          <a:solidFill>
            <a:srgbClr val="F4F5F7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0" y="2286000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7AE60"/>
                </a:solidFill>
              </a:rPr>
              <a:t>Slack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2971800"/>
            <a:ext cx="3017520" cy="36576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34840" y="3108960"/>
            <a:ext cx="32918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555555"/>
                </a:solidFill>
              </a:rPr>
              <a:t>Kommunikation
Kanaler, meddelanden,
användare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94560"/>
            <a:ext cx="3566160" cy="3566160"/>
          </a:xfrm>
          <a:prstGeom prst="rect">
            <a:avLst/>
          </a:prstGeom>
          <a:solidFill>
            <a:srgbClr val="F4F5F7"/>
          </a:solidFill>
          <a:ln w="12700">
            <a:solidFill>
              <a:srgbClr val="F265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0" y="2286000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26522"/>
                </a:solidFill>
              </a:rPr>
              <a:t>Confluence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12480" y="2971800"/>
            <a:ext cx="3017520" cy="36576"/>
          </a:xfrm>
          <a:prstGeom prst="rect">
            <a:avLst/>
          </a:prstGeom>
          <a:solidFill>
            <a:srgbClr val="F26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75320" y="3108960"/>
            <a:ext cx="32918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555555"/>
                </a:solidFill>
              </a:rPr>
              <a:t>Intern dokumentation
Processer, rutiner,
riktlinjer, teams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8978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555555"/>
                </a:solidFill>
              </a:rPr>
              <a:t>Problemet: ingen gemensam struktur — data kan inte enkelt kombineras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F26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745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1A1A"/>
                </a:solidFill>
              </a:rPr>
              <a:t>Teori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F26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051560"/>
            <a:ext cx="5394960" cy="2423160"/>
          </a:xfrm>
          <a:prstGeom prst="rect">
            <a:avLst/>
          </a:prstGeom>
          <a:solidFill>
            <a:srgbClr val="F4F5F7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14300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E86C1"/>
                </a:solidFill>
              </a:rPr>
              <a:t>LLM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45919"/>
            <a:ext cx="5120640" cy="27432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783080"/>
            <a:ext cx="51206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5555"/>
                </a:solidFill>
              </a:rPr>
              <a:t>Large Language Model — AI-modell tränad på stora mängder text.
I arbetet: tolkar användarens fråga och avgör vilka verktyg som ska anropas.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051560"/>
            <a:ext cx="5394960" cy="2423160"/>
          </a:xfrm>
          <a:prstGeom prst="rect">
            <a:avLst/>
          </a:prstGeom>
          <a:solidFill>
            <a:srgbClr val="F4F5F7"/>
          </a:solidFill>
          <a:ln w="12700">
            <a:solidFill>
              <a:srgbClr val="F265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14300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26522"/>
                </a:solidFill>
              </a:rPr>
              <a:t>MCP — Model Context Protocol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46520" y="1645919"/>
            <a:ext cx="5120640" cy="27432"/>
          </a:xfrm>
          <a:prstGeom prst="rect">
            <a:avLst/>
          </a:prstGeom>
          <a:solidFill>
            <a:srgbClr val="F26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783080"/>
            <a:ext cx="51206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5555"/>
                </a:solidFill>
              </a:rPr>
              <a:t>Mellanlager mellan LLM och datakällor. Funktionalitet exponeras som verktyg.
I arbetet: MCP-server med verktyg för Cypher-frågor eller API-anrop.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657600"/>
            <a:ext cx="5394960" cy="2423160"/>
          </a:xfrm>
          <a:prstGeom prst="rect">
            <a:avLst/>
          </a:prstGeom>
          <a:solidFill>
            <a:srgbClr val="F4F5F7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749039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7AE60"/>
                </a:solidFill>
              </a:rPr>
              <a:t>Kunskapsgraf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4251960"/>
            <a:ext cx="5120640" cy="2743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4389120"/>
            <a:ext cx="51206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5555"/>
                </a:solidFill>
              </a:rPr>
              <a:t>Nätverksstruktur av entiteter och relationer. Lagras i Neo4j.
I arbetet: data från GitHub, Slack och Confluence modellerat med noder och kanter.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3657600"/>
            <a:ext cx="5394960" cy="2423160"/>
          </a:xfrm>
          <a:prstGeom prst="rect">
            <a:avLst/>
          </a:prstGeom>
          <a:solidFill>
            <a:srgbClr val="F4F5F7"/>
          </a:solidFill>
          <a:ln w="1270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749039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555555"/>
                </a:solidFill>
              </a:rPr>
              <a:t>Cypher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46520" y="4251960"/>
            <a:ext cx="5120640" cy="27432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4389120"/>
            <a:ext cx="51206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5555"/>
                </a:solidFill>
              </a:rPr>
              <a:t>Frågespråk för Neo4j. LLM:en genererar Cypher-frågor dynamiskt.
Ex: MATCH (p:Person)-[:WORKS_ON]-&gt;(r:Repository) RETURN 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F26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745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1A1A"/>
                </a:solidFill>
              </a:rPr>
              <a:t>Kunskapsgraf – visualisering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F26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058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26522"/>
                </a:solidFill>
              </a:rPr>
              <a:t>Grafen innehåller noder och relationer från alla tre system. Samma person är kopplad till repos, Slack-inlägg och Confluence-dokument.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45920"/>
            <a:ext cx="7772400" cy="4892040"/>
          </a:xfrm>
          <a:prstGeom prst="rect">
            <a:avLst/>
          </a:prstGeom>
          <a:solidFill>
            <a:srgbClr val="F4F5F7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863339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555555"/>
                </a:solidFill>
              </a:rPr>
              <a:t>[ BILD: visualisation.png — Neo4j grafvisualisering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1828800"/>
            <a:ext cx="3566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1A1A1A"/>
                </a:solidFill>
              </a:rPr>
              <a:t>Noder: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555555"/>
                </a:solidFill>
              </a:rPr>
              <a:t>Person, Repository, Issue, Commit,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555555"/>
                </a:solidFill>
              </a:rPr>
              <a:t>SlackChannel, Post, Document ...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A1A1A"/>
                </a:solidFill>
              </a:rPr>
              <a:t/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A1A1A"/>
                </a:solidFill>
              </a:rPr>
              <a:t>Relationer: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555555"/>
                </a:solidFill>
              </a:rPr>
              <a:t>WORKS_ON  ·  COMMITTED_IN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555555"/>
                </a:solidFill>
              </a:rPr>
              <a:t>AUTHORED  ·  MEMBER_OF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555555"/>
                </a:solidFill>
              </a:rPr>
              <a:t>HAS_POST  ·  WROTE ...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0" y="5029200"/>
            <a:ext cx="3566160" cy="1508760"/>
          </a:xfrm>
          <a:prstGeom prst="rect">
            <a:avLst/>
          </a:prstGeom>
          <a:solidFill>
            <a:srgbClr val="F4F5F7"/>
          </a:solidFill>
          <a:ln w="12700">
            <a:solidFill>
              <a:srgbClr val="F265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0" y="5166360"/>
            <a:ext cx="33832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</a:rPr>
              <a:t>Tydliga kopplingar gör att LLM:en kan följa sambanden direkt — utan att gissa.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F26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745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1A1A"/>
                </a:solidFill>
              </a:rPr>
              <a:t>Metod — Design Science Research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F26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058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26522"/>
                </a:solidFill>
              </a:rPr>
              <a:t>Designa och bygg konkreta artefakter — utvärdera dem för att dra slutsatser.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00200"/>
            <a:ext cx="2011680" cy="1005840"/>
          </a:xfrm>
          <a:prstGeom prst="rect">
            <a:avLst/>
          </a:prstGeom>
          <a:solidFill>
            <a:srgbClr val="F4F5F7"/>
          </a:solidFill>
          <a:ln w="12700">
            <a:solidFill>
              <a:srgbClr val="F265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69164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1A1A"/>
                </a:solidFill>
              </a:rPr>
              <a:t>Designa
två lösningar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23160" y="1828800"/>
            <a:ext cx="320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26522"/>
                </a:solidFill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88920" y="1600200"/>
            <a:ext cx="2011680" cy="1005840"/>
          </a:xfrm>
          <a:prstGeom prst="rect">
            <a:avLst/>
          </a:prstGeom>
          <a:solidFill>
            <a:srgbClr val="F4F5F7"/>
          </a:solidFill>
          <a:ln w="12700">
            <a:solidFill>
              <a:srgbClr val="F265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4639" y="169164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1A1A"/>
                </a:solidFill>
              </a:rPr>
              <a:t>Implementera
Graf + API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1828800"/>
            <a:ext cx="320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26522"/>
                </a:solidFill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12080" y="1600200"/>
            <a:ext cx="2011680" cy="1005840"/>
          </a:xfrm>
          <a:prstGeom prst="rect">
            <a:avLst/>
          </a:prstGeom>
          <a:solidFill>
            <a:srgbClr val="F4F5F7"/>
          </a:solidFill>
          <a:ln w="12700">
            <a:solidFill>
              <a:srgbClr val="F265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57800" y="169164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1A1A"/>
                </a:solidFill>
              </a:rPr>
              <a:t>Utvärdera
15 testfrågor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69480" y="1828800"/>
            <a:ext cx="320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26522"/>
                </a:solidFill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35240" y="1600200"/>
            <a:ext cx="2011680" cy="1005840"/>
          </a:xfrm>
          <a:prstGeom prst="rect">
            <a:avLst/>
          </a:prstGeom>
          <a:solidFill>
            <a:srgbClr val="F4F5F7"/>
          </a:solidFill>
          <a:ln w="12700">
            <a:solidFill>
              <a:srgbClr val="F265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80960" y="169164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1A1A"/>
                </a:solidFill>
              </a:rPr>
              <a:t>Dra
slutstatser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926080"/>
            <a:ext cx="3703320" cy="3611880"/>
          </a:xfrm>
          <a:prstGeom prst="rect">
            <a:avLst/>
          </a:prstGeom>
          <a:solidFill>
            <a:srgbClr val="F4F5F7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017520"/>
            <a:ext cx="3520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E86C1"/>
                </a:solidFill>
              </a:rPr>
              <a:t>Simpla  Q1–Q5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703320"/>
            <a:ext cx="3154680" cy="36576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3840480"/>
            <a:ext cx="3429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555555"/>
                </a:solidFill>
              </a:rPr>
              <a:t>Data från en enskild källa.
Inget komplext resonemang.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5212080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999999"/>
                </a:solidFill>
              </a:rPr>
              <a:t>Mäts: korrekthet · anrop · tid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51960" y="2926080"/>
            <a:ext cx="3703320" cy="3611880"/>
          </a:xfrm>
          <a:prstGeom prst="rect">
            <a:avLst/>
          </a:prstGeom>
          <a:solidFill>
            <a:srgbClr val="F4F5F7"/>
          </a:solidFill>
          <a:ln w="12700">
            <a:solidFill>
              <a:srgbClr val="F265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43400" y="3017520"/>
            <a:ext cx="3520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26522"/>
                </a:solidFill>
              </a:rPr>
              <a:t>Medelsvåra  Q6–Q10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26280" y="3703320"/>
            <a:ext cx="3154680" cy="36576"/>
          </a:xfrm>
          <a:prstGeom prst="rect">
            <a:avLst/>
          </a:prstGeom>
          <a:solidFill>
            <a:srgbClr val="F26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0" y="3840480"/>
            <a:ext cx="3429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555555"/>
                </a:solidFill>
              </a:rPr>
              <a:t>Mer resonemang krävs.
Flera anrop från en källa.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5212080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999999"/>
                </a:solidFill>
              </a:rPr>
              <a:t>Mäts: korrekthet · anrop · tid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38160" y="2926080"/>
            <a:ext cx="3703320" cy="3611880"/>
          </a:xfrm>
          <a:prstGeom prst="rect">
            <a:avLst/>
          </a:prstGeom>
          <a:solidFill>
            <a:srgbClr val="F4F5F7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0" y="3017520"/>
            <a:ext cx="3520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74C3C"/>
                </a:solidFill>
              </a:rPr>
              <a:t>Komplexa  Q11–Q15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412480" y="3703320"/>
            <a:ext cx="3154680" cy="36576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75320" y="3840480"/>
            <a:ext cx="3429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555555"/>
                </a:solidFill>
              </a:rPr>
              <a:t>Kopplingar mellan
olika datakällor krävs.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320" y="5212080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999999"/>
                </a:solidFill>
              </a:rPr>
              <a:t>Mäts: korrekthet · anrop · tid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F26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745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1A1A"/>
                </a:solidFill>
              </a:rPr>
              <a:t>Systemarkitektur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F26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2834640"/>
            <a:ext cx="1828800" cy="914400"/>
          </a:xfrm>
          <a:prstGeom prst="rect">
            <a:avLst/>
          </a:prstGeom>
          <a:solidFill>
            <a:srgbClr val="F4F5F7"/>
          </a:solidFill>
          <a:ln w="12700">
            <a:solidFill>
              <a:srgbClr val="F265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2907792"/>
            <a:ext cx="173736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1A1A"/>
                </a:solidFill>
              </a:rPr>
              <a:t>Användare</a:t>
            </a:r>
          </a:p>
        </p:txBody>
      </p:sp>
      <p:sp>
        <p:nvSpPr>
          <p:cNvPr id="8" name="Rectangle 7"/>
          <p:cNvSpPr/>
          <p:nvPr/>
        </p:nvSpPr>
        <p:spPr>
          <a:xfrm>
            <a:off x="2651760" y="2834640"/>
            <a:ext cx="2194560" cy="914400"/>
          </a:xfrm>
          <a:prstGeom prst="rect">
            <a:avLst/>
          </a:prstGeom>
          <a:solidFill>
            <a:srgbClr val="F4F5F7"/>
          </a:solidFill>
          <a:ln w="12700">
            <a:solidFill>
              <a:srgbClr val="F265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97479" y="2907792"/>
            <a:ext cx="21031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1A1A"/>
                </a:solidFill>
              </a:rPr>
              <a:t>Cherry Studio
(UI + chatt)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94960" y="1554480"/>
            <a:ext cx="2194560" cy="914400"/>
          </a:xfrm>
          <a:prstGeom prst="rect">
            <a:avLst/>
          </a:prstGeom>
          <a:solidFill>
            <a:srgbClr val="F4F5F7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40680" y="1627632"/>
            <a:ext cx="21031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1A1A"/>
                </a:solidFill>
              </a:rPr>
              <a:t>LLM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94960" y="3840480"/>
            <a:ext cx="2194560" cy="914400"/>
          </a:xfrm>
          <a:prstGeom prst="rect">
            <a:avLst/>
          </a:prstGeom>
          <a:solidFill>
            <a:srgbClr val="F4F5F7"/>
          </a:solidFill>
          <a:ln w="12700">
            <a:solidFill>
              <a:srgbClr val="F265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40680" y="3913632"/>
            <a:ext cx="21031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1A1A"/>
                </a:solidFill>
              </a:rPr>
              <a:t>MCP Server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12480" y="1554480"/>
            <a:ext cx="3566160" cy="914400"/>
          </a:xfrm>
          <a:prstGeom prst="rect">
            <a:avLst/>
          </a:prstGeom>
          <a:solidFill>
            <a:srgbClr val="F4F5F7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58200" y="1627632"/>
            <a:ext cx="34747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1A1A"/>
                </a:solidFill>
              </a:rPr>
              <a:t>Lösning 1: Graf
(Neo4j)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12480" y="3840480"/>
            <a:ext cx="3566160" cy="914400"/>
          </a:xfrm>
          <a:prstGeom prst="rect">
            <a:avLst/>
          </a:prstGeom>
          <a:solidFill>
            <a:srgbClr val="F4F5F7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58200" y="3913632"/>
            <a:ext cx="34747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1A1A"/>
                </a:solidFill>
              </a:rPr>
              <a:t>Lösning 2: API
GitHub/Slack/Confluence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3154680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26522"/>
                </a:solidFill>
              </a:rP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19202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2E86C1"/>
                </a:solidFill>
              </a:rPr>
              <a:t>↑↓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42062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26522"/>
                </a:solidFill>
              </a:rPr>
              <a:t>↑↓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35240" y="1874519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27AE60"/>
                </a:solidFill>
              </a:rPr>
              <a:t>Cypher 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35240" y="420624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E74C3C"/>
                </a:solidFill>
              </a:rPr>
              <a:t>REST 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5394960"/>
            <a:ext cx="11430000" cy="1143000"/>
          </a:xfrm>
          <a:prstGeom prst="rect">
            <a:avLst/>
          </a:prstGeom>
          <a:solidFill>
            <a:srgbClr val="F4F5F7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553212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555555"/>
                </a:solidFill>
              </a:rPr>
              <a:t>1. Fråga ställs  →  2. LLM väljer verktyg  →  3. MCP kör verktyget  →  4. Data returneras  →  5. LLM formulerar svar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F26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745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1A1A"/>
                </a:solidFill>
              </a:rPr>
              <a:t>Lösning 1 — Grafbaserad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F26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5486400" cy="5394960"/>
          </a:xfrm>
          <a:prstGeom prst="rect">
            <a:avLst/>
          </a:prstGeom>
          <a:solidFill>
            <a:srgbClr val="F4F5F7"/>
          </a:solidFill>
          <a:ln w="12700">
            <a:solidFill>
              <a:srgbClr val="F265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14300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26522"/>
                </a:solidFill>
              </a:rPr>
              <a:t>Hur det fungerar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1737360"/>
            <a:ext cx="411480" cy="411480"/>
          </a:xfrm>
          <a:prstGeom prst="rect">
            <a:avLst/>
          </a:prstGeom>
          <a:solidFill>
            <a:srgbClr val="F26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73736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37360"/>
            <a:ext cx="4663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</a:rPr>
              <a:t>1.  LLM hämtar grafens schema
    (alla noder, relationer, attribut)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2743200"/>
            <a:ext cx="411480" cy="411480"/>
          </a:xfrm>
          <a:prstGeom prst="rect">
            <a:avLst/>
          </a:prstGeom>
          <a:solidFill>
            <a:srgbClr val="F26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74320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743200"/>
            <a:ext cx="4663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</a:rPr>
              <a:t>2.  LLM genererar en Cypher-fråga
    baserat på schemat och frågan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3749039"/>
            <a:ext cx="411480" cy="411480"/>
          </a:xfrm>
          <a:prstGeom prst="rect">
            <a:avLst/>
          </a:prstGeom>
          <a:solidFill>
            <a:srgbClr val="F26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749039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749039"/>
            <a:ext cx="4663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</a:rPr>
              <a:t>3.  Frågan körs mot Neo4j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" y="4754880"/>
            <a:ext cx="411480" cy="411480"/>
          </a:xfrm>
          <a:prstGeom prst="rect">
            <a:avLst/>
          </a:prstGeom>
          <a:solidFill>
            <a:srgbClr val="F26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475488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754880"/>
            <a:ext cx="4663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</a:rPr>
              <a:t>4.  Resultat returneras — klart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5806440"/>
            <a:ext cx="52120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85216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7AE60"/>
                </a:solidFill>
              </a:rPr>
              <a:t>Totalt: 2 verktyg  (get_schema + execute_query)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7920" y="1051560"/>
            <a:ext cx="5669280" cy="5394960"/>
          </a:xfrm>
          <a:prstGeom prst="rect">
            <a:avLst/>
          </a:prstGeom>
          <a:solidFill>
            <a:srgbClr val="F4F5F7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0" y="3520439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555555"/>
                </a:solidFill>
              </a:rPr>
              <a:t>[ BILD: Exempelflöde /
Neo4j visualisering 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F26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745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1A1A"/>
                </a:solidFill>
              </a:rPr>
              <a:t>Lösning 2 — API-baserad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F26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058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26522"/>
                </a:solidFill>
              </a:rPr>
              <a:t>Ingen central lagring — data hämtas i realtid direkt från systemens API:er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554480"/>
            <a:ext cx="3657600" cy="59436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600200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GitHub  —  8 verktyg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240280"/>
            <a:ext cx="3657600" cy="475488"/>
          </a:xfrm>
          <a:prstGeom prst="rect">
            <a:avLst/>
          </a:prstGeom>
          <a:solidFill>
            <a:srgbClr val="F4F5F7"/>
          </a:solidFill>
          <a:ln w="12700">
            <a:solidFill>
              <a:srgbClr val="E8E9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286000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5555"/>
                </a:solidFill>
              </a:rPr>
              <a:t>  get_repositories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770632"/>
            <a:ext cx="3657600" cy="475488"/>
          </a:xfrm>
          <a:prstGeom prst="rect">
            <a:avLst/>
          </a:prstGeom>
          <a:solidFill>
            <a:srgbClr val="F4F5F7"/>
          </a:solidFill>
          <a:ln w="12700">
            <a:solidFill>
              <a:srgbClr val="E8E9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816352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5555"/>
                </a:solidFill>
              </a:rPr>
              <a:t>  get_commits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300984"/>
            <a:ext cx="3657600" cy="475488"/>
          </a:xfrm>
          <a:prstGeom prst="rect">
            <a:avLst/>
          </a:prstGeom>
          <a:solidFill>
            <a:srgbClr val="F4F5F7"/>
          </a:solidFill>
          <a:ln w="12700">
            <a:solidFill>
              <a:srgbClr val="E8E9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346704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5555"/>
                </a:solidFill>
              </a:rPr>
              <a:t>  get_issues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831335"/>
            <a:ext cx="3657600" cy="475488"/>
          </a:xfrm>
          <a:prstGeom prst="rect">
            <a:avLst/>
          </a:prstGeom>
          <a:solidFill>
            <a:srgbClr val="F4F5F7"/>
          </a:solidFill>
          <a:ln w="12700">
            <a:solidFill>
              <a:srgbClr val="E8E9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877056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5555"/>
                </a:solidFill>
              </a:rPr>
              <a:t>  get_active_users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361688"/>
            <a:ext cx="3657600" cy="475488"/>
          </a:xfrm>
          <a:prstGeom prst="rect">
            <a:avLst/>
          </a:prstGeom>
          <a:solidFill>
            <a:srgbClr val="F4F5F7"/>
          </a:solidFill>
          <a:ln w="12700">
            <a:solidFill>
              <a:srgbClr val="E8E9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407408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5555"/>
                </a:solidFill>
              </a:rPr>
              <a:t>  get_org_members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892040"/>
            <a:ext cx="3657600" cy="475488"/>
          </a:xfrm>
          <a:prstGeom prst="rect">
            <a:avLst/>
          </a:prstGeom>
          <a:solidFill>
            <a:srgbClr val="F4F5F7"/>
          </a:solidFill>
          <a:ln w="12700">
            <a:solidFill>
              <a:srgbClr val="E8E9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937760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5555"/>
                </a:solidFill>
              </a:rPr>
              <a:t>  ...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0" y="1554480"/>
            <a:ext cx="3657600" cy="59436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7680" y="1600200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Slack  —  5 verktyg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97680" y="2240280"/>
            <a:ext cx="3657600" cy="475488"/>
          </a:xfrm>
          <a:prstGeom prst="rect">
            <a:avLst/>
          </a:prstGeom>
          <a:solidFill>
            <a:srgbClr val="F4F5F7"/>
          </a:solidFill>
          <a:ln w="12700">
            <a:solidFill>
              <a:srgbClr val="E8E9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0" y="2286000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5555"/>
                </a:solidFill>
              </a:rPr>
              <a:t>  get_channels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97680" y="2770632"/>
            <a:ext cx="3657600" cy="475488"/>
          </a:xfrm>
          <a:prstGeom prst="rect">
            <a:avLst/>
          </a:prstGeom>
          <a:solidFill>
            <a:srgbClr val="F4F5F7"/>
          </a:solidFill>
          <a:ln w="12700">
            <a:solidFill>
              <a:srgbClr val="E8E9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0" y="2816352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5555"/>
                </a:solidFill>
              </a:rPr>
              <a:t>  get_messages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97680" y="3300984"/>
            <a:ext cx="3657600" cy="475488"/>
          </a:xfrm>
          <a:prstGeom prst="rect">
            <a:avLst/>
          </a:prstGeom>
          <a:solidFill>
            <a:srgbClr val="F4F5F7"/>
          </a:solidFill>
          <a:ln w="12700">
            <a:solidFill>
              <a:srgbClr val="E8E9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89120" y="3346704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5555"/>
                </a:solidFill>
              </a:rPr>
              <a:t>  get_users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97680" y="3831335"/>
            <a:ext cx="3657600" cy="475488"/>
          </a:xfrm>
          <a:prstGeom prst="rect">
            <a:avLst/>
          </a:prstGeom>
          <a:solidFill>
            <a:srgbClr val="F4F5F7"/>
          </a:solidFill>
          <a:ln w="12700">
            <a:solidFill>
              <a:srgbClr val="E8E9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89120" y="3877056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5555"/>
                </a:solidFill>
              </a:rPr>
              <a:t>  search_messages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97680" y="4361688"/>
            <a:ext cx="3657600" cy="475488"/>
          </a:xfrm>
          <a:prstGeom prst="rect">
            <a:avLst/>
          </a:prstGeom>
          <a:solidFill>
            <a:srgbClr val="F4F5F7"/>
          </a:solidFill>
          <a:ln w="12700">
            <a:solidFill>
              <a:srgbClr val="E8E9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89120" y="4407408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5555"/>
                </a:solidFill>
              </a:rPr>
              <a:t>  ...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0" y="1554480"/>
            <a:ext cx="3657600" cy="594360"/>
          </a:xfrm>
          <a:prstGeom prst="rect">
            <a:avLst/>
          </a:prstGeom>
          <a:solidFill>
            <a:srgbClr val="F26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0" y="1600200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Confluence  —  7 verktyg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0" y="2240280"/>
            <a:ext cx="3657600" cy="475488"/>
          </a:xfrm>
          <a:prstGeom prst="rect">
            <a:avLst/>
          </a:prstGeom>
          <a:solidFill>
            <a:srgbClr val="F4F5F7"/>
          </a:solidFill>
          <a:ln w="12700">
            <a:solidFill>
              <a:srgbClr val="E8E9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21040" y="2286000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5555"/>
                </a:solidFill>
              </a:rPr>
              <a:t>  get_spaces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29600" y="2770632"/>
            <a:ext cx="3657600" cy="475488"/>
          </a:xfrm>
          <a:prstGeom prst="rect">
            <a:avLst/>
          </a:prstGeom>
          <a:solidFill>
            <a:srgbClr val="F4F5F7"/>
          </a:solidFill>
          <a:ln w="12700">
            <a:solidFill>
              <a:srgbClr val="E8E9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21040" y="2816352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5555"/>
                </a:solidFill>
              </a:rPr>
              <a:t>  get_pages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29600" y="3300984"/>
            <a:ext cx="3657600" cy="475488"/>
          </a:xfrm>
          <a:prstGeom prst="rect">
            <a:avLst/>
          </a:prstGeom>
          <a:solidFill>
            <a:srgbClr val="F4F5F7"/>
          </a:solidFill>
          <a:ln w="12700">
            <a:solidFill>
              <a:srgbClr val="E8E9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21040" y="3346704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5555"/>
                </a:solidFill>
              </a:rPr>
              <a:t>  get_page_content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29600" y="3831335"/>
            <a:ext cx="3657600" cy="475488"/>
          </a:xfrm>
          <a:prstGeom prst="rect">
            <a:avLst/>
          </a:prstGeom>
          <a:solidFill>
            <a:srgbClr val="F4F5F7"/>
          </a:solidFill>
          <a:ln w="12700">
            <a:solidFill>
              <a:srgbClr val="E8E9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21040" y="3877056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5555"/>
                </a:solidFill>
              </a:rPr>
              <a:t>  search_content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229600" y="4361688"/>
            <a:ext cx="3657600" cy="475488"/>
          </a:xfrm>
          <a:prstGeom prst="rect">
            <a:avLst/>
          </a:prstGeom>
          <a:solidFill>
            <a:srgbClr val="F4F5F7"/>
          </a:solidFill>
          <a:ln w="12700">
            <a:solidFill>
              <a:srgbClr val="E8E9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321040" y="4407408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5555"/>
                </a:solidFill>
              </a:rPr>
              <a:t>  ...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737360" y="5989320"/>
            <a:ext cx="8686800" cy="594360"/>
          </a:xfrm>
          <a:prstGeom prst="rect">
            <a:avLst/>
          </a:prstGeom>
          <a:solidFill>
            <a:srgbClr val="F4F5F7"/>
          </a:solidFill>
          <a:ln w="12700">
            <a:solidFill>
              <a:srgbClr val="F265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737360" y="6035040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</a:rPr>
              <a:t>Totalt: 20 verktyg   vs   2 verktyg i den grafbaserade lösningen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F26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745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1A1A"/>
                </a:solidFill>
              </a:rPr>
              <a:t>Demo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F26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058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F26522"/>
                </a:solidFill>
              </a:rPr>
              <a:t>Förinspelad video — grafbaserade lösningen i aktion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1554480"/>
            <a:ext cx="9445752" cy="4846320"/>
          </a:xfrm>
          <a:prstGeom prst="rect">
            <a:avLst/>
          </a:prstGeom>
          <a:solidFill>
            <a:srgbClr val="F4F5F7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3749039"/>
            <a:ext cx="94457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555555"/>
                </a:solidFill>
              </a:rPr>
              <a:t>[ VIDEO 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F26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745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1A1A"/>
                </a:solidFill>
              </a:rPr>
              <a:t>Resultat — Korrekthet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F26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365760" y="1097280"/>
          <a:ext cx="6858000" cy="5394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7498079" y="1188720"/>
            <a:ext cx="4480560" cy="1005840"/>
          </a:xfrm>
          <a:prstGeom prst="rect">
            <a:avLst/>
          </a:prstGeom>
          <a:solidFill>
            <a:srgbClr val="F4F5F7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35240" y="128016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7AE60"/>
                </a:solidFill>
              </a:rPr>
              <a:t>Simpla: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691640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1A1A"/>
                </a:solidFill>
              </a:rPr>
              <a:t>Båda 100% ✓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79" y="2377440"/>
            <a:ext cx="4480560" cy="1005840"/>
          </a:xfrm>
          <a:prstGeom prst="rect">
            <a:avLst/>
          </a:prstGeom>
          <a:solidFill>
            <a:srgbClr val="F4F5F7"/>
          </a:solidFill>
          <a:ln w="12700">
            <a:solidFill>
              <a:srgbClr val="F265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35240" y="246888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26522"/>
                </a:solidFill>
              </a:rPr>
              <a:t>Medelsvåra: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35240" y="2880360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1A1A"/>
                </a:solidFill>
              </a:rPr>
              <a:t>Graf 80%  —  API 40%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98079" y="3566160"/>
            <a:ext cx="4480560" cy="1005840"/>
          </a:xfrm>
          <a:prstGeom prst="rect">
            <a:avLst/>
          </a:prstGeom>
          <a:solidFill>
            <a:srgbClr val="F4F5F7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35240" y="365760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74C3C"/>
                </a:solidFill>
              </a:rPr>
              <a:t>Komplexa: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069080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1A1A"/>
                </a:solidFill>
              </a:rPr>
              <a:t>Graf 80%  —  API 20%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98079" y="4846320"/>
            <a:ext cx="4480560" cy="1645920"/>
          </a:xfrm>
          <a:prstGeom prst="rect">
            <a:avLst/>
          </a:prstGeom>
          <a:solidFill>
            <a:srgbClr val="F4F5F7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35240" y="493776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74C3C"/>
                </a:solidFill>
              </a:rPr>
              <a:t>API:s problem: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35240" y="5349240"/>
            <a:ext cx="4206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5555"/>
                </a:solidFill>
              </a:rPr>
              <a:t>Kan ej länka identiteter
mellan system.
"isak29" i GitHub ≠
"Isak Lampell" i Slack?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F26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745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1A1A"/>
                </a:solidFill>
              </a:rPr>
              <a:t>Resultat — Verktygsanrop &amp; Svarstid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F26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0584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55555"/>
                </a:solidFill>
              </a:rPr>
              <a:t>Genomsnittliga verktygsanrop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365760" y="1371600"/>
          <a:ext cx="5577840" cy="51206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217920" y="100584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55555"/>
                </a:solidFill>
              </a:rPr>
              <a:t>Genomsnittlig svarstid (ms)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217920" y="1371600"/>
          <a:ext cx="5577840" cy="51206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Rectangle 9"/>
          <p:cNvSpPr/>
          <p:nvPr/>
        </p:nvSpPr>
        <p:spPr>
          <a:xfrm>
            <a:off x="6089904" y="1005840"/>
            <a:ext cx="36576" cy="5394960"/>
          </a:xfrm>
          <a:prstGeom prst="rect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F26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745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1A1A"/>
                </a:solidFill>
              </a:rPr>
              <a:t>Diskussion &amp; Slutsats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F26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058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26522"/>
                </a:solidFill>
              </a:rPr>
              <a:t>Vad visar resultaten?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27AE60"/>
                </a:solidFill>
              </a:rPr>
              <a:t>+ Graf ger LLM:en tydliga relationer att följa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1A1A"/>
                </a:solidFill>
              </a:rPr>
              <a:t/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7AE60"/>
                </a:solidFill>
              </a:rPr>
              <a:t>+ En Cypher-fråga kan navigera hela grafen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1A1A"/>
                </a:solidFill>
              </a:rPr>
              <a:t/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E74C3C"/>
                </a:solidFill>
              </a:rPr>
              <a:t>− Schema-overhead vid varje anrop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1A1A"/>
                </a:solidFill>
              </a:rPr>
              <a:t/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E74C3C"/>
                </a:solidFill>
              </a:rPr>
              <a:t>− API kan ej länka identiteter mellan system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1A1A"/>
                </a:solidFill>
              </a:rPr>
              <a:t/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7AE60"/>
                </a:solidFill>
              </a:rPr>
              <a:t>+ API fungerar bra vid enkla frågor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1005840"/>
            <a:ext cx="5577840" cy="4023360"/>
          </a:xfrm>
          <a:prstGeom prst="rect">
            <a:avLst/>
          </a:prstGeom>
          <a:solidFill>
            <a:srgbClr val="F4F5F7"/>
          </a:solidFill>
          <a:ln w="12700">
            <a:solidFill>
              <a:srgbClr val="F265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09728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26522"/>
                </a:solidFill>
              </a:rPr>
              <a:t>Slutsats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1691640"/>
            <a:ext cx="53035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</a:rPr>
              <a:t>En grafbaserad representation ger LLM:en tydliga fördelar när information behöver kombineras från olika källor.
Den ger LLM:en tydliga relationer som är enkla att följa.
API-lösningen fungerar bra för frågor mot enskilda system.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5212080"/>
            <a:ext cx="5577840" cy="1325880"/>
          </a:xfrm>
          <a:prstGeom prst="rect">
            <a:avLst/>
          </a:prstGeom>
          <a:solidFill>
            <a:srgbClr val="F4F5F7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53035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7AE60"/>
                </a:solidFill>
              </a:rPr>
              <a:t>Framtida arbete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5715000"/>
            <a:ext cx="5303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55555"/>
                </a:solidFill>
              </a:rPr>
              <a:t>Kombinera lösningarna: API bygger grafen, grafen används för sökning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F26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88952" cy="54864"/>
          </a:xfrm>
          <a:prstGeom prst="rect">
            <a:avLst/>
          </a:prstGeom>
          <a:solidFill>
            <a:srgbClr val="F26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914400"/>
            <a:ext cx="944575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0" b="1" i="0">
                <a:solidFill>
                  <a:srgbClr val="1A1A1A"/>
                </a:solidFill>
              </a:rPr>
              <a:t>Tack!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291840"/>
            <a:ext cx="94457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26522"/>
                </a:solidFill>
              </a:rPr>
              <a:t>Frågor?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937760"/>
            <a:ext cx="944575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55555"/>
                </a:solidFill>
              </a:rPr>
              <a:t>Isak Lampell  ·  lampell.i@gmail.com
Knightec Group AB  ·  Mittuniversitetet  · 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