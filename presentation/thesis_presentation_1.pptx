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Grafbaserad (%)</c:v>
                </c:pt>
              </c:strCache>
            </c:strRef>
          </c:tx>
          <c:spPr>
            <a:solidFill>
              <a:srgbClr val="f26522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API-baserad (%)</c:v>
                </c:pt>
              </c:strCache>
            </c:strRef>
          </c:tx>
          <c:spPr>
            <a:solidFill>
              <a:srgbClr val="2e86c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100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</c:ser>
        <c:gapWidth val="150"/>
        <c:overlap val="0"/>
        <c:axId val="26473826"/>
        <c:axId val="12309367"/>
      </c:barChart>
      <c:catAx>
        <c:axId val="26473826"/>
        <c:scaling>
          <c:orientation val="minMax"/>
        </c:scaling>
        <c:delete val="0"/>
        <c:axPos val="b"/>
        <c:numFmt formatCode="[$-41D]yyyy/mm/dd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2309367"/>
        <c:crosses val="autoZero"/>
        <c:auto val="1"/>
        <c:lblAlgn val="ctr"/>
        <c:lblOffset val="100"/>
        <c:noMultiLvlLbl val="0"/>
      </c:catAx>
      <c:valAx>
        <c:axId val="12309367"/>
        <c:scaling>
          <c:orientation val="minMax"/>
          <c:max val="100"/>
          <c:min val="0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6473826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8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Grafbaserad</c:v>
                </c:pt>
              </c:strCache>
            </c:strRef>
          </c:tx>
          <c:spPr>
            <a:solidFill>
              <a:srgbClr val="f26522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2.2</c:v>
                </c:pt>
                <c:pt idx="1">
                  <c:v>4</c:v>
                </c:pt>
                <c:pt idx="2">
                  <c:v>2.4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API-baserad</c:v>
                </c:pt>
              </c:strCache>
            </c:strRef>
          </c:tx>
          <c:spPr>
            <a:solidFill>
              <a:srgbClr val="2e86c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1.6</c:v>
                </c:pt>
                <c:pt idx="1">
                  <c:v>4.4</c:v>
                </c:pt>
                <c:pt idx="2">
                  <c:v>6</c:v>
                </c:pt>
              </c:numCache>
            </c:numRef>
          </c:val>
        </c:ser>
        <c:gapWidth val="150"/>
        <c:overlap val="0"/>
        <c:axId val="18476485"/>
        <c:axId val="9480704"/>
      </c:barChart>
      <c:catAx>
        <c:axId val="18476485"/>
        <c:scaling>
          <c:orientation val="minMax"/>
        </c:scaling>
        <c:delete val="0"/>
        <c:axPos val="b"/>
        <c:numFmt formatCode="[$-41D]yyyy/mm/dd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480704"/>
        <c:crosses val="autoZero"/>
        <c:auto val="1"/>
        <c:lblAlgn val="ctr"/>
        <c:lblOffset val="100"/>
        <c:noMultiLvlLbl val="0"/>
      </c:catAx>
      <c:valAx>
        <c:axId val="9480704"/>
        <c:scaling>
          <c:orientation val="minMax"/>
          <c:max val="8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8476485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8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Grafbaserad</c:v>
                </c:pt>
              </c:strCache>
            </c:strRef>
          </c:tx>
          <c:spPr>
            <a:solidFill>
              <a:srgbClr val="f26522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1967</c:v>
                </c:pt>
                <c:pt idx="1">
                  <c:v>5234</c:v>
                </c:pt>
                <c:pt idx="2">
                  <c:v>2965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API-baserad</c:v>
                </c:pt>
              </c:strCache>
            </c:strRef>
          </c:tx>
          <c:spPr>
            <a:solidFill>
              <a:srgbClr val="2e86c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1521</c:v>
                </c:pt>
                <c:pt idx="1">
                  <c:v>5251</c:v>
                </c:pt>
                <c:pt idx="2">
                  <c:v>18388</c:v>
                </c:pt>
              </c:numCache>
            </c:numRef>
          </c:val>
        </c:ser>
        <c:gapWidth val="150"/>
        <c:overlap val="0"/>
        <c:axId val="39146179"/>
        <c:axId val="8580168"/>
      </c:barChart>
      <c:catAx>
        <c:axId val="39146179"/>
        <c:scaling>
          <c:orientation val="minMax"/>
        </c:scaling>
        <c:delete val="0"/>
        <c:axPos val="b"/>
        <c:numFmt formatCode="[$-41D]yyyy/mm/dd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580168"/>
        <c:crosses val="autoZero"/>
        <c:auto val="1"/>
        <c:lblAlgn val="ctr"/>
        <c:lblOffset val="100"/>
        <c:noMultiLvlLbl val="0"/>
      </c:catAx>
      <c:valAx>
        <c:axId val="8580168"/>
        <c:scaling>
          <c:orientation val="minMax"/>
          <c:max val="20000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9146179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8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Klicka för att redigera dispositionstextens format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Andra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Tredje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Fjärde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Femte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Sjätte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Sjunde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73FC979-4DFD-4876-B7D0-A7DEEE1C35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8B62C7D-D9E8-4AC6-8558-A8713794C9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233AC0-D311-4A18-B496-7A2B77BBB76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4EA7B2-17D3-4CEA-A69B-E6850864DA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AF1E67-5079-4435-AA07-BB91114CD9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855448-9AA4-4C78-8E0B-67C7468307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A574B6-93D9-4FC9-AC33-FFE4F1F64D3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0113F2B-CF9A-4CFE-A794-117118AADC2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6D7A86E-7EBE-457B-803A-5C724E10BBA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925C0D5-73F3-42CB-8CC3-1EB00C05894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81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Klicka för att redigera rubriktextens format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1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Klicka för att redigera dispositionstextens format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Andra dispositionsnivån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Tredje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Fjärde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Femte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Sjätte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Sjunde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B004C8A-3B8A-41D5-BC45-7B11F358106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youtu.be/vohgKkRSY04" TargetMode="External"/><Relationship Id="rId2" Type="http://schemas.openxmlformats.org/officeDocument/2006/relationships/hyperlink" Target="https://youtu.be/vohgKkRSY04" TargetMode="External"/><Relationship Id="rId3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Rectangle 3"/>
          <p:cNvSpPr/>
          <p:nvPr/>
        </p:nvSpPr>
        <p:spPr>
          <a:xfrm>
            <a:off x="0" y="2560320"/>
            <a:ext cx="12187080" cy="52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731520" y="822960"/>
            <a:ext cx="107240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Grafbaserad datarepresentation för LLM-driven informationssökning i organisationer</a:t>
            </a:r>
            <a:endParaRPr b="0" lang="sv-SE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914400" y="2788920"/>
            <a:ext cx="10358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En jämförelse mellan grafbaserad och API-baserad dataåtkomst avseende effektivitet, korrekthet och resursanvändning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914400" y="3749040"/>
            <a:ext cx="10358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Isak Lampell  ·  Knightec Group AB  ·  Mittuniversitetet  ·  2026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Problemet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457200" y="1051560"/>
            <a:ext cx="77706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Föreställ dig att du sitter på ett företag med hundratals kollegor,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många projekt och tusentals dokumentationssidor med information om riktlinjer och rutiner.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457200" y="2011680"/>
            <a:ext cx="777060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Allt är spritt över många olika interna system och du behöver snabbt hitta svaret på en specifik fråga.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457200" y="2788920"/>
            <a:ext cx="7770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Det du gör är att du börjar söka, frågar kollegor och söker lite ytterligare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tills du hittar svaret. Det kan ta väldigt lång tid som egentligen borde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läggas på det riktiga arbetet.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8"/>
          <p:cNvSpPr/>
          <p:nvPr/>
        </p:nvSpPr>
        <p:spPr>
          <a:xfrm>
            <a:off x="457200" y="4069080"/>
            <a:ext cx="7770600" cy="118692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594360" y="4206240"/>
            <a:ext cx="7496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Det här är vardagen hos många organisationer idag —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och det är precis det problemet mitt arbete syftar till att lösa.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0"/>
          <p:cNvSpPr/>
          <p:nvPr/>
        </p:nvSpPr>
        <p:spPr>
          <a:xfrm>
            <a:off x="8412480" y="1051560"/>
            <a:ext cx="3472920" cy="5118840"/>
          </a:xfrm>
          <a:prstGeom prst="rect">
            <a:avLst/>
          </a:prstGeom>
          <a:solidFill>
            <a:srgbClr val="f4f5f7"/>
          </a:solidFill>
          <a:ln w="12700">
            <a:solidFill>
              <a:srgbClr val="99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8412480" y="3383280"/>
            <a:ext cx="3472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[ BILD ]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8412480" y="1051560"/>
            <a:ext cx="3513960" cy="511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Bakgrund – Knightec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457200" y="1005840"/>
            <a:ext cx="112453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Exjobbet är gjort i samarbete med Knightec — ett tech-konsultbolag med verksamhet på flera orter i Sverige.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457200" y="1645920"/>
            <a:ext cx="73134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Informationen är spridd över tre system: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7"/>
          <p:cNvSpPr/>
          <p:nvPr/>
        </p:nvSpPr>
        <p:spPr>
          <a:xfrm>
            <a:off x="457200" y="2194560"/>
            <a:ext cx="3564360" cy="356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457200" y="2286000"/>
            <a:ext cx="35643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e86c1"/>
                </a:solidFill>
                <a:effectLst/>
                <a:uFillTx/>
                <a:latin typeface="Calibri"/>
              </a:rPr>
              <a:t>GitHub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9"/>
          <p:cNvSpPr/>
          <p:nvPr/>
        </p:nvSpPr>
        <p:spPr>
          <a:xfrm>
            <a:off x="731520" y="2971800"/>
            <a:ext cx="3015720" cy="3492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731520" y="309060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Projekt &amp; programkod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731520" y="356616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Repositories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731520" y="404172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Commits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731520" y="451728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Issues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731520" y="499248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Aktiva användare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15"/>
          <p:cNvSpPr/>
          <p:nvPr/>
        </p:nvSpPr>
        <p:spPr>
          <a:xfrm>
            <a:off x="4297680" y="2194560"/>
            <a:ext cx="3564360" cy="356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4297680" y="2286000"/>
            <a:ext cx="35643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Slack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7"/>
          <p:cNvSpPr/>
          <p:nvPr/>
        </p:nvSpPr>
        <p:spPr>
          <a:xfrm>
            <a:off x="4572000" y="2971800"/>
            <a:ext cx="3015720" cy="3492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8"/>
          <p:cNvSpPr/>
          <p:nvPr/>
        </p:nvSpPr>
        <p:spPr>
          <a:xfrm>
            <a:off x="4572000" y="309060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Kommunikation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9"/>
          <p:cNvSpPr/>
          <p:nvPr/>
        </p:nvSpPr>
        <p:spPr>
          <a:xfrm>
            <a:off x="4572000" y="356616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Kanaler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0"/>
          <p:cNvSpPr/>
          <p:nvPr/>
        </p:nvSpPr>
        <p:spPr>
          <a:xfrm>
            <a:off x="4572000" y="404172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Meddelanden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1"/>
          <p:cNvSpPr/>
          <p:nvPr/>
        </p:nvSpPr>
        <p:spPr>
          <a:xfrm>
            <a:off x="4572000" y="451728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Användare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2"/>
          <p:cNvSpPr/>
          <p:nvPr/>
        </p:nvSpPr>
        <p:spPr>
          <a:xfrm>
            <a:off x="8138160" y="2194560"/>
            <a:ext cx="3564360" cy="356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23"/>
          <p:cNvSpPr/>
          <p:nvPr/>
        </p:nvSpPr>
        <p:spPr>
          <a:xfrm>
            <a:off x="8138160" y="2286000"/>
            <a:ext cx="35643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Confluence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24"/>
          <p:cNvSpPr/>
          <p:nvPr/>
        </p:nvSpPr>
        <p:spPr>
          <a:xfrm>
            <a:off x="8412480" y="2971800"/>
            <a:ext cx="301572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5"/>
          <p:cNvSpPr/>
          <p:nvPr/>
        </p:nvSpPr>
        <p:spPr>
          <a:xfrm>
            <a:off x="8412480" y="309060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Intern dokumentation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6"/>
          <p:cNvSpPr/>
          <p:nvPr/>
        </p:nvSpPr>
        <p:spPr>
          <a:xfrm>
            <a:off x="8412480" y="356616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Processer &amp; rutiner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7"/>
          <p:cNvSpPr/>
          <p:nvPr/>
        </p:nvSpPr>
        <p:spPr>
          <a:xfrm>
            <a:off x="8412480" y="404172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Riktlinjer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8"/>
          <p:cNvSpPr/>
          <p:nvPr/>
        </p:nvSpPr>
        <p:spPr>
          <a:xfrm>
            <a:off x="8412480" y="451728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Teams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9"/>
          <p:cNvSpPr/>
          <p:nvPr/>
        </p:nvSpPr>
        <p:spPr>
          <a:xfrm>
            <a:off x="8412480" y="499248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Sidor &amp; författare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0"/>
          <p:cNvSpPr/>
          <p:nvPr/>
        </p:nvSpPr>
        <p:spPr>
          <a:xfrm>
            <a:off x="457200" y="5897880"/>
            <a:ext cx="11245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Problemet: ingen gemensam struktur — data kan inte enkelt kombineras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Två lösningar undersöks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457200" y="1005840"/>
            <a:ext cx="112453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För att lösa problemet implementeras och jämförs två olika lösningar: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6"/>
          <p:cNvSpPr/>
          <p:nvPr/>
        </p:nvSpPr>
        <p:spPr>
          <a:xfrm>
            <a:off x="457200" y="1554480"/>
            <a:ext cx="5484600" cy="502740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594360" y="1645920"/>
            <a:ext cx="52102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Lösning 1 — Grafbaserad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8"/>
          <p:cNvSpPr/>
          <p:nvPr/>
        </p:nvSpPr>
        <p:spPr>
          <a:xfrm>
            <a:off x="594360" y="2240280"/>
            <a:ext cx="5210280" cy="2556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640080" y="2377440"/>
            <a:ext cx="5118840" cy="45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Data från GitHub, Slack och Confluence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samlas i en gemensam grafstruktur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Tydliga relationer och samband modelleras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direkt i databasen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Ex: Isak Lampell är kopplad till en Confluence-sida,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ett GitHub-projekt och meddelanden i Slack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LLM:en navigerar grafen för att hitta svar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10"/>
          <p:cNvSpPr/>
          <p:nvPr/>
        </p:nvSpPr>
        <p:spPr>
          <a:xfrm>
            <a:off x="6263640" y="1554480"/>
            <a:ext cx="5484600" cy="5027400"/>
          </a:xfrm>
          <a:prstGeom prst="rect">
            <a:avLst/>
          </a:prstGeom>
          <a:solidFill>
            <a:srgbClr val="f4f5f7"/>
          </a:solidFill>
          <a:ln w="1270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6400800" y="1645920"/>
            <a:ext cx="52102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e86c1"/>
                </a:solidFill>
                <a:effectLst/>
                <a:uFillTx/>
                <a:latin typeface="Calibri"/>
              </a:rPr>
              <a:t>Lösning 2 — API-baserad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6400800" y="2240280"/>
            <a:ext cx="5210280" cy="255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6400800" y="2377440"/>
            <a:ext cx="5210280" cy="45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Ingen central lagring — data hämtas i realtid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direkt från systemens API:er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LLM:en resonerar själv kring kopplingar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efter att data hämtats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Ex: API-anrop hämtar alla användare från GitHub,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LLM plockar ut rätt person och gör nytt anrop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mot Confluence för att hämta den personens sidor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Teori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5"/>
          <p:cNvSpPr/>
          <p:nvPr/>
        </p:nvSpPr>
        <p:spPr>
          <a:xfrm>
            <a:off x="365760" y="1051560"/>
            <a:ext cx="5393160" cy="2421360"/>
          </a:xfrm>
          <a:prstGeom prst="rect">
            <a:avLst/>
          </a:prstGeom>
          <a:solidFill>
            <a:srgbClr val="f4f5f7"/>
          </a:solidFill>
          <a:ln w="1270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502920" y="1143000"/>
            <a:ext cx="5118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e86c1"/>
                </a:solidFill>
                <a:effectLst/>
                <a:uFillTx/>
                <a:latin typeface="Calibri"/>
              </a:rPr>
              <a:t>LLM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7"/>
          <p:cNvSpPr/>
          <p:nvPr/>
        </p:nvSpPr>
        <p:spPr>
          <a:xfrm>
            <a:off x="502920" y="1645920"/>
            <a:ext cx="5118840" cy="255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502920" y="1783080"/>
            <a:ext cx="51188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Large Language Model — AI-modell tränad på stora mängder text.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 arbetet: tolkar användarens fråga och avgör vilka verktyg som ska anropas.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9"/>
          <p:cNvSpPr/>
          <p:nvPr/>
        </p:nvSpPr>
        <p:spPr>
          <a:xfrm>
            <a:off x="6309360" y="1051560"/>
            <a:ext cx="5393160" cy="2421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446520" y="1143000"/>
            <a:ext cx="5118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MCP — Model Context Protocol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11"/>
          <p:cNvSpPr/>
          <p:nvPr/>
        </p:nvSpPr>
        <p:spPr>
          <a:xfrm>
            <a:off x="6446520" y="1645920"/>
            <a:ext cx="5118840" cy="2556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6446520" y="1783080"/>
            <a:ext cx="51188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Mellanlager mellan LLM och datakällor. Funktionalitet exponeras som verktyg.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 arbetet: MCP-server med verktyg för Cypher-frågor eller API-anrop.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3"/>
          <p:cNvSpPr/>
          <p:nvPr/>
        </p:nvSpPr>
        <p:spPr>
          <a:xfrm>
            <a:off x="365760" y="3657600"/>
            <a:ext cx="5393160" cy="2421360"/>
          </a:xfrm>
          <a:prstGeom prst="rect">
            <a:avLst/>
          </a:prstGeom>
          <a:solidFill>
            <a:srgbClr val="f4f5f7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502920" y="3749040"/>
            <a:ext cx="5118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Kunskapsgraf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5"/>
          <p:cNvSpPr/>
          <p:nvPr/>
        </p:nvSpPr>
        <p:spPr>
          <a:xfrm>
            <a:off x="502920" y="4251960"/>
            <a:ext cx="5118840" cy="2556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502920" y="4389120"/>
            <a:ext cx="51188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Nätverksstruktur av entiteter och relationer. Lagras i Neo4j.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Lagras som noder och kanter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 arbetet: data från GitHub, Slack och Confluence modellerat med noder och kanter.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7"/>
          <p:cNvSpPr/>
          <p:nvPr/>
        </p:nvSpPr>
        <p:spPr>
          <a:xfrm>
            <a:off x="6309360" y="3657600"/>
            <a:ext cx="5393160" cy="2421360"/>
          </a:xfrm>
          <a:prstGeom prst="rect">
            <a:avLst/>
          </a:prstGeom>
          <a:solidFill>
            <a:srgbClr val="f4f5f7"/>
          </a:solidFill>
          <a:ln w="12700">
            <a:solidFill>
              <a:srgbClr val="555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8"/>
          <p:cNvSpPr/>
          <p:nvPr/>
        </p:nvSpPr>
        <p:spPr>
          <a:xfrm>
            <a:off x="6446520" y="3749040"/>
            <a:ext cx="5118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Cypher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19"/>
          <p:cNvSpPr/>
          <p:nvPr/>
        </p:nvSpPr>
        <p:spPr>
          <a:xfrm>
            <a:off x="6446520" y="4251960"/>
            <a:ext cx="5118840" cy="25560"/>
          </a:xfrm>
          <a:prstGeom prst="rect">
            <a:avLst/>
          </a:prstGeom>
          <a:solidFill>
            <a:srgbClr val="5555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0"/>
          <p:cNvSpPr/>
          <p:nvPr/>
        </p:nvSpPr>
        <p:spPr>
          <a:xfrm>
            <a:off x="6446520" y="4389120"/>
            <a:ext cx="51188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Frågespråk för Neo4j. LLM:en genererar Cypher-frågor dynamiskt.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Ex: MATCH (p:Person)-[:WORKS_ON]-&gt;(r:Repository) RETURN r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Kunskapsgraf – visualisering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457200" y="1005840"/>
            <a:ext cx="112453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Grafen innehåller noder och relationer från alla tre system. Samma person är kopplad till repos, Slack-inlägg och Confluence-dokument.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457200" y="3863160"/>
            <a:ext cx="7770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[ BILD: visualisation.png — Neo4j grafvisualisering ]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8412480" y="1828800"/>
            <a:ext cx="3564360" cy="45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Noder: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Person, Repository, Issue, Commit,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SlackChannel, Post, Document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Relationer: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WORKS_ON  ·  COMMITTED_IN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AUTHORED  ·  MEMBER_OF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HAS_POST  ·  WROTE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9"/>
          <p:cNvSpPr/>
          <p:nvPr/>
        </p:nvSpPr>
        <p:spPr>
          <a:xfrm>
            <a:off x="8412480" y="5029200"/>
            <a:ext cx="3564360" cy="1506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8503920" y="5166360"/>
            <a:ext cx="338148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Tydliga kopplingar gör att LLM:en kan följa sambanden direkt — utan att gissa.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1440000" y="1620000"/>
            <a:ext cx="5758920" cy="445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457200" y="137160"/>
            <a:ext cx="112726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Metod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457200" y="1005840"/>
            <a:ext cx="112453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Designa och bygg konkreta artefakter — utvärdera dem för att dra slutsatser.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6"/>
          <p:cNvSpPr/>
          <p:nvPr/>
        </p:nvSpPr>
        <p:spPr>
          <a:xfrm>
            <a:off x="365760" y="1600200"/>
            <a:ext cx="2009880" cy="10040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411480" y="1691640"/>
            <a:ext cx="1918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Designa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två lösningar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2423160" y="1828800"/>
            <a:ext cx="31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→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9"/>
          <p:cNvSpPr/>
          <p:nvPr/>
        </p:nvSpPr>
        <p:spPr>
          <a:xfrm>
            <a:off x="2788920" y="1600200"/>
            <a:ext cx="2009880" cy="10040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2834640" y="1691640"/>
            <a:ext cx="1918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Implementera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Graf + API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1"/>
          <p:cNvSpPr/>
          <p:nvPr/>
        </p:nvSpPr>
        <p:spPr>
          <a:xfrm>
            <a:off x="4846320" y="1828800"/>
            <a:ext cx="31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→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2"/>
          <p:cNvSpPr/>
          <p:nvPr/>
        </p:nvSpPr>
        <p:spPr>
          <a:xfrm>
            <a:off x="5212080" y="1600200"/>
            <a:ext cx="2009880" cy="10040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5257800" y="1691640"/>
            <a:ext cx="191844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Utvärdera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15 testfrågor och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mät tid,anrop och korrekthet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7269480" y="1828800"/>
            <a:ext cx="31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→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15"/>
          <p:cNvSpPr/>
          <p:nvPr/>
        </p:nvSpPr>
        <p:spPr>
          <a:xfrm>
            <a:off x="7635240" y="1600200"/>
            <a:ext cx="2009880" cy="10040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7680960" y="1691640"/>
            <a:ext cx="1918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Dra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slutstatser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17"/>
          <p:cNvSpPr/>
          <p:nvPr/>
        </p:nvSpPr>
        <p:spPr>
          <a:xfrm>
            <a:off x="365760" y="2926080"/>
            <a:ext cx="3701520" cy="3701520"/>
          </a:xfrm>
          <a:prstGeom prst="rect">
            <a:avLst/>
          </a:prstGeom>
          <a:solidFill>
            <a:srgbClr val="f4f5f7"/>
          </a:solidFill>
          <a:ln w="1270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8"/>
          <p:cNvSpPr/>
          <p:nvPr/>
        </p:nvSpPr>
        <p:spPr>
          <a:xfrm>
            <a:off x="457200" y="2999160"/>
            <a:ext cx="35186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e86c1"/>
                </a:solidFill>
                <a:effectLst/>
                <a:uFillTx/>
                <a:latin typeface="Calibri"/>
              </a:rPr>
              <a:t>Simpla  Q1–Q5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9"/>
          <p:cNvSpPr/>
          <p:nvPr/>
        </p:nvSpPr>
        <p:spPr>
          <a:xfrm>
            <a:off x="548640" y="3547800"/>
            <a:ext cx="3335760" cy="255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502920" y="3639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Q1: Get all GitHub repos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502920" y="4206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Q2: Show latest message from general Slack channel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2"/>
          <p:cNvSpPr/>
          <p:nvPr/>
        </p:nvSpPr>
        <p:spPr>
          <a:xfrm>
            <a:off x="502920" y="4773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Q3: Get info about the bachelor-thesis repo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3"/>
          <p:cNvSpPr/>
          <p:nvPr/>
        </p:nvSpPr>
        <p:spPr>
          <a:xfrm>
            <a:off x="502920" y="5340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Q4: Show every user in the organisation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4"/>
          <p:cNvSpPr/>
          <p:nvPr/>
        </p:nvSpPr>
        <p:spPr>
          <a:xfrm>
            <a:off x="502920" y="590688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Q5: Send me all pages from Confluence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25"/>
          <p:cNvSpPr/>
          <p:nvPr/>
        </p:nvSpPr>
        <p:spPr>
          <a:xfrm>
            <a:off x="4251960" y="2926080"/>
            <a:ext cx="3701520" cy="370152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6"/>
          <p:cNvSpPr/>
          <p:nvPr/>
        </p:nvSpPr>
        <p:spPr>
          <a:xfrm>
            <a:off x="4343400" y="2999160"/>
            <a:ext cx="35186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Medelsvåra  Q6–Q10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27"/>
          <p:cNvSpPr/>
          <p:nvPr/>
        </p:nvSpPr>
        <p:spPr>
          <a:xfrm>
            <a:off x="4434840" y="3547800"/>
            <a:ext cx="3335760" cy="2556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28"/>
          <p:cNvSpPr/>
          <p:nvPr/>
        </p:nvSpPr>
        <p:spPr>
          <a:xfrm>
            <a:off x="4389120" y="3639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Q6: What GitHub issues are open in payment-service?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9"/>
          <p:cNvSpPr/>
          <p:nvPr/>
        </p:nvSpPr>
        <p:spPr>
          <a:xfrm>
            <a:off x="4389120" y="4206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Q7: What project is connected to isak-bachelor-thesis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repo, and who works on that?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0"/>
          <p:cNvSpPr/>
          <p:nvPr/>
        </p:nvSpPr>
        <p:spPr>
          <a:xfrm>
            <a:off x="4389120" y="4773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Q8: Summarize what happened in general Slack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channel on April 13, 14 and 15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1"/>
          <p:cNvSpPr/>
          <p:nvPr/>
        </p:nvSpPr>
        <p:spPr>
          <a:xfrm>
            <a:off x="4389120" y="5340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Q9: Are there any blockers in any of our projects?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2"/>
          <p:cNvSpPr/>
          <p:nvPr/>
        </p:nvSpPr>
        <p:spPr>
          <a:xfrm>
            <a:off x="4389120" y="5906880"/>
            <a:ext cx="34729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Q10: Which Confluence docs is about AWS?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What does it say?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33"/>
          <p:cNvSpPr/>
          <p:nvPr/>
        </p:nvSpPr>
        <p:spPr>
          <a:xfrm>
            <a:off x="8138160" y="2926080"/>
            <a:ext cx="3701520" cy="3701520"/>
          </a:xfrm>
          <a:prstGeom prst="rect">
            <a:avLst/>
          </a:prstGeom>
          <a:solidFill>
            <a:srgbClr val="f4f5f7"/>
          </a:solidFill>
          <a:ln w="1270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34"/>
          <p:cNvSpPr/>
          <p:nvPr/>
        </p:nvSpPr>
        <p:spPr>
          <a:xfrm>
            <a:off x="8229600" y="2999160"/>
            <a:ext cx="35186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Komplexa  Q11–Q15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35"/>
          <p:cNvSpPr/>
          <p:nvPr/>
        </p:nvSpPr>
        <p:spPr>
          <a:xfrm>
            <a:off x="8321040" y="3547800"/>
            <a:ext cx="3335760" cy="2556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36"/>
          <p:cNvSpPr/>
          <p:nvPr/>
        </p:nvSpPr>
        <p:spPr>
          <a:xfrm>
            <a:off x="8275320" y="3639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Q11: Overview of Payment Platform: repos,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issues and people working on it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7"/>
          <p:cNvSpPr/>
          <p:nvPr/>
        </p:nvSpPr>
        <p:spPr>
          <a:xfrm>
            <a:off x="8275320" y="4206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Q12: Developers with open Git issues AND active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in Slack last 24h? Give me proof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8"/>
          <p:cNvSpPr/>
          <p:nvPr/>
        </p:nvSpPr>
        <p:spPr>
          <a:xfrm>
            <a:off x="8275320" y="4773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Q13: Name and email of all persons who committed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in payment-service. What do commits say?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9"/>
          <p:cNvSpPr/>
          <p:nvPr/>
        </p:nvSpPr>
        <p:spPr>
          <a:xfrm>
            <a:off x="8275320" y="534024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Q14: In which repos does the person who created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the AWS Confluence page work?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0"/>
          <p:cNvSpPr/>
          <p:nvPr/>
        </p:nvSpPr>
        <p:spPr>
          <a:xfrm>
            <a:off x="8275320" y="5906880"/>
            <a:ext cx="3472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Q15: Most recent Confluence doc from the person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who did latest commit in payment-service?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Systemarkitektur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6"/>
          <p:cNvSpPr/>
          <p:nvPr/>
        </p:nvSpPr>
        <p:spPr>
          <a:xfrm>
            <a:off x="365760" y="2926080"/>
            <a:ext cx="1142820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7"/>
          <p:cNvSpPr/>
          <p:nvPr/>
        </p:nvSpPr>
        <p:spPr>
          <a:xfrm>
            <a:off x="365760" y="5394960"/>
            <a:ext cx="11428200" cy="1141200"/>
          </a:xfrm>
          <a:prstGeom prst="rect">
            <a:avLst/>
          </a:prstGeom>
          <a:solidFill>
            <a:srgbClr val="f4f5f7"/>
          </a:solidFill>
          <a:ln w="12700">
            <a:solidFill>
              <a:srgbClr val="99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8"/>
          <p:cNvSpPr/>
          <p:nvPr/>
        </p:nvSpPr>
        <p:spPr>
          <a:xfrm>
            <a:off x="502920" y="5532120"/>
            <a:ext cx="111538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1. Fråga ställs  →  2. LLM väljer verktyg  →  3. MCP kör verktyget  →  4. Data returneras  →  5. LLM formulerar svar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1"/>
          <a:stretch/>
        </p:blipFill>
        <p:spPr>
          <a:xfrm>
            <a:off x="2621160" y="1260000"/>
            <a:ext cx="6017400" cy="34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Lösning 1 — Grafbaserad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5"/>
          <p:cNvSpPr/>
          <p:nvPr/>
        </p:nvSpPr>
        <p:spPr>
          <a:xfrm>
            <a:off x="457200" y="1051560"/>
            <a:ext cx="5484600" cy="539316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6"/>
          <p:cNvSpPr/>
          <p:nvPr/>
        </p:nvSpPr>
        <p:spPr>
          <a:xfrm>
            <a:off x="594360" y="1143000"/>
            <a:ext cx="5210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Hur det fungerar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7"/>
          <p:cNvSpPr/>
          <p:nvPr/>
        </p:nvSpPr>
        <p:spPr>
          <a:xfrm>
            <a:off x="594360" y="1737360"/>
            <a:ext cx="409680" cy="40968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8"/>
          <p:cNvSpPr/>
          <p:nvPr/>
        </p:nvSpPr>
        <p:spPr>
          <a:xfrm>
            <a:off x="594360" y="173736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9"/>
          <p:cNvSpPr/>
          <p:nvPr/>
        </p:nvSpPr>
        <p:spPr>
          <a:xfrm>
            <a:off x="1097280" y="1737360"/>
            <a:ext cx="46616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1.  LLM hämtar grafens schema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   (alla noder, relationer, attribut)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10"/>
          <p:cNvSpPr/>
          <p:nvPr/>
        </p:nvSpPr>
        <p:spPr>
          <a:xfrm>
            <a:off x="594360" y="2743200"/>
            <a:ext cx="409680" cy="40968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1"/>
          <p:cNvSpPr/>
          <p:nvPr/>
        </p:nvSpPr>
        <p:spPr>
          <a:xfrm>
            <a:off x="594360" y="274320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2"/>
          <p:cNvSpPr/>
          <p:nvPr/>
        </p:nvSpPr>
        <p:spPr>
          <a:xfrm>
            <a:off x="1097280" y="2743200"/>
            <a:ext cx="46616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2.  LLM genererar en Cypher-fråga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   baserat på schemat, frågan och systemprompt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13"/>
          <p:cNvSpPr/>
          <p:nvPr/>
        </p:nvSpPr>
        <p:spPr>
          <a:xfrm>
            <a:off x="594360" y="3749040"/>
            <a:ext cx="409680" cy="40968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4"/>
          <p:cNvSpPr/>
          <p:nvPr/>
        </p:nvSpPr>
        <p:spPr>
          <a:xfrm>
            <a:off x="594360" y="37490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5"/>
          <p:cNvSpPr/>
          <p:nvPr/>
        </p:nvSpPr>
        <p:spPr>
          <a:xfrm>
            <a:off x="1097280" y="3749040"/>
            <a:ext cx="46616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3.  Frågan körs mot Neo4j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6"/>
          <p:cNvSpPr/>
          <p:nvPr/>
        </p:nvSpPr>
        <p:spPr>
          <a:xfrm>
            <a:off x="594360" y="4754880"/>
            <a:ext cx="409680" cy="40968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7"/>
          <p:cNvSpPr/>
          <p:nvPr/>
        </p:nvSpPr>
        <p:spPr>
          <a:xfrm>
            <a:off x="594360" y="475488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8"/>
          <p:cNvSpPr/>
          <p:nvPr/>
        </p:nvSpPr>
        <p:spPr>
          <a:xfrm>
            <a:off x="1097280" y="4754880"/>
            <a:ext cx="46616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4.  Resultat returneras — klart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19"/>
          <p:cNvSpPr/>
          <p:nvPr/>
        </p:nvSpPr>
        <p:spPr>
          <a:xfrm>
            <a:off x="594360" y="5806440"/>
            <a:ext cx="5210280" cy="50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0"/>
          <p:cNvSpPr/>
          <p:nvPr/>
        </p:nvSpPr>
        <p:spPr>
          <a:xfrm>
            <a:off x="640080" y="5852160"/>
            <a:ext cx="511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Totalt: 2 verktyg  (get_schema + execute_query)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21"/>
          <p:cNvSpPr/>
          <p:nvPr/>
        </p:nvSpPr>
        <p:spPr>
          <a:xfrm>
            <a:off x="6217920" y="1051560"/>
            <a:ext cx="5667480" cy="5393160"/>
          </a:xfrm>
          <a:prstGeom prst="rect">
            <a:avLst/>
          </a:prstGeom>
          <a:solidFill>
            <a:srgbClr val="f4f5f7"/>
          </a:solidFill>
          <a:ln w="12700">
            <a:solidFill>
              <a:srgbClr val="99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22"/>
          <p:cNvSpPr/>
          <p:nvPr/>
        </p:nvSpPr>
        <p:spPr>
          <a:xfrm>
            <a:off x="6217920" y="3520440"/>
            <a:ext cx="5667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[ BILD: Exempelflöde /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Neo4j visualisering ]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6199920" y="1051560"/>
            <a:ext cx="5678640" cy="542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Lösning 2 — API-baserad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457200" y="1005840"/>
            <a:ext cx="112453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Ingen central lagring — data hämtas i realtid direkt från systemens API:er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6"/>
          <p:cNvSpPr/>
          <p:nvPr/>
        </p:nvSpPr>
        <p:spPr>
          <a:xfrm>
            <a:off x="365760" y="1554480"/>
            <a:ext cx="3655800" cy="5925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7"/>
          <p:cNvSpPr/>
          <p:nvPr/>
        </p:nvSpPr>
        <p:spPr>
          <a:xfrm>
            <a:off x="365760" y="1600200"/>
            <a:ext cx="36558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GitHub  —  8 verktyg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8"/>
          <p:cNvSpPr/>
          <p:nvPr/>
        </p:nvSpPr>
        <p:spPr>
          <a:xfrm>
            <a:off x="365760" y="224028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9"/>
          <p:cNvSpPr/>
          <p:nvPr/>
        </p:nvSpPr>
        <p:spPr>
          <a:xfrm>
            <a:off x="457200" y="228600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get_repositories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10"/>
          <p:cNvSpPr/>
          <p:nvPr/>
        </p:nvSpPr>
        <p:spPr>
          <a:xfrm>
            <a:off x="365760" y="277056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1"/>
          <p:cNvSpPr/>
          <p:nvPr/>
        </p:nvSpPr>
        <p:spPr>
          <a:xfrm>
            <a:off x="457200" y="281628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get_commits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12"/>
          <p:cNvSpPr/>
          <p:nvPr/>
        </p:nvSpPr>
        <p:spPr>
          <a:xfrm>
            <a:off x="365760" y="330084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13"/>
          <p:cNvSpPr/>
          <p:nvPr/>
        </p:nvSpPr>
        <p:spPr>
          <a:xfrm>
            <a:off x="457200" y="334656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get_issues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14"/>
          <p:cNvSpPr/>
          <p:nvPr/>
        </p:nvSpPr>
        <p:spPr>
          <a:xfrm>
            <a:off x="365760" y="383148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15"/>
          <p:cNvSpPr/>
          <p:nvPr/>
        </p:nvSpPr>
        <p:spPr>
          <a:xfrm>
            <a:off x="457200" y="3877200"/>
            <a:ext cx="347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get_contributors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16"/>
          <p:cNvSpPr/>
          <p:nvPr/>
        </p:nvSpPr>
        <p:spPr>
          <a:xfrm>
            <a:off x="365760" y="436176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17"/>
          <p:cNvSpPr/>
          <p:nvPr/>
        </p:nvSpPr>
        <p:spPr>
          <a:xfrm>
            <a:off x="457200" y="4407480"/>
            <a:ext cx="347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20"/>
          <p:cNvSpPr/>
          <p:nvPr/>
        </p:nvSpPr>
        <p:spPr>
          <a:xfrm>
            <a:off x="4297680" y="1554480"/>
            <a:ext cx="3655800" cy="59256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21"/>
          <p:cNvSpPr/>
          <p:nvPr/>
        </p:nvSpPr>
        <p:spPr>
          <a:xfrm>
            <a:off x="4297680" y="1600200"/>
            <a:ext cx="36558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Slack  —  5 verktyg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22"/>
          <p:cNvSpPr/>
          <p:nvPr/>
        </p:nvSpPr>
        <p:spPr>
          <a:xfrm>
            <a:off x="4297680" y="224028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23"/>
          <p:cNvSpPr/>
          <p:nvPr/>
        </p:nvSpPr>
        <p:spPr>
          <a:xfrm>
            <a:off x="4389120" y="228600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get_channels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24"/>
          <p:cNvSpPr/>
          <p:nvPr/>
        </p:nvSpPr>
        <p:spPr>
          <a:xfrm>
            <a:off x="4297680" y="277056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25"/>
          <p:cNvSpPr/>
          <p:nvPr/>
        </p:nvSpPr>
        <p:spPr>
          <a:xfrm>
            <a:off x="4389120" y="281628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get_messages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26"/>
          <p:cNvSpPr/>
          <p:nvPr/>
        </p:nvSpPr>
        <p:spPr>
          <a:xfrm>
            <a:off x="4297680" y="330084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7"/>
          <p:cNvSpPr/>
          <p:nvPr/>
        </p:nvSpPr>
        <p:spPr>
          <a:xfrm>
            <a:off x="4389120" y="334656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get_users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28"/>
          <p:cNvSpPr/>
          <p:nvPr/>
        </p:nvSpPr>
        <p:spPr>
          <a:xfrm>
            <a:off x="4297680" y="383148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29"/>
          <p:cNvSpPr/>
          <p:nvPr/>
        </p:nvSpPr>
        <p:spPr>
          <a:xfrm>
            <a:off x="4389120" y="387720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search_messages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30"/>
          <p:cNvSpPr/>
          <p:nvPr/>
        </p:nvSpPr>
        <p:spPr>
          <a:xfrm>
            <a:off x="4297680" y="436176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31"/>
          <p:cNvSpPr/>
          <p:nvPr/>
        </p:nvSpPr>
        <p:spPr>
          <a:xfrm>
            <a:off x="4389120" y="440748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32"/>
          <p:cNvSpPr/>
          <p:nvPr/>
        </p:nvSpPr>
        <p:spPr>
          <a:xfrm>
            <a:off x="8229600" y="1554480"/>
            <a:ext cx="3655800" cy="59256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33"/>
          <p:cNvSpPr/>
          <p:nvPr/>
        </p:nvSpPr>
        <p:spPr>
          <a:xfrm>
            <a:off x="8229600" y="1600200"/>
            <a:ext cx="36558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Confluence  —  7 verktyg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34"/>
          <p:cNvSpPr/>
          <p:nvPr/>
        </p:nvSpPr>
        <p:spPr>
          <a:xfrm>
            <a:off x="8229600" y="224028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35"/>
          <p:cNvSpPr/>
          <p:nvPr/>
        </p:nvSpPr>
        <p:spPr>
          <a:xfrm>
            <a:off x="8321040" y="228600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get_spaces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36"/>
          <p:cNvSpPr/>
          <p:nvPr/>
        </p:nvSpPr>
        <p:spPr>
          <a:xfrm>
            <a:off x="8229600" y="277056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37"/>
          <p:cNvSpPr/>
          <p:nvPr/>
        </p:nvSpPr>
        <p:spPr>
          <a:xfrm>
            <a:off x="8321040" y="281628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get_pages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38"/>
          <p:cNvSpPr/>
          <p:nvPr/>
        </p:nvSpPr>
        <p:spPr>
          <a:xfrm>
            <a:off x="8229600" y="330084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39"/>
          <p:cNvSpPr/>
          <p:nvPr/>
        </p:nvSpPr>
        <p:spPr>
          <a:xfrm>
            <a:off x="8321040" y="334656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get_page_content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40"/>
          <p:cNvSpPr/>
          <p:nvPr/>
        </p:nvSpPr>
        <p:spPr>
          <a:xfrm>
            <a:off x="8229600" y="383148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41"/>
          <p:cNvSpPr/>
          <p:nvPr/>
        </p:nvSpPr>
        <p:spPr>
          <a:xfrm>
            <a:off x="8321040" y="3877200"/>
            <a:ext cx="347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get_users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42"/>
          <p:cNvSpPr/>
          <p:nvPr/>
        </p:nvSpPr>
        <p:spPr>
          <a:xfrm>
            <a:off x="8229600" y="4361760"/>
            <a:ext cx="3655800" cy="473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43"/>
          <p:cNvSpPr/>
          <p:nvPr/>
        </p:nvSpPr>
        <p:spPr>
          <a:xfrm>
            <a:off x="8321040" y="4407480"/>
            <a:ext cx="347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44"/>
          <p:cNvSpPr/>
          <p:nvPr/>
        </p:nvSpPr>
        <p:spPr>
          <a:xfrm>
            <a:off x="1737360" y="5989320"/>
            <a:ext cx="8685000" cy="59256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45"/>
          <p:cNvSpPr/>
          <p:nvPr/>
        </p:nvSpPr>
        <p:spPr>
          <a:xfrm>
            <a:off x="1737360" y="6035040"/>
            <a:ext cx="8685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Totalt: 20 verktyg   vs   2 verktyg i den grafbaserade lösningen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Demo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5"/>
          <p:cNvSpPr/>
          <p:nvPr/>
        </p:nvSpPr>
        <p:spPr>
          <a:xfrm>
            <a:off x="457200" y="1005840"/>
            <a:ext cx="11245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Förinspelad video — grafbaserade lösningen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6">
            <a:hlinkClick r:id="rId1"/>
          </p:cNvPr>
          <p:cNvSpPr/>
          <p:nvPr/>
        </p:nvSpPr>
        <p:spPr>
          <a:xfrm>
            <a:off x="1371600" y="1554480"/>
            <a:ext cx="9443880" cy="4844520"/>
          </a:xfrm>
          <a:prstGeom prst="rect">
            <a:avLst/>
          </a:prstGeom>
          <a:solidFill>
            <a:srgbClr val="f4f5f7"/>
          </a:solidFill>
          <a:ln w="12700">
            <a:solidFill>
              <a:srgbClr val="99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7"/>
          <p:cNvSpPr/>
          <p:nvPr/>
        </p:nvSpPr>
        <p:spPr>
          <a:xfrm>
            <a:off x="1371600" y="3785040"/>
            <a:ext cx="9443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0000ff"/>
                </a:solidFill>
                <a:effectLst/>
                <a:uFillTx/>
                <a:latin typeface="Calibri"/>
                <a:hlinkClick r:id="rId2"/>
              </a:rPr>
              <a:t>[ VIDEO ]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Resultat — Korrekthet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75" name="Chart 5"/>
          <p:cNvGraphicFramePr/>
          <p:nvPr/>
        </p:nvGraphicFramePr>
        <p:xfrm>
          <a:off x="365760" y="1097280"/>
          <a:ext cx="6856200" cy="539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76" name="Rectangle 6"/>
          <p:cNvSpPr/>
          <p:nvPr/>
        </p:nvSpPr>
        <p:spPr>
          <a:xfrm>
            <a:off x="7498080" y="1188720"/>
            <a:ext cx="4478760" cy="1004040"/>
          </a:xfrm>
          <a:prstGeom prst="rect">
            <a:avLst/>
          </a:prstGeom>
          <a:solidFill>
            <a:srgbClr val="f4f5f7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7"/>
          <p:cNvSpPr/>
          <p:nvPr/>
        </p:nvSpPr>
        <p:spPr>
          <a:xfrm>
            <a:off x="7635240" y="1280160"/>
            <a:ext cx="420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Simpla: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8"/>
          <p:cNvSpPr/>
          <p:nvPr/>
        </p:nvSpPr>
        <p:spPr>
          <a:xfrm>
            <a:off x="7635240" y="1691640"/>
            <a:ext cx="42044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Båda 100% ✓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9"/>
          <p:cNvSpPr/>
          <p:nvPr/>
        </p:nvSpPr>
        <p:spPr>
          <a:xfrm>
            <a:off x="7498080" y="2377440"/>
            <a:ext cx="4478760" cy="10040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10"/>
          <p:cNvSpPr/>
          <p:nvPr/>
        </p:nvSpPr>
        <p:spPr>
          <a:xfrm>
            <a:off x="7635240" y="2468880"/>
            <a:ext cx="420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Medelsvåra: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1"/>
          <p:cNvSpPr/>
          <p:nvPr/>
        </p:nvSpPr>
        <p:spPr>
          <a:xfrm>
            <a:off x="7635240" y="2880360"/>
            <a:ext cx="42044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Graf 80%  —  API 40%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12"/>
          <p:cNvSpPr/>
          <p:nvPr/>
        </p:nvSpPr>
        <p:spPr>
          <a:xfrm>
            <a:off x="7498080" y="3566160"/>
            <a:ext cx="4478760" cy="1004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13"/>
          <p:cNvSpPr/>
          <p:nvPr/>
        </p:nvSpPr>
        <p:spPr>
          <a:xfrm>
            <a:off x="7635240" y="3657600"/>
            <a:ext cx="420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Komplexa: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4"/>
          <p:cNvSpPr/>
          <p:nvPr/>
        </p:nvSpPr>
        <p:spPr>
          <a:xfrm>
            <a:off x="7635240" y="4069080"/>
            <a:ext cx="42044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Graf 80%  —  API 20%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15"/>
          <p:cNvSpPr/>
          <p:nvPr/>
        </p:nvSpPr>
        <p:spPr>
          <a:xfrm>
            <a:off x="7498080" y="4846320"/>
            <a:ext cx="4478760" cy="1644120"/>
          </a:xfrm>
          <a:prstGeom prst="rect">
            <a:avLst/>
          </a:prstGeom>
          <a:solidFill>
            <a:srgbClr val="f4f5f7"/>
          </a:solidFill>
          <a:ln w="1270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6"/>
          <p:cNvSpPr/>
          <p:nvPr/>
        </p:nvSpPr>
        <p:spPr>
          <a:xfrm>
            <a:off x="7635240" y="4937760"/>
            <a:ext cx="420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API:s problem: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7"/>
          <p:cNvSpPr/>
          <p:nvPr/>
        </p:nvSpPr>
        <p:spPr>
          <a:xfrm>
            <a:off x="7635240" y="5349240"/>
            <a:ext cx="420444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Kan ej länka identiteter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mellan system.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"isak29" i GitHub ≠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"Isak Lampell" i Slack?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Resultat — Verktygsanrop &amp; Svarstid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5"/>
          <p:cNvSpPr/>
          <p:nvPr/>
        </p:nvSpPr>
        <p:spPr>
          <a:xfrm>
            <a:off x="365760" y="1005840"/>
            <a:ext cx="5758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Genomsnittliga verktygsanrop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3" name="Chart 6"/>
          <p:cNvGraphicFramePr/>
          <p:nvPr/>
        </p:nvGraphicFramePr>
        <p:xfrm>
          <a:off x="365760" y="1371600"/>
          <a:ext cx="5576040" cy="511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4" name="TextBox 7"/>
          <p:cNvSpPr/>
          <p:nvPr/>
        </p:nvSpPr>
        <p:spPr>
          <a:xfrm>
            <a:off x="6217920" y="1005840"/>
            <a:ext cx="5758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Genomsnittlig svarstid (ms)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5" name="Chart 8"/>
          <p:cNvGraphicFramePr/>
          <p:nvPr/>
        </p:nvGraphicFramePr>
        <p:xfrm>
          <a:off x="6217920" y="1371600"/>
          <a:ext cx="5576040" cy="511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6" name="Rectangle 9"/>
          <p:cNvSpPr/>
          <p:nvPr/>
        </p:nvSpPr>
        <p:spPr>
          <a:xfrm>
            <a:off x="6089760" y="1005840"/>
            <a:ext cx="34920" cy="539316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3"/>
          <p:cNvSpPr/>
          <p:nvPr/>
        </p:nvSpPr>
        <p:spPr>
          <a:xfrm>
            <a:off x="457200" y="137160"/>
            <a:ext cx="11272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Diskussion &amp; Slutsats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4"/>
          <p:cNvSpPr/>
          <p:nvPr/>
        </p:nvSpPr>
        <p:spPr>
          <a:xfrm>
            <a:off x="457200" y="868680"/>
            <a:ext cx="11272680" cy="34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5"/>
          <p:cNvSpPr/>
          <p:nvPr/>
        </p:nvSpPr>
        <p:spPr>
          <a:xfrm>
            <a:off x="457200" y="1005840"/>
            <a:ext cx="5484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Vad visar resultaten?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6"/>
          <p:cNvSpPr/>
          <p:nvPr/>
        </p:nvSpPr>
        <p:spPr>
          <a:xfrm>
            <a:off x="640080" y="1554480"/>
            <a:ext cx="5301720" cy="45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+ Graf ger LLM:en tydliga relationer att följa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+ En Cypher-fråga kan navigera hela grafen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− Schema-overhead vid varje anrop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− API kan ej länka identiteter mellan system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+ API fungerar bra vid enkla frågor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7"/>
          <p:cNvSpPr/>
          <p:nvPr/>
        </p:nvSpPr>
        <p:spPr>
          <a:xfrm>
            <a:off x="6309360" y="1005840"/>
            <a:ext cx="5576040" cy="402156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8"/>
          <p:cNvSpPr/>
          <p:nvPr/>
        </p:nvSpPr>
        <p:spPr>
          <a:xfrm>
            <a:off x="6446520" y="1097280"/>
            <a:ext cx="5301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Slutsats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9"/>
          <p:cNvSpPr/>
          <p:nvPr/>
        </p:nvSpPr>
        <p:spPr>
          <a:xfrm>
            <a:off x="6446520" y="1691640"/>
            <a:ext cx="530172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En grafbaserad representation ger LLM:en tydliga fördelar när information behöver kombineras från olika källor.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Den ger LLM:en tydliga relationer som är enkla att följa.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API-lösningen fungerar bra för frågor mot enskilda system.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10"/>
          <p:cNvSpPr/>
          <p:nvPr/>
        </p:nvSpPr>
        <p:spPr>
          <a:xfrm>
            <a:off x="6309360" y="5212080"/>
            <a:ext cx="5576040" cy="1324080"/>
          </a:xfrm>
          <a:prstGeom prst="rect">
            <a:avLst/>
          </a:prstGeom>
          <a:solidFill>
            <a:srgbClr val="f4f5f7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11"/>
          <p:cNvSpPr/>
          <p:nvPr/>
        </p:nvSpPr>
        <p:spPr>
          <a:xfrm>
            <a:off x="6446520" y="5303520"/>
            <a:ext cx="530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Framtida arbete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2"/>
          <p:cNvSpPr/>
          <p:nvPr/>
        </p:nvSpPr>
        <p:spPr>
          <a:xfrm>
            <a:off x="6446520" y="5715000"/>
            <a:ext cx="53017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Kombinera lösningarna: API bygger grafen, grafen används för sökning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1"/>
          <p:cNvSpPr/>
          <p:nvPr/>
        </p:nvSpPr>
        <p:spPr>
          <a:xfrm>
            <a:off x="0" y="0"/>
            <a:ext cx="12187080" cy="896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ectangle 2"/>
          <p:cNvSpPr/>
          <p:nvPr/>
        </p:nvSpPr>
        <p:spPr>
          <a:xfrm>
            <a:off x="0" y="6766560"/>
            <a:ext cx="12187080" cy="8964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ectangle 3"/>
          <p:cNvSpPr/>
          <p:nvPr/>
        </p:nvSpPr>
        <p:spPr>
          <a:xfrm>
            <a:off x="0" y="3017520"/>
            <a:ext cx="12187080" cy="52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4"/>
          <p:cNvSpPr/>
          <p:nvPr/>
        </p:nvSpPr>
        <p:spPr>
          <a:xfrm>
            <a:off x="1371600" y="914400"/>
            <a:ext cx="944388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Tack!</a:t>
            </a:r>
            <a:endParaRPr b="0" lang="sv-SE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5"/>
          <p:cNvSpPr/>
          <p:nvPr/>
        </p:nvSpPr>
        <p:spPr>
          <a:xfrm>
            <a:off x="1371600" y="3291840"/>
            <a:ext cx="944388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Frågor?</a:t>
            </a:r>
            <a:endParaRPr b="0" lang="sv-SE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6"/>
          <p:cNvSpPr/>
          <p:nvPr/>
        </p:nvSpPr>
        <p:spPr>
          <a:xfrm>
            <a:off x="1371600" y="4937760"/>
            <a:ext cx="9443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Isak Lampell  ·  Mittuniversitetet  ·  2026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sv-SE</dc:language>
  <cp:lastModifiedBy/>
  <dcterms:modified xsi:type="dcterms:W3CDTF">2026-06-02T22:12:01Z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